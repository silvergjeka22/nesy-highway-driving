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7"/>
  </p:notesMasterIdLst>
  <p:sldIdLst>
    <p:sldId id="256" r:id="rId5"/>
    <p:sldId id="355" r:id="rId6"/>
    <p:sldId id="356" r:id="rId7"/>
    <p:sldId id="358" r:id="rId8"/>
    <p:sldId id="359" r:id="rId9"/>
    <p:sldId id="357" r:id="rId10"/>
    <p:sldId id="360" r:id="rId11"/>
    <p:sldId id="361" r:id="rId12"/>
    <p:sldId id="373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4" r:id="rId25"/>
    <p:sldId id="382" r:id="rId26"/>
    <p:sldId id="375" r:id="rId27"/>
    <p:sldId id="376" r:id="rId28"/>
    <p:sldId id="378" r:id="rId29"/>
    <p:sldId id="377" r:id="rId30"/>
    <p:sldId id="379" r:id="rId31"/>
    <p:sldId id="380" r:id="rId32"/>
    <p:sldId id="381" r:id="rId33"/>
    <p:sldId id="383" r:id="rId34"/>
    <p:sldId id="384" r:id="rId35"/>
    <p:sldId id="386" r:id="rId36"/>
    <p:sldId id="387" r:id="rId37"/>
    <p:sldId id="388" r:id="rId38"/>
    <p:sldId id="389" r:id="rId39"/>
    <p:sldId id="391" r:id="rId40"/>
    <p:sldId id="390" r:id="rId41"/>
    <p:sldId id="385" r:id="rId42"/>
    <p:sldId id="392" r:id="rId43"/>
    <p:sldId id="393" r:id="rId44"/>
    <p:sldId id="395" r:id="rId45"/>
    <p:sldId id="396" r:id="rId46"/>
    <p:sldId id="397" r:id="rId47"/>
    <p:sldId id="398" r:id="rId48"/>
    <p:sldId id="399" r:id="rId49"/>
    <p:sldId id="400" r:id="rId50"/>
    <p:sldId id="401" r:id="rId51"/>
    <p:sldId id="402" r:id="rId52"/>
    <p:sldId id="403" r:id="rId53"/>
    <p:sldId id="404" r:id="rId54"/>
    <p:sldId id="405" r:id="rId55"/>
    <p:sldId id="406" r:id="rId56"/>
    <p:sldId id="407" r:id="rId57"/>
    <p:sldId id="408" r:id="rId58"/>
    <p:sldId id="409" r:id="rId59"/>
    <p:sldId id="410" r:id="rId60"/>
    <p:sldId id="411" r:id="rId61"/>
    <p:sldId id="412" r:id="rId62"/>
    <p:sldId id="413" r:id="rId63"/>
    <p:sldId id="417" r:id="rId64"/>
    <p:sldId id="418" r:id="rId65"/>
    <p:sldId id="419" r:id="rId66"/>
    <p:sldId id="420" r:id="rId67"/>
    <p:sldId id="421" r:id="rId68"/>
    <p:sldId id="422" r:id="rId69"/>
    <p:sldId id="423" r:id="rId70"/>
    <p:sldId id="424" r:id="rId71"/>
    <p:sldId id="425" r:id="rId72"/>
    <p:sldId id="426" r:id="rId73"/>
    <p:sldId id="427" r:id="rId74"/>
    <p:sldId id="428" r:id="rId75"/>
    <p:sldId id="429" r:id="rId76"/>
    <p:sldId id="430" r:id="rId77"/>
    <p:sldId id="431" r:id="rId78"/>
    <p:sldId id="432" r:id="rId79"/>
    <p:sldId id="433" r:id="rId80"/>
    <p:sldId id="434" r:id="rId81"/>
    <p:sldId id="435" r:id="rId82"/>
    <p:sldId id="436" r:id="rId83"/>
    <p:sldId id="437" r:id="rId84"/>
    <p:sldId id="439" r:id="rId85"/>
    <p:sldId id="442" r:id="rId86"/>
    <p:sldId id="440" r:id="rId87"/>
    <p:sldId id="441" r:id="rId88"/>
    <p:sldId id="443" r:id="rId89"/>
    <p:sldId id="444" r:id="rId90"/>
    <p:sldId id="445" r:id="rId91"/>
    <p:sldId id="447" r:id="rId92"/>
    <p:sldId id="448" r:id="rId93"/>
    <p:sldId id="449" r:id="rId94"/>
    <p:sldId id="450" r:id="rId95"/>
    <p:sldId id="451" r:id="rId96"/>
    <p:sldId id="452" r:id="rId97"/>
    <p:sldId id="453" r:id="rId98"/>
    <p:sldId id="454" r:id="rId99"/>
    <p:sldId id="455" r:id="rId100"/>
    <p:sldId id="456" r:id="rId101"/>
    <p:sldId id="457" r:id="rId102"/>
    <p:sldId id="458" r:id="rId103"/>
    <p:sldId id="459" r:id="rId104"/>
    <p:sldId id="460" r:id="rId105"/>
    <p:sldId id="461" r:id="rId106"/>
    <p:sldId id="462" r:id="rId107"/>
    <p:sldId id="463" r:id="rId108"/>
    <p:sldId id="464" r:id="rId109"/>
    <p:sldId id="465" r:id="rId110"/>
    <p:sldId id="466" r:id="rId111"/>
    <p:sldId id="467" r:id="rId112"/>
    <p:sldId id="468" r:id="rId113"/>
    <p:sldId id="471" r:id="rId114"/>
    <p:sldId id="469" r:id="rId115"/>
    <p:sldId id="470" r:id="rId116"/>
    <p:sldId id="472" r:id="rId117"/>
    <p:sldId id="473" r:id="rId118"/>
    <p:sldId id="474" r:id="rId119"/>
    <p:sldId id="475" r:id="rId120"/>
    <p:sldId id="476" r:id="rId121"/>
    <p:sldId id="477" r:id="rId122"/>
    <p:sldId id="478" r:id="rId123"/>
    <p:sldId id="479" r:id="rId124"/>
    <p:sldId id="480" r:id="rId125"/>
    <p:sldId id="481" r:id="rId1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presProps" Target="pres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viewProps" Target="view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theme" Target="theme/theme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7T11:43:23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23019 10149 16383 0 0,'4'0'0'0'0,"10"0"0"0"0,6 0 0 0 0,4 0 0 0 0,7 0 0 0 0,1 0 0 0 0,5 0 0 0 0,-1 0 0 0 0,2 0 0 0 0,-1 0 0 0 0,-3 0 0 0 0,-3 0 0 0 0,-3 0 0 0 0,-2 0 0 0 0,-1 0 0 0 0,0 0 0 0 0,-1 0 0 0 0,-1 0 0 0 0,1 0 0 0 0,0 0 0 0 0,0 0 0 0 0,0 0 0 0 0,0 0 0 0 0,1 0 0 0 0,-1 0 0 0 0,0 4 0 0 0,1 2 0 0 0,-1-1 0 0 0,0-1 0 0 0,1-1 0 0 0,-1-1 0 0 0,0-1 0 0 0,1 0 0 0 0,-1-1 0 0 0,0-1 0 0 0,1 1 0 0 0,-1 0 0 0 0,0 0 0 0 0,1 0 0 0 0,-1 0 0 0 0,0 0 0 0 0,1 0 0 0 0,-1 0 0 0 0,0 0 0 0 0,1 0 0 0 0,-1 0 0 0 0,0 0 0 0 0,1 0 0 0 0,-1 0 0 0 0,0 0 0 0 0,1 0 0 0 0,-1 0 0 0 0,0 0 0 0 0,1 0 0 0 0,-1 0 0 0 0,0 0 0 0 0,1 0 0 0 0,-1 0 0 0 0,0 0 0 0 0,1 0 0 0 0,-1 0 0 0 0,0 0 0 0 0,1 0 0 0 0,3 0 0 0 0,2 0 0 0 0,-1 0 0 0 0,0 0 0 0 0,-2 0 0 0 0,0 0 0 0 0,-2 0 0 0 0,0 0 0 0 0,3 0 0 0 0,2 0 0 0 0,-1 0 0 0 0,-1 0 0 0 0,0 0 0 0 0,-2 0 0 0 0,-1 0 0 0 0,0 0 0 0 0,-1 0 0 0 0,0 0 0 0 0,0 0 0 0 0,0-5 0 0 0,0 0 0 0 0,1 0 0 0 0,3 0 0 0 0,2 2 0 0 0,3 2 0 0 0,2 0 0 0 0,-3 0 0 0 0,-1 1 0 0 0,1 0 0 0 0,0 1 0 0 0,-1-1 0 0 0,-2 0 0 0 0,-2 0 0 0 0,3 0 0 0 0,0 0 0 0 0,4 0 0 0 0,0 0 0 0 0,2 0 0 0 0,-1 0 0 0 0,-1 0 0 0 0,1 0 0 0 0,-2 0 0 0 0,-1 0 0 0 0,1 0 0 0 0,0 0 0 0 0,-2-4 0 0 0,-2-1 0 0 0,-2-1 0 0 0,-1 2 0 0 0,-1 1 0 0 0,-1 1 0 0 0,0 1 0 0 0,0 1 0 0 0,4 0 0 0 0,2 0 0 0 0,-1 0 0 0 0,0 1 0 0 0,2-1 0 0 0,1 0 0 0 0,-2 0 0 0 0,-1 0 0 0 0,-1 0 0 0 0,-2 0 0 0 0,-1 0 0 0 0,4 0 0 0 0,0 0 0 0 0,1 0 0 0 0,2 0 0 0 0,0 0 0 0 0,4 0 0 0 0,-1 0 0 0 0,-2 0 0 0 0,-3 0 0 0 0,-2 0 0 0 0,-1 0 0 0 0,-2 0 0 0 0,-1 0 0 0 0,0 0 0 0 0,-4-4 0 0 0,-2-2 0 0 0,1 1 0 0 0,1 1 0 0 0,1 1 0 0 0,5 1 0 0 0,3 1 0 0 0,0 1 0 0 0,0 0 0 0 0,-2 0 0 0 0,4 0 0 0 0,0 0 0 0 0,-1 0 0 0 0,-1 1 0 0 0,2-1 0 0 0,1 0 0 0 0,2 0 0 0 0,1 0 0 0 0,-3 0 0 0 0,-2 0 0 0 0,-2 0 0 0 0,-1 0 0 0 0,-2 0 0 0 0,-1 0 0 0 0,0 0 0 0 0,4 0 0 0 0,2 0 0 0 0,-1 0 0 0 0,-1 0 0 0 0,3-5 0 0 0,1 0 0 0 0,-1-4 0 0 0,-2-1 0 0 0,2 2 0 0 0,1 1 0 0 0,-2 3 0 0 0,-1 2 0 0 0,-2 1 0 0 0,-1 1 0 0 0,-1 0 0 0 0,-1 1 0 0 0,0-1 0 0 0,0 0 0 0 0,0 1 0 0 0,5-1 0 0 0,0 0 0 0 0,1 0 0 0 0,-2-4 0 0 0,-1-2 0 0 0,4 1 0 0 0,0 1 0 0 0,-1 1 0 0 0,6 1 0 0 0,7 1 0 0 0,3 1 0 0 0,2 0 0 0 0,2 0 0 0 0,0 0 0 0 0,0 0 0 0 0,4 0 0 0 0,-3 1 0 0 0,-2-1 0 0 0,-5 0 0 0 0,-6 0 0 0 0,-2 0 0 0 0,-2 0 0 0 0,-2 0 0 0 0,-4 0 0 0 0,3 0 0 0 0,3 0 0 0 0,1 0 0 0 0,-1 4 0 0 0,-3 1 0 0 0,-3 0 0 0 0,3 0 0 0 0,0-2 0 0 0,3-1 0 0 0,0-1 0 0 0,-2-1 0 0 0,-2 0 0 0 0,-2 0 0 0 0,-2 0 0 0 0,-1-1 0 0 0,4 1 0 0 0,0 0 0 0 0,1 0 0 0 0,2 0 0 0 0,0 0 0 0 0,0 0 0 0 0,-3 0 0 0 0,-1 0 0 0 0,-2 0 0 0 0,3 4 0 0 0,1 2 0 0 0,-1-1 0 0 0,4-1 0 0 0,-1-1 0 0 0,4-1 0 0 0,-2-1 0 0 0,-1 3 0 0 0,2 2 0 0 0,-2 3 0 0 0,-1 1 0 0 0,1-2 0 0 0,4-2 0 0 0,0-3 0 0 0,-3 4 0 0 0,-2-1 0 0 0,1 0 0 0 0,-1 2 0 0 0,3 0 0 0 0,-1-1 0 0 0,-2-2 0 0 0,-2-2 0 0 0,-2-2 0 0 0,-2 0 0 0 0,3-1 0 0 0,1 0 0 0 0,-1 0 0 0 0,3-1 0 0 0,1 1 0 0 0,-2 0 0 0 0,-2 0 0 0 0,-1 0 0 0 0,-2 0 0 0 0,-1 0 0 0 0,-5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7T11:43:23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22966 14259 16383 0 0,'4'0'0'0'0,"6"0"0"0"0,4 0 0 0 0,6 0 0 0 0,2 0 0 0 0,2 0 0 0 0,1 0 0 0 0,0 0 0 0 0,0 0 0 0 0,1 0 0 0 0,-1 0 0 0 0,-1 0 0 0 0,1 0 0 0 0,-1 0 0 0 0,1 0 0 0 0,-1 0 0 0 0,0 0 0 0 0,1 0 0 0 0,3 0 0 0 0,2-4 0 0 0,-1-2 0 0 0,0 1 0 0 0,-2 1 0 0 0,-1 1 0 0 0,0 1 0 0 0,3 1 0 0 0,1 0 0 0 0,-1 1 0 0 0,-1 5 0 0 0,-1 0 0 0 0,-1 1 0 0 0,0-2 0 0 0,-2 0 0 0 0,1-3 0 0 0,-1 1 0 0 0,0-2 0 0 0,0 0 0 0 0,0 0 0 0 0,0-1 0 0 0,0 1 0 0 0,1 0 0 0 0,-1 0 0 0 0,0 0 0 0 0,1 0 0 0 0,3 0 0 0 0,2 0 0 0 0,0 0 0 0 0,-2 0 0 0 0,0 0 0 0 0,-2 0 0 0 0,-1 0 0 0 0,0 0 0 0 0,-1 0 0 0 0,0 0 0 0 0,0 0 0 0 0,5 0 0 0 0,0 0 0 0 0,1 0 0 0 0,-2 0 0 0 0,-1 0 0 0 0,0 0 0 0 0,-2 0 0 0 0,0 0 0 0 0,-1 0 0 0 0,0 0 0 0 0,0 0 0 0 0,0 4 0 0 0,1 1 0 0 0,-1 1 0 0 0,0-2 0 0 0,0-1 0 0 0,1-1 0 0 0,-1-1 0 0 0,0-1 0 0 0,1 0 0 0 0,3 0 0 0 0,2 0 0 0 0,4 0 0 0 0,0-1 0 0 0,-2 1 0 0 0,-1 0 0 0 0,-3 0 0 0 0,-1 0 0 0 0,-2 0 0 0 0,0 0 0 0 0,-1 0 0 0 0,0 0 0 0 0,-1 0 0 0 0,1 0 0 0 0,0 0 0 0 0,1 0 0 0 0,-1 0 0 0 0,0 0 0 0 0,0 0 0 0 0,1 0 0 0 0,-1 0 0 0 0,1 0 0 0 0,-1 0 0 0 0,0 0 0 0 0,1 0 0 0 0,-1 0 0 0 0,0 0 0 0 0,1 0 0 0 0,-1 0 0 0 0,0 0 0 0 0,1 4 0 0 0,-1 2 0 0 0,0-1 0 0 0,0-1 0 0 0,1-1 0 0 0,-1-1 0 0 0,0-1 0 0 0,1 0 0 0 0,-1-1 0 0 0,0-1 0 0 0,1 1 0 0 0,-1 0 0 0 0,0 0 0 0 0,1 0 0 0 0,-1-1 0 0 0,0 1 0 0 0,1 0 0 0 0,-1 0 0 0 0,0 5 0 0 0,1 0 0 0 0,-1 0 0 0 0,0 0 0 0 0,1-2 0 0 0,-1-2 0 0 0,0 0 0 0 0,1 0 0 0 0,-1-1 0 0 0,0 0 0 0 0,1-1 0 0 0,-1 1 0 0 0,0 0 0 0 0,1 0 0 0 0,-1 0 0 0 0,0 0 0 0 0,1 0 0 0 0,-1 0 0 0 0,0 0 0 0 0,1-4 0 0 0,-1-2 0 0 0,0 1 0 0 0,1 1 0 0 0,-1 1 0 0 0,0 1 0 0 0,1 1 0 0 0,-1 0 0 0 0,0 1 0 0 0,1 1 0 0 0,-1-1 0 0 0,0 0 0 0 0,1 0 0 0 0,-1 0 0 0 0,0 0 0 0 0,1 1 0 0 0,3-1 0 0 0,6 0 0 0 0,1 0 0 0 0,-1 0 0 0 0,-2-1 0 0 0,-3 1 0 0 0,-2-4 0 0 0,-1-1 0 0 0,-2-5 0 0 0,1 1 0 0 0,-2 0 0 0 0,1 3 0 0 0,0 2 0 0 0,0 2 0 0 0,5 1 0 0 0,0 1 0 0 0,1 0 0 0 0,-2 1 0 0 0,0-1 0 0 0,2 0 0 0 0,1 1 0 0 0,3-1 0 0 0,0 0 0 0 0,3 0 0 0 0,-2 0 0 0 0,3 0 0 0 0,-2 0 0 0 0,1-4 0 0 0,0-2 0 0 0,0 1 0 0 0,3 1 0 0 0,-1 1 0 0 0,-4 1 0 0 0,-3 1 0 0 0,-3 0 0 0 0,-2 1 0 0 0,2 1 0 0 0,1-1 0 0 0,-1 0 0 0 0,-1 0 0 0 0,-1 0 0 0 0,-2 0 0 0 0,4 1 0 0 0,1-1 0 0 0,0 0 0 0 0,-2 0 0 0 0,-1 0 0 0 0,-1 0 0 0 0,0 0 0 0 0,-2-1 0 0 0,0 1 0 0 0,1 0 0 0 0,-1 0 0 0 0,0 0 0 0 0,0 0 0 0 0,0 0 0 0 0,0 0 0 0 0,5 0 0 0 0,1 0 0 0 0,3 0 0 0 0,1 0 0 0 0,-1 0 0 0 0,-3 0 0 0 0,-1 0 0 0 0,-3 0 0 0 0,0 0 0 0 0,-2 0 0 0 0,0 0 0 0 0,0 0 0 0 0,0 0 0 0 0,4 0 0 0 0,2 0 0 0 0,3 0 0 0 0,1 0 0 0 0,3 0 0 0 0,3 0 0 0 0,-1 0 0 0 0,1 0 0 0 0,-2 0 0 0 0,1 0 0 0 0,2 0 0 0 0,-2 0 0 0 0,1 0 0 0 0,-2 0 0 0 0,-4 0 0 0 0,1 0 0 0 0,-2 0 0 0 0,-2 0 0 0 0,-2 0 0 0 0,3 0 0 0 0,-1 0 0 0 0,-1 0 0 0 0,-2 0 0 0 0,-1 0 0 0 0,-1 0 0 0 0,-2 0 0 0 0,1 0 0 0 0,-1 0 0 0 0,0 0 0 0 0,0 0 0 0 0,0 0 0 0 0,0 0 0 0 0,1 0 0 0 0,-1 0 0 0 0,0 0 0 0 0,0 0 0 0 0,1 0 0 0 0,-1 0 0 0 0,0 0 0 0 0,1 0 0 0 0,3 0 0 0 0,2 0 0 0 0,0 0 0 0 0,-2 0 0 0 0,4 0 0 0 0,-1 0 0 0 0,0 0 0 0 0,-2 0 0 0 0,-2 0 0 0 0,-1 0 0 0 0,-1 0 0 0 0,0 0 0 0 0,-1 0 0 0 0,0 0 0 0 0,0 0 0 0 0,0 0 0 0 0,0 0 0 0 0,0 0 0 0 0,1 0 0 0 0,3 0 0 0 0,2 0 0 0 0,0 0 0 0 0,-2 0 0 0 0,-1 0 0 0 0,4 0 0 0 0,0 0 0 0 0,-1 0 0 0 0,-2 0 0 0 0,-1 0 0 0 0,-1 0 0 0 0,-1 0 0 0 0,-4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8T11:01:08.952"/>
    </inkml:context>
    <inkml:brush xml:id="br0">
      <inkml:brushProperty name="width" value="0.07938" units="cm"/>
      <inkml:brushProperty name="height" value="0.07938" units="cm"/>
      <inkml:brushProperty name="color" value="#008C3A"/>
    </inkml:brush>
  </inkml:definitions>
  <inkml:trace contextRef="#ctx0" brushRef="#br0">1 1 24575,'563'0'-1365,"-549"0"-5461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8T11:01:13.551"/>
    </inkml:context>
    <inkml:brush xml:id="br0">
      <inkml:brushProperty name="width" value="0.07938" units="cm"/>
      <inkml:brushProperty name="height" value="0.07938" units="cm"/>
      <inkml:brushProperty name="color" value="#008C3A"/>
    </inkml:brush>
  </inkml:definitions>
  <inkml:trace contextRef="#ctx0" brushRef="#br0">0 0 24575,'458'0'-1365,"-447"0"-5461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8T11:01:16.486"/>
    </inkml:context>
    <inkml:brush xml:id="br0">
      <inkml:brushProperty name="width" value="0.07938" units="cm"/>
      <inkml:brushProperty name="height" value="0.07938" units="cm"/>
      <inkml:brushProperty name="color" value="#008C3A"/>
    </inkml:brush>
  </inkml:definitions>
  <inkml:trace contextRef="#ctx0" brushRef="#br0">0 0 24575,'512'0'-1365,"-497"0"-5461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43198-F60C-487B-9007-3F0A2D8DEB7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8DA55-760E-46BE-A206-9AE1B86E06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8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8DA55-760E-46BE-A206-9AE1B86E060B}" type="slidenum">
              <a:rPr lang="it-IT" smtClean="0"/>
              <a:t>49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2020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278F-2778-3688-BC6F-5E9EEC74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AA4466-114A-EC13-3ED0-FBBC39855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AE0EB42-B2CD-5E0F-429C-5657E2D99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8CE6B4-C49F-2819-9F3D-7B9E40468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8DA55-760E-46BE-A206-9AE1B86E060B}" type="slidenum">
              <a:rPr lang="it-IT" smtClean="0"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022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DFD8-BABB-6121-9867-E5C86977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98D313-5768-DE1C-2D63-BF705E1C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3093EF-E9E0-C5E3-7B78-671E9275B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1EFC03-BD07-A45F-FC90-689A39EC8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8DA55-760E-46BE-A206-9AE1B86E060B}" type="slidenum">
              <a:rPr lang="it-IT" smtClean="0"/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09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FD00-B627-A591-D6C5-9B2E2665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55E59B-680D-E655-7062-B4FC4C062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EE4B98-DD53-DF31-151D-C5E578A87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ABB461-9254-2B04-7F35-BB4AF4216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8DA55-760E-46BE-A206-9AE1B86E060B}" type="slidenum">
              <a:rPr lang="it-IT" smtClean="0"/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175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F991-FCF6-2DD7-9041-46F29369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244535-6011-D2D4-9D18-03588BE09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8CA11AA-7FD5-A20E-4CA4-4684943FB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465537F-39A5-2ED3-0A1F-A44F1898C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8DA55-760E-46BE-A206-9AE1B86E060B}" type="slidenum">
              <a:rPr lang="it-IT" smtClean="0"/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7208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Dr. Daniele Meli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5.png"/><Relationship Id="rId7" Type="http://schemas.openxmlformats.org/officeDocument/2006/relationships/customXml" Target="../ink/ink3.xml"/><Relationship Id="rId12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5.xml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customXml" Target="../ink/ink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9.png"/><Relationship Id="rId7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9.png"/><Relationship Id="rId7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1.png"/><Relationship Id="rId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1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8.png"/><Relationship Id="rId7" Type="http://schemas.openxmlformats.org/officeDocument/2006/relationships/image" Target="../media/image5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8.png"/><Relationship Id="rId7" Type="http://schemas.openxmlformats.org/officeDocument/2006/relationships/image" Target="../media/image5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8.png"/><Relationship Id="rId7" Type="http://schemas.openxmlformats.org/officeDocument/2006/relationships/image" Target="../media/image5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7.png"/><Relationship Id="rId4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9.png"/><Relationship Id="rId10" Type="http://schemas.openxmlformats.org/officeDocument/2006/relationships/image" Target="../media/image71.png"/><Relationship Id="rId4" Type="http://schemas.openxmlformats.org/officeDocument/2006/relationships/image" Target="../media/image57.png"/><Relationship Id="rId9" Type="http://schemas.openxmlformats.org/officeDocument/2006/relationships/image" Target="../media/image7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9.png"/><Relationship Id="rId10" Type="http://schemas.openxmlformats.org/officeDocument/2006/relationships/image" Target="../media/image71.png"/><Relationship Id="rId4" Type="http://schemas.openxmlformats.org/officeDocument/2006/relationships/image" Target="../media/image57.png"/><Relationship Id="rId9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gif"/><Relationship Id="rId4" Type="http://schemas.openxmlformats.org/officeDocument/2006/relationships/image" Target="../media/image9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gif"/><Relationship Id="rId4" Type="http://schemas.openxmlformats.org/officeDocument/2006/relationships/image" Target="../media/image9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7.gi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7.gi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7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101.gif"/><Relationship Id="rId4" Type="http://schemas.openxmlformats.org/officeDocument/2006/relationships/image" Target="../media/image9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101.gif"/><Relationship Id="rId4" Type="http://schemas.openxmlformats.org/officeDocument/2006/relationships/image" Target="../media/image98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svg"/><Relationship Id="rId3" Type="http://schemas.openxmlformats.org/officeDocument/2006/relationships/image" Target="../media/image86.png"/><Relationship Id="rId7" Type="http://schemas.openxmlformats.org/officeDocument/2006/relationships/image" Target="../media/image8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7.svg"/><Relationship Id="rId9" Type="http://schemas.openxmlformats.org/officeDocument/2006/relationships/image" Target="../media/image97.gi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97.gif"/><Relationship Id="rId7" Type="http://schemas.openxmlformats.org/officeDocument/2006/relationships/image" Target="../media/image91.sv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7.svg"/><Relationship Id="rId4" Type="http://schemas.openxmlformats.org/officeDocument/2006/relationships/image" Target="../media/image86.png"/><Relationship Id="rId9" Type="http://schemas.openxmlformats.org/officeDocument/2006/relationships/image" Target="../media/image89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gif"/><Relationship Id="rId2" Type="http://schemas.openxmlformats.org/officeDocument/2006/relationships/image" Target="../media/image10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svg"/><Relationship Id="rId4" Type="http://schemas.openxmlformats.org/officeDocument/2006/relationships/image" Target="../media/image10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jpe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svg"/><Relationship Id="rId4" Type="http://schemas.openxmlformats.org/officeDocument/2006/relationships/image" Target="../media/image108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gif"/><Relationship Id="rId2" Type="http://schemas.openxmlformats.org/officeDocument/2006/relationships/image" Target="../media/image103.gif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0.png"/><Relationship Id="rId7" Type="http://schemas.openxmlformats.org/officeDocument/2006/relationships/image" Target="../media/image13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9.png"/><Relationship Id="rId7" Type="http://schemas.openxmlformats.org/officeDocument/2006/relationships/image" Target="../media/image13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XAI</a:t>
            </a:r>
            <a:endParaRPr lang="de-DE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cs typeface="Calibri"/>
              </a:rPr>
              <a:t>Neurosymbolic</a:t>
            </a:r>
            <a:r>
              <a:rPr lang="de-DE" dirty="0">
                <a:cs typeface="Calibri"/>
              </a:rPr>
              <a:t> AI</a:t>
            </a:r>
            <a:endParaRPr lang="it-IT" dirty="0" err="1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1980753-1825-075C-5B95-5D942A21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DCC11BE-5487-20C6-4E81-D295AD26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52E431-5EF1-A20A-27AE-BEE4CC35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Reference </a:t>
            </a:r>
            <a:r>
              <a:rPr lang="it-IT" dirty="0" err="1"/>
              <a:t>material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A4686C-0598-8BA8-78F3-9C34257F8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Raedt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 (2008).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Logical and relational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Springer Science &amp; Business Media.</a:t>
            </a:r>
          </a:p>
          <a:p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Kautz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The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summer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AAAI Robert S.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Engelmore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memorial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lecture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it-IT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AI magazine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it-IT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43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105-125.</a:t>
            </a:r>
          </a:p>
          <a:p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Marra, G.,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Dumančić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Manhaeve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&amp; De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Raedt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 (2024). From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statistical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relational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neurosymbolic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intelligence: A survey. </a:t>
            </a:r>
            <a:r>
              <a:rPr lang="it-IT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</a:t>
            </a:r>
            <a:r>
              <a:rPr lang="it-IT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Intelligence</a:t>
            </a:r>
            <a:r>
              <a:rPr lang="it-IT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104062.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B319E8A-D7F0-201F-4C6F-357E1CAD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32AC200-312F-B4C0-CACF-D4BF1F18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50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6C55-3066-544C-B746-C1E31076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218330-599B-7114-D45A-8279850B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cs typeface="Calibri Light"/>
              </a:rPr>
              <a:t>ILP for planning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73EB1E8-79AA-4585-10AB-BE8EB6AF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58ADD64-037C-71DD-8050-9E4E95C9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</a:t>
            </a:fld>
            <a:endParaRPr lang="de-DE"/>
          </a:p>
        </p:txBody>
      </p:sp>
      <p:pic>
        <p:nvPicPr>
          <p:cNvPr id="6" name="Immagine 5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EFB35595-DB1C-2776-B5A3-ADBFD4756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77" y="1687470"/>
            <a:ext cx="4514850" cy="3200400"/>
          </a:xfrm>
          <a:prstGeom prst="rect">
            <a:avLst/>
          </a:prstGeom>
        </p:spPr>
      </p:pic>
      <p:pic>
        <p:nvPicPr>
          <p:cNvPr id="7" name="Immagine 6" descr="Immagine che contiene testo, schermata, Carattere, documento&#10;&#10;Descrizione generata automaticamente">
            <a:extLst>
              <a:ext uri="{FF2B5EF4-FFF2-40B4-BE49-F238E27FC236}">
                <a16:creationId xmlns:a16="http://schemas.microsoft.com/office/drawing/2014/main" id="{5FCA2377-507E-3A82-1AAE-D153E875E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36" y="4888642"/>
            <a:ext cx="4514850" cy="1219200"/>
          </a:xfrm>
          <a:prstGeom prst="rect">
            <a:avLst/>
          </a:prstGeom>
          <a:ln w="28575">
            <a:noFill/>
          </a:ln>
        </p:spPr>
      </p:pic>
      <p:sp>
        <p:nvSpPr>
          <p:cNvPr id="8" name="CasellaDiTesto 1">
            <a:extLst>
              <a:ext uri="{FF2B5EF4-FFF2-40B4-BE49-F238E27FC236}">
                <a16:creationId xmlns:a16="http://schemas.microsoft.com/office/drawing/2014/main" id="{C283B35A-5185-E2E5-492D-204AD1A8DEDC}"/>
              </a:ext>
            </a:extLst>
          </p:cNvPr>
          <p:cNvSpPr txBox="1"/>
          <p:nvPr/>
        </p:nvSpPr>
        <p:spPr>
          <a:xfrm>
            <a:off x="6548746" y="2219843"/>
            <a:ext cx="4306853" cy="258532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ea typeface="Calibri"/>
                <a:cs typeface="Calibri"/>
              </a:rPr>
              <a:t>room(room1;room2).</a:t>
            </a:r>
            <a:endParaRPr lang="it-IT">
              <a:cs typeface="Calibri"/>
            </a:endParaRPr>
          </a:p>
          <a:p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(room1,0). </a:t>
            </a:r>
            <a:r>
              <a:rPr lang="it-IT" err="1">
                <a:cs typeface="Calibri"/>
              </a:rPr>
              <a:t>closed_door</a:t>
            </a:r>
            <a:r>
              <a:rPr lang="it-IT">
                <a:cs typeface="Calibri"/>
              </a:rPr>
              <a:t>(0).</a:t>
            </a:r>
            <a:endParaRPr lang="it-IT">
              <a:ea typeface="Calibri"/>
              <a:cs typeface="Calibri"/>
            </a:endParaRPr>
          </a:p>
          <a:p>
            <a:r>
              <a:rPr lang="it-IT" err="1">
                <a:cs typeface="Calibri"/>
              </a:rPr>
              <a:t>move</a:t>
            </a:r>
            <a:r>
              <a:rPr lang="it-IT">
                <a:cs typeface="Calibri"/>
              </a:rPr>
              <a:t>(A,B,T) :- 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(A,T) room(B).</a:t>
            </a:r>
            <a:endParaRPr lang="it-IT">
              <a:ea typeface="Calibri"/>
              <a:cs typeface="Calibri"/>
            </a:endParaRPr>
          </a:p>
          <a:p>
            <a:r>
              <a:rPr lang="it-IT" err="1">
                <a:cs typeface="Calibri"/>
              </a:rPr>
              <a:t>init</a:t>
            </a:r>
            <a:r>
              <a:rPr lang="it-IT">
                <a:cs typeface="Calibri"/>
              </a:rPr>
              <a:t>(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(A),T) :- </a:t>
            </a:r>
            <a:r>
              <a:rPr lang="it-IT" err="1">
                <a:cs typeface="Calibri"/>
              </a:rPr>
              <a:t>move</a:t>
            </a:r>
            <a:r>
              <a:rPr lang="it-IT">
                <a:cs typeface="Calibri"/>
              </a:rPr>
              <a:t>(B,A,T-1).</a:t>
            </a:r>
          </a:p>
          <a:p>
            <a:r>
              <a:rPr lang="it-IT" err="1">
                <a:cs typeface="Calibri"/>
              </a:rPr>
              <a:t>term</a:t>
            </a:r>
            <a:r>
              <a:rPr lang="it-IT">
                <a:cs typeface="Calibri"/>
              </a:rPr>
              <a:t>(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(A),T) :- </a:t>
            </a:r>
            <a:r>
              <a:rPr lang="it-IT" err="1">
                <a:cs typeface="Calibri"/>
              </a:rPr>
              <a:t>move</a:t>
            </a:r>
            <a:r>
              <a:rPr lang="it-IT">
                <a:cs typeface="Calibri"/>
              </a:rPr>
              <a:t>(A,B,T-1), A!=B.</a:t>
            </a:r>
          </a:p>
          <a:p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(A,T) :- </a:t>
            </a:r>
            <a:r>
              <a:rPr lang="it-IT" err="1">
                <a:cs typeface="Calibri"/>
              </a:rPr>
              <a:t>init</a:t>
            </a:r>
            <a:r>
              <a:rPr lang="it-IT">
                <a:cs typeface="Calibri"/>
              </a:rPr>
              <a:t>(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(A),T).</a:t>
            </a:r>
          </a:p>
          <a:p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(A,T) :- 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(A,T-1), </a:t>
            </a:r>
            <a:r>
              <a:rPr lang="it-IT" err="1">
                <a:cs typeface="Calibri"/>
              </a:rPr>
              <a:t>not</a:t>
            </a:r>
            <a:r>
              <a:rPr lang="it-IT">
                <a:cs typeface="Calibri"/>
              </a:rPr>
              <a:t> </a:t>
            </a:r>
            <a:r>
              <a:rPr lang="it-IT" err="1">
                <a:cs typeface="Calibri"/>
              </a:rPr>
              <a:t>term</a:t>
            </a:r>
            <a:r>
              <a:rPr lang="it-IT">
                <a:cs typeface="Calibri"/>
              </a:rPr>
              <a:t>(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(A),T).</a:t>
            </a:r>
          </a:p>
          <a:p>
            <a:r>
              <a:rPr lang="it-IT">
                <a:cs typeface="Calibri"/>
              </a:rPr>
              <a:t>:- </a:t>
            </a:r>
            <a:r>
              <a:rPr lang="it-IT" err="1">
                <a:cs typeface="Calibri"/>
              </a:rPr>
              <a:t>move</a:t>
            </a:r>
            <a:r>
              <a:rPr lang="it-IT">
                <a:cs typeface="Calibri"/>
              </a:rPr>
              <a:t>(A,B,T), </a:t>
            </a:r>
            <a:r>
              <a:rPr lang="it-IT" err="1">
                <a:cs typeface="Calibri"/>
              </a:rPr>
              <a:t>closed_door</a:t>
            </a:r>
            <a:r>
              <a:rPr lang="it-IT">
                <a:cs typeface="Calibri"/>
              </a:rPr>
              <a:t>(T).</a:t>
            </a:r>
          </a:p>
          <a:p>
            <a:r>
              <a:rPr lang="it-IT">
                <a:cs typeface="Calibri"/>
              </a:rPr>
              <a:t>:- </a:t>
            </a:r>
            <a:r>
              <a:rPr lang="it-IT" err="1">
                <a:cs typeface="Calibri"/>
              </a:rPr>
              <a:t>not</a:t>
            </a:r>
            <a:r>
              <a:rPr lang="it-IT">
                <a:cs typeface="Calibri"/>
              </a:rPr>
              <a:t> </a:t>
            </a:r>
            <a:r>
              <a:rPr lang="it-IT" err="1">
                <a:cs typeface="Calibri"/>
              </a:rPr>
              <a:t>at</a:t>
            </a:r>
            <a:r>
              <a:rPr lang="it-IT">
                <a:cs typeface="Calibri"/>
              </a:rPr>
              <a:t>(room2,1). (</a:t>
            </a:r>
            <a:r>
              <a:rPr lang="it-IT" b="1">
                <a:cs typeface="Calibri"/>
              </a:rPr>
              <a:t>GOAL AS CONSTRAINT</a:t>
            </a:r>
            <a:r>
              <a:rPr lang="it-IT">
                <a:cs typeface="Calibri"/>
              </a:rPr>
              <a:t>)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4036CD-2116-963C-5CEF-9CBE667B3542}"/>
              </a:ext>
            </a:extLst>
          </p:cNvPr>
          <p:cNvSpPr txBox="1"/>
          <p:nvPr/>
        </p:nvSpPr>
        <p:spPr>
          <a:xfrm>
            <a:off x="5631793" y="5334000"/>
            <a:ext cx="44055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ILP can </a:t>
            </a:r>
            <a:r>
              <a:rPr lang="it-IT" b="1" dirty="0" err="1">
                <a:solidFill>
                  <a:srgbClr val="FF0000"/>
                </a:solidFill>
                <a:cs typeface="Calibri"/>
              </a:rPr>
              <a:t>learn</a:t>
            </a:r>
            <a:r>
              <a:rPr lang="it-IT" b="1" dirty="0">
                <a:solidFill>
                  <a:srgbClr val="FF0000"/>
                </a:solidFill>
                <a:cs typeface="Calibri"/>
              </a:rPr>
              <a:t> policy </a:t>
            </a:r>
            <a:r>
              <a:rPr lang="it-IT" b="1" dirty="0" err="1">
                <a:solidFill>
                  <a:srgbClr val="FF0000"/>
                </a:solidFill>
                <a:cs typeface="Calibri"/>
              </a:rPr>
              <a:t>specifications</a:t>
            </a:r>
            <a:r>
              <a:rPr lang="it-IT" b="1" dirty="0">
                <a:solidFill>
                  <a:srgbClr val="FF0000"/>
                </a:solidFill>
                <a:cs typeface="Calibri"/>
              </a:rPr>
              <a:t> in a </a:t>
            </a:r>
            <a:r>
              <a:rPr lang="it-IT" b="1" dirty="0" err="1">
                <a:solidFill>
                  <a:srgbClr val="FF0000"/>
                </a:solidFill>
                <a:cs typeface="Calibri"/>
              </a:rPr>
              <a:t>given</a:t>
            </a:r>
            <a:r>
              <a:rPr lang="it-IT" b="1" dirty="0">
                <a:solidFill>
                  <a:srgbClr val="FF0000"/>
                </a:solidFill>
                <a:cs typeface="Calibri"/>
              </a:rPr>
              <a:t> </a:t>
            </a:r>
            <a:r>
              <a:rPr lang="it-IT" b="1" dirty="0" err="1">
                <a:solidFill>
                  <a:srgbClr val="FF0000"/>
                </a:solidFill>
                <a:cs typeface="Calibri"/>
              </a:rPr>
              <a:t>logic</a:t>
            </a:r>
            <a:r>
              <a:rPr lang="it-IT" b="1" dirty="0">
                <a:solidFill>
                  <a:srgbClr val="FF0000"/>
                </a:solidFill>
                <a:cs typeface="Calibri"/>
              </a:rPr>
              <a:t> programming </a:t>
            </a:r>
            <a:r>
              <a:rPr lang="it-IT" b="1" dirty="0" err="1">
                <a:solidFill>
                  <a:srgbClr val="FF0000"/>
                </a:solidFill>
                <a:cs typeface="Calibri"/>
              </a:rPr>
              <a:t>formalism</a:t>
            </a:r>
            <a:r>
              <a:rPr lang="it-IT" b="1" dirty="0">
                <a:solidFill>
                  <a:srgbClr val="FF0000"/>
                </a:solidFill>
                <a:cs typeface="Calibri"/>
              </a:rPr>
              <a:t> (e.g., ASP)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F77C090C-26B1-6775-5642-A8159F86FEFF}"/>
                  </a:ext>
                </a:extLst>
              </p14:cNvPr>
              <p14:cNvContentPartPr/>
              <p14:nvPr/>
            </p14:nvContentPartPr>
            <p14:xfrm>
              <a:off x="6665310" y="3065134"/>
              <a:ext cx="2811122" cy="53518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F77C090C-26B1-6775-5642-A8159F86FE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7311" y="3047175"/>
                <a:ext cx="2846761" cy="8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A6F87594-ED8F-E2C3-670E-A197E228534E}"/>
                  </a:ext>
                </a:extLst>
              </p14:cNvPr>
              <p14:cNvContentPartPr/>
              <p14:nvPr/>
            </p14:nvContentPartPr>
            <p14:xfrm>
              <a:off x="6647793" y="4457755"/>
              <a:ext cx="2907349" cy="35799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A6F87594-ED8F-E2C3-670E-A197E22853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29795" y="4440033"/>
                <a:ext cx="2942984" cy="70889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magine 10" descr="Deep Reinforcement Learning: Artificial Intelligence, Machine Learning and Deep  Learning — Introduction, Overview and Contrast for Beginners | by Vishnu  Vijayan PV | Medium">
            <a:extLst>
              <a:ext uri="{FF2B5EF4-FFF2-40B4-BE49-F238E27FC236}">
                <a16:creationId xmlns:a16="http://schemas.microsoft.com/office/drawing/2014/main" id="{7DB7D78F-07B8-2B68-B9B1-F6F7A244B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646" y="293985"/>
            <a:ext cx="3535818" cy="161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0015A1-2102-28C4-EC53-984F5F19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ILP for planning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F66769-DCEC-B08F-3E63-903C05C0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really</a:t>
            </a:r>
            <a:r>
              <a:rPr lang="it-IT" dirty="0"/>
              <a:t> ILP </a:t>
            </a:r>
            <a:r>
              <a:rPr lang="it-IT" b="1" u="sng" dirty="0"/>
              <a:t>for</a:t>
            </a:r>
            <a:r>
              <a:rPr lang="it-IT" dirty="0"/>
              <a:t> planning?</a:t>
            </a:r>
          </a:p>
          <a:p>
            <a:pPr lvl="1"/>
            <a:r>
              <a:rPr lang="it-IT" dirty="0"/>
              <a:t>Offline ILP</a:t>
            </a:r>
          </a:p>
          <a:p>
            <a:pPr lvl="1"/>
            <a:r>
              <a:rPr lang="it-IT" dirty="0"/>
              <a:t>Policy </a:t>
            </a:r>
            <a:r>
              <a:rPr lang="it-IT" dirty="0" err="1"/>
              <a:t>explanations</a:t>
            </a:r>
            <a:endParaRPr lang="it-IT" dirty="0"/>
          </a:p>
          <a:p>
            <a:pPr lvl="1"/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do </a:t>
            </a:r>
            <a:r>
              <a:rPr lang="it-IT" dirty="0" err="1"/>
              <a:t>something</a:t>
            </a:r>
            <a:r>
              <a:rPr lang="it-IT" dirty="0"/>
              <a:t> more?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F84AC3-0ED7-4E60-8CB6-41611667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3D420F-2603-3082-2EF0-54679EDD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</a:t>
            </a:fld>
            <a:endParaRPr lang="de-DE"/>
          </a:p>
        </p:txBody>
      </p:sp>
      <p:pic>
        <p:nvPicPr>
          <p:cNvPr id="6" name="Immagine 5" descr="Deep Reinforcement Learning: Artificial Intelligence, Machine Learning and Deep  Learning — Introduction, Overview and Contrast for Beginners | by Vishnu  Vijayan PV | Medium">
            <a:extLst>
              <a:ext uri="{FF2B5EF4-FFF2-40B4-BE49-F238E27FC236}">
                <a16:creationId xmlns:a16="http://schemas.microsoft.com/office/drawing/2014/main" id="{DC81F1F3-D5D0-1886-922E-DBA7684D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59" y="4062049"/>
            <a:ext cx="3535818" cy="1614246"/>
          </a:xfrm>
          <a:prstGeom prst="rect">
            <a:avLst/>
          </a:prstGeom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EC033A4E-02AD-2CD7-9763-0B4A8C55871C}"/>
              </a:ext>
            </a:extLst>
          </p:cNvPr>
          <p:cNvSpPr/>
          <p:nvPr/>
        </p:nvSpPr>
        <p:spPr>
          <a:xfrm>
            <a:off x="5069090" y="4749970"/>
            <a:ext cx="687334" cy="4111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Elemento grafico 8" descr="Database con riempimento a tinta unita">
            <a:extLst>
              <a:ext uri="{FF2B5EF4-FFF2-40B4-BE49-F238E27FC236}">
                <a16:creationId xmlns:a16="http://schemas.microsoft.com/office/drawing/2014/main" id="{99679833-A7A0-B14F-E050-32EB90B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824" y="4166024"/>
            <a:ext cx="1487501" cy="148750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E9D6CBB-EB93-EDA6-0BBF-636B20AD3310}"/>
              </a:ext>
            </a:extLst>
          </p:cNvPr>
          <p:cNvSpPr txBox="1"/>
          <p:nvPr/>
        </p:nvSpPr>
        <p:spPr>
          <a:xfrm>
            <a:off x="5670668" y="5620325"/>
            <a:ext cx="196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Dataset of state-action </a:t>
            </a:r>
            <a:r>
              <a:rPr lang="it-IT" dirty="0" err="1"/>
              <a:t>pairs</a:t>
            </a:r>
            <a:endParaRPr lang="it-IT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8D7BF329-4A41-0094-8FDB-877D09DD2DCF}"/>
              </a:ext>
            </a:extLst>
          </p:cNvPr>
          <p:cNvSpPr/>
          <p:nvPr/>
        </p:nvSpPr>
        <p:spPr>
          <a:xfrm>
            <a:off x="7548725" y="4773974"/>
            <a:ext cx="687334" cy="4111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8" name="Picture 4" descr="ILASP">
            <a:extLst>
              <a:ext uri="{FF2B5EF4-FFF2-40B4-BE49-F238E27FC236}">
                <a16:creationId xmlns:a16="http://schemas.microsoft.com/office/drawing/2014/main" id="{75C98B6C-A2E3-08C9-D24F-C57C69AC3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627" y="4547090"/>
            <a:ext cx="2228174" cy="122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2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9F5E-EFD8-832B-FF82-6F373C52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603EB8-B232-AC65-DD67-455F4A4B1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b="1" u="sng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331F68-38E4-C448-C4AA-056B2069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9C1390D-21F1-C1D0-BB11-95C3D690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</a:t>
            </a:fld>
            <a:endParaRPr lang="de-DE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6E416C8-5230-AADF-FDDC-EEAD99F491BD}"/>
              </a:ext>
            </a:extLst>
          </p:cNvPr>
          <p:cNvSpPr/>
          <p:nvPr/>
        </p:nvSpPr>
        <p:spPr>
          <a:xfrm>
            <a:off x="2463332" y="2608384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6D52575-473E-6BCA-6BF1-A5E62932D3F1}"/>
              </a:ext>
            </a:extLst>
          </p:cNvPr>
          <p:cNvSpPr/>
          <p:nvPr/>
        </p:nvSpPr>
        <p:spPr>
          <a:xfrm>
            <a:off x="6974946" y="2614197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B1B610D-BD42-F8A4-1A58-BBF91BA06226}"/>
              </a:ext>
            </a:extLst>
          </p:cNvPr>
          <p:cNvSpPr/>
          <p:nvPr/>
        </p:nvSpPr>
        <p:spPr>
          <a:xfrm>
            <a:off x="4500217" y="4257430"/>
            <a:ext cx="1630661" cy="86750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 knowledge</a:t>
            </a:r>
            <a:endParaRPr lang="it-IT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3294CF41-5A98-AAB9-D56F-05198F42557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042881" y="4691184"/>
            <a:ext cx="1457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CA8914F-74AD-FD98-2D88-488021A9658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819382" y="3481705"/>
            <a:ext cx="16468" cy="12192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9D6B3D5-3EE3-2C18-8F21-AD27D6CCB406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042882" y="3475892"/>
            <a:ext cx="0" cy="1215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D1A2AE0-B9F6-2A5E-6BFF-F36A2EA9925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130878" y="4691184"/>
            <a:ext cx="1688504" cy="97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FB34E75-42B6-C05D-FCAD-FDC76045F2BA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3622431" y="3042138"/>
            <a:ext cx="3352515" cy="5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026AE71-B620-1511-8A58-A92054D1DD01}"/>
              </a:ext>
            </a:extLst>
          </p:cNvPr>
          <p:cNvSpPr txBox="1"/>
          <p:nvPr/>
        </p:nvSpPr>
        <p:spPr>
          <a:xfrm>
            <a:off x="6465277" y="488852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FF05D0D-20DD-024B-61F3-282B20157380}"/>
              </a:ext>
            </a:extLst>
          </p:cNvPr>
          <p:cNvSpPr txBox="1"/>
          <p:nvPr/>
        </p:nvSpPr>
        <p:spPr>
          <a:xfrm>
            <a:off x="4917831" y="2669884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4EF2A2EE-D6CE-F178-A58E-95F935F47531}"/>
              </a:ext>
            </a:extLst>
          </p:cNvPr>
          <p:cNvCxnSpPr>
            <a:cxnSpLocks/>
          </p:cNvCxnSpPr>
          <p:nvPr/>
        </p:nvCxnSpPr>
        <p:spPr>
          <a:xfrm>
            <a:off x="7819382" y="2157046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E4FD31A2-A7D1-4A2A-38C6-B5932FD28283}"/>
              </a:ext>
            </a:extLst>
          </p:cNvPr>
          <p:cNvCxnSpPr>
            <a:cxnSpLocks/>
          </p:cNvCxnSpPr>
          <p:nvPr/>
        </p:nvCxnSpPr>
        <p:spPr>
          <a:xfrm>
            <a:off x="3042881" y="2157046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E9B4067-AE4E-2530-26F4-85676CC88EC1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042881" y="2157046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9B473DC-9186-6967-EA72-EE06ACD8F650}"/>
              </a:ext>
            </a:extLst>
          </p:cNvPr>
          <p:cNvSpPr txBox="1"/>
          <p:nvPr/>
        </p:nvSpPr>
        <p:spPr>
          <a:xfrm>
            <a:off x="4917831" y="1770185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reward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5CD32499-00C8-C3E7-F437-4AA7CD1F8425}"/>
              </a:ext>
            </a:extLst>
          </p:cNvPr>
          <p:cNvCxnSpPr>
            <a:cxnSpLocks/>
          </p:cNvCxnSpPr>
          <p:nvPr/>
        </p:nvCxnSpPr>
        <p:spPr>
          <a:xfrm>
            <a:off x="8339942" y="3495335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57B3E25B-E950-0801-F13E-FE80A2E4E667}"/>
              </a:ext>
            </a:extLst>
          </p:cNvPr>
          <p:cNvCxnSpPr>
            <a:cxnSpLocks/>
          </p:cNvCxnSpPr>
          <p:nvPr/>
        </p:nvCxnSpPr>
        <p:spPr>
          <a:xfrm>
            <a:off x="2670257" y="5427785"/>
            <a:ext cx="566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E141862-0AB2-9CEC-7CFF-3C78DAEA9941}"/>
              </a:ext>
            </a:extLst>
          </p:cNvPr>
          <p:cNvCxnSpPr>
            <a:cxnSpLocks/>
          </p:cNvCxnSpPr>
          <p:nvPr/>
        </p:nvCxnSpPr>
        <p:spPr>
          <a:xfrm flipV="1">
            <a:off x="2670257" y="3495335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8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7ED34B-A010-5E2B-D28A-78B50A4F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b="1" u="sng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B45A592-A565-7573-C6F2-C0AADDFA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D329FA-8429-7FEA-B154-1EBF3311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BF44FA-7D4D-641F-7110-652154701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048" y="1735486"/>
            <a:ext cx="6323724" cy="377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5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F1276B-0254-64AF-4933-BF07DD6F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Logics</a:t>
            </a:r>
            <a:r>
              <a:rPr lang="it-IT" dirty="0"/>
              <a:t> for planning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1A591D-99A6-0228-6456-C506B4BD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 for </a:t>
            </a:r>
            <a:r>
              <a:rPr lang="it-IT" dirty="0" err="1"/>
              <a:t>explainable</a:t>
            </a:r>
            <a:r>
              <a:rPr lang="it-IT" dirty="0"/>
              <a:t> planning and learning</a:t>
            </a:r>
          </a:p>
          <a:p>
            <a:pPr lvl="1"/>
            <a:r>
              <a:rPr lang="it-IT" dirty="0" err="1"/>
              <a:t>Explaining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  <a:p>
            <a:pPr lvl="1"/>
            <a:r>
              <a:rPr lang="it-IT" dirty="0" err="1"/>
              <a:t>Maybe</a:t>
            </a:r>
            <a:r>
              <a:rPr lang="it-IT" dirty="0"/>
              <a:t> planning </a:t>
            </a:r>
            <a:r>
              <a:rPr lang="it-IT" dirty="0" err="1"/>
              <a:t>better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21D377F-D426-3B05-C8C5-B678CDBE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AB774B-53C3-BF3B-E09D-BEA3257A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</a:t>
            </a:fld>
            <a:endParaRPr lang="de-DE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7FAEF03-E75A-5AF1-22B9-AF4AE1FF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1" y="3318109"/>
            <a:ext cx="4677723" cy="285885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99E694D-E59E-8CC1-2E38-674C44CC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08" y="3385907"/>
            <a:ext cx="4677723" cy="27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0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D360C-0B60-9997-26D5-63F3BE0F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7D0FBF-A7FE-46C0-86F3-E644E56A9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come to </a:t>
            </a:r>
            <a:r>
              <a:rPr lang="it-IT" dirty="0" err="1"/>
              <a:t>this</a:t>
            </a:r>
            <a:r>
              <a:rPr lang="it-IT" dirty="0"/>
              <a:t>?</a:t>
            </a:r>
          </a:p>
          <a:p>
            <a:r>
              <a:rPr lang="it-IT" dirty="0"/>
              <a:t>3 </a:t>
            </a:r>
            <a:r>
              <a:rPr lang="it-IT" dirty="0" err="1"/>
              <a:t>summers</a:t>
            </a:r>
            <a:r>
              <a:rPr lang="it-IT" dirty="0"/>
              <a:t> (and winters) of AI</a:t>
            </a:r>
            <a:br>
              <a:rPr lang="it-IT" dirty="0"/>
            </a:b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Kautz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The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summer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AAAI Robert S.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Engelmore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memorial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lecture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it-IT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Ai magazine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it-IT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43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105-125.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BA57EC3-D70B-3C21-8C30-0DE874C7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612D30-C7A8-B539-67ED-98A30A4C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23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73632-EF8A-A08C-A33B-E8D2A8AE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first </a:t>
            </a:r>
            <a:r>
              <a:rPr lang="it-IT" dirty="0" err="1"/>
              <a:t>summer</a:t>
            </a:r>
            <a:r>
              <a:rPr lang="it-IT" dirty="0"/>
              <a:t> (1948-1966)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97F591-068D-4324-7891-355BDE213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From computing to </a:t>
            </a:r>
            <a:r>
              <a:rPr lang="it-IT" dirty="0" err="1"/>
              <a:t>intelligent</a:t>
            </a:r>
            <a:r>
              <a:rPr lang="it-IT" dirty="0"/>
              <a:t> machines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3969E-E9CF-5C2F-761F-15299794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2840125-2248-4803-321F-B3919EBA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</a:t>
            </a:fld>
            <a:endParaRPr lang="de-DE"/>
          </a:p>
        </p:txBody>
      </p:sp>
      <p:pic>
        <p:nvPicPr>
          <p:cNvPr id="6" name="Picture 2" descr="This week in The History of AI at AIWS.net – the Dartmouth Summer ...">
            <a:extLst>
              <a:ext uri="{FF2B5EF4-FFF2-40B4-BE49-F238E27FC236}">
                <a16:creationId xmlns:a16="http://schemas.microsoft.com/office/drawing/2014/main" id="{3220C3EF-9593-7FEC-E942-75593CF4F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321" y="2813672"/>
            <a:ext cx="4561357" cy="34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ientistas que mudaram o mundo: Alan Turing - TecMundo">
            <a:extLst>
              <a:ext uri="{FF2B5EF4-FFF2-40B4-BE49-F238E27FC236}">
                <a16:creationId xmlns:a16="http://schemas.microsoft.com/office/drawing/2014/main" id="{499F7094-A86E-5C8D-D5BC-A10ED2C0C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486" y="3554297"/>
            <a:ext cx="2868654" cy="187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What Is Artificial Intelligence?">
            <a:extLst>
              <a:ext uri="{FF2B5EF4-FFF2-40B4-BE49-F238E27FC236}">
                <a16:creationId xmlns:a16="http://schemas.microsoft.com/office/drawing/2014/main" id="{CD299612-2C74-6AA3-0EB9-F13C9082D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88" y="3326548"/>
            <a:ext cx="3497179" cy="209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5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D7C9E5-97E5-BEFA-D857-C68183EA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first </a:t>
            </a:r>
            <a:r>
              <a:rPr lang="it-IT" dirty="0" err="1"/>
              <a:t>summer</a:t>
            </a:r>
            <a:r>
              <a:rPr lang="it-IT" dirty="0"/>
              <a:t> (1948-1966)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ACF5CD-E965-968B-D511-B8305DCD3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6608" cy="4351338"/>
          </a:xfrm>
        </p:spPr>
        <p:txBody>
          <a:bodyPr/>
          <a:lstStyle/>
          <a:p>
            <a:r>
              <a:rPr lang="it-IT" dirty="0"/>
              <a:t>William Grey Walter studies connections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and the </a:t>
            </a:r>
            <a:r>
              <a:rPr lang="it-IT" dirty="0" err="1"/>
              <a:t>intention</a:t>
            </a:r>
            <a:r>
              <a:rPr lang="it-IT" dirty="0"/>
              <a:t> of actions</a:t>
            </a:r>
            <a:br>
              <a:rPr lang="it-IT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Walter, W. G., Cooper, R., Aldridge, V. J., McCallum, W. C., &amp; Winter, A. L. (1964). Contingent negative variation: an electric sign of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sensori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-motor association and expectancy in the human brain.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203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(4943), 380-384.</a:t>
            </a:r>
          </a:p>
          <a:p>
            <a:r>
              <a:rPr lang="it-IT" dirty="0" err="1"/>
              <a:t>Uptake</a:t>
            </a:r>
            <a:r>
              <a:rPr lang="it-IT" dirty="0"/>
              <a:t> of </a:t>
            </a:r>
            <a:r>
              <a:rPr lang="it-IT" dirty="0" err="1"/>
              <a:t>ANNs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E84CAF-C29B-08E2-4367-48FABC74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D1FAF09-6A3E-241D-F140-FAEAFA53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</a:t>
            </a:fld>
            <a:endParaRPr lang="de-DE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B51CCB1-7590-5EBC-8939-95831F4E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741" y="1690688"/>
            <a:ext cx="3187864" cy="269253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1495354-1DAF-215A-C8C2-5D35F31C1882}"/>
              </a:ext>
            </a:extLst>
          </p:cNvPr>
          <p:cNvSpPr txBox="1"/>
          <p:nvPr/>
        </p:nvSpPr>
        <p:spPr>
          <a:xfrm>
            <a:off x="8610600" y="4383226"/>
            <a:ext cx="3037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 </a:t>
            </a:r>
            <a:r>
              <a:rPr lang="it-IT" sz="1600" dirty="0" err="1"/>
              <a:t>physical</a:t>
            </a:r>
            <a:r>
              <a:rPr lang="it-IT" sz="1600" dirty="0"/>
              <a:t> </a:t>
            </a:r>
            <a:r>
              <a:rPr lang="it-IT" sz="1600" dirty="0" err="1"/>
              <a:t>neural</a:t>
            </a:r>
            <a:r>
              <a:rPr lang="it-IT" sz="1600" dirty="0"/>
              <a:t> </a:t>
            </a:r>
            <a:r>
              <a:rPr lang="it-IT" sz="1600" dirty="0" err="1"/>
              <a:t>artificial</a:t>
            </a:r>
            <a:r>
              <a:rPr lang="it-IT" sz="1600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96751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50A5-5881-0600-D985-EFE40B17F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3B7702-042D-15D8-8666-95D8D098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first </a:t>
            </a:r>
            <a:r>
              <a:rPr lang="it-IT" dirty="0" err="1"/>
              <a:t>summer</a:t>
            </a:r>
            <a:r>
              <a:rPr lang="it-IT" dirty="0"/>
              <a:t> (1948-1966)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FDDB2-51C0-B746-2A0A-B5F73F4D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6608" cy="4351338"/>
          </a:xfrm>
        </p:spPr>
        <p:txBody>
          <a:bodyPr>
            <a:normAutofit/>
          </a:bodyPr>
          <a:lstStyle/>
          <a:p>
            <a:r>
              <a:rPr lang="it-IT" dirty="0"/>
              <a:t>William Grey Walter studies connections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and the </a:t>
            </a:r>
            <a:r>
              <a:rPr lang="it-IT" dirty="0" err="1"/>
              <a:t>intention</a:t>
            </a:r>
            <a:r>
              <a:rPr lang="it-IT" dirty="0"/>
              <a:t> of actions</a:t>
            </a:r>
            <a:br>
              <a:rPr lang="it-IT" dirty="0"/>
            </a:b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Walter, W. G., Cooper, R., Aldridge, V. J., McCallum, W. C., &amp; Winter, A. L. (1964). Contingent negative variation: an electric sign of </a:t>
            </a:r>
            <a:r>
              <a:rPr lang="en-US" sz="120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sensori</a:t>
            </a: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-motor association and expectancy in the human brain.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203</a:t>
            </a: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(4943), 380-384.</a:t>
            </a:r>
          </a:p>
          <a:p>
            <a:r>
              <a:rPr lang="it-IT" dirty="0" err="1"/>
              <a:t>Uptake</a:t>
            </a:r>
            <a:r>
              <a:rPr lang="it-IT" dirty="0"/>
              <a:t> of </a:t>
            </a:r>
            <a:r>
              <a:rPr lang="it-IT" dirty="0" err="1"/>
              <a:t>ANNs</a:t>
            </a:r>
            <a:endParaRPr lang="it-IT" dirty="0"/>
          </a:p>
          <a:p>
            <a:r>
              <a:rPr lang="it-IT" dirty="0" err="1"/>
              <a:t>Uptake</a:t>
            </a:r>
            <a:r>
              <a:rPr lang="it-IT" dirty="0"/>
              <a:t> of </a:t>
            </a:r>
            <a:r>
              <a:rPr lang="it-IT" dirty="0" err="1"/>
              <a:t>logic-based</a:t>
            </a:r>
            <a:r>
              <a:rPr lang="it-IT" dirty="0"/>
              <a:t> AI</a:t>
            </a:r>
            <a:br>
              <a:rPr lang="it-IT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McCarthy, J. (1959).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Programs with common sense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Allen, J., Cohen, P., Cohen, R., Perrault, C. R.,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Reason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&amp;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Horrigan-Tozer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(1977). A computer model of </a:t>
            </a: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conversation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it-IT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ACM SIGART </a:t>
            </a:r>
            <a:r>
              <a:rPr lang="it-IT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Bulletin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(61), 29-29.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5370CB-8AAB-5E44-D0A9-80E5BEA2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B644C05-E66F-72D8-294B-A42C8BD3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</a:t>
            </a:fld>
            <a:endParaRPr lang="de-DE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5440E1C-50C9-A0B4-BE34-7A9A65584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741" y="1690688"/>
            <a:ext cx="3187864" cy="269253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594F56-C52C-9231-97B5-510D700BF6E0}"/>
              </a:ext>
            </a:extLst>
          </p:cNvPr>
          <p:cNvSpPr txBox="1"/>
          <p:nvPr/>
        </p:nvSpPr>
        <p:spPr>
          <a:xfrm>
            <a:off x="8610600" y="4383226"/>
            <a:ext cx="3037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 </a:t>
            </a:r>
            <a:r>
              <a:rPr lang="it-IT" sz="1600" dirty="0" err="1"/>
              <a:t>physical</a:t>
            </a:r>
            <a:r>
              <a:rPr lang="it-IT" sz="1600" dirty="0"/>
              <a:t> </a:t>
            </a:r>
            <a:r>
              <a:rPr lang="it-IT" sz="1600" dirty="0" err="1"/>
              <a:t>neural</a:t>
            </a:r>
            <a:r>
              <a:rPr lang="it-IT" sz="1600" dirty="0"/>
              <a:t> </a:t>
            </a:r>
            <a:r>
              <a:rPr lang="it-IT" sz="1600" dirty="0" err="1"/>
              <a:t>artificial</a:t>
            </a:r>
            <a:r>
              <a:rPr lang="it-IT" sz="1600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136551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D791F2-8D46-CCB5-A18D-BB67A5CC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first winter (1967-1977)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D05001-EBEA-43F7-EC08-3F621001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Immature </a:t>
            </a:r>
            <a:r>
              <a:rPr lang="it-IT" dirty="0" err="1"/>
              <a:t>technology</a:t>
            </a:r>
            <a:endParaRPr lang="it-IT" dirty="0"/>
          </a:p>
          <a:p>
            <a:r>
              <a:rPr lang="it-IT" dirty="0" err="1"/>
              <a:t>Unmet</a:t>
            </a:r>
            <a:r>
              <a:rPr lang="it-IT" dirty="0"/>
              <a:t> </a:t>
            </a:r>
            <a:r>
              <a:rPr lang="it-IT" dirty="0" err="1"/>
              <a:t>promises</a:t>
            </a:r>
            <a:r>
              <a:rPr lang="it-IT" dirty="0"/>
              <a:t> from Dartmouth </a:t>
            </a:r>
            <a:r>
              <a:rPr lang="it-IT" dirty="0" err="1"/>
              <a:t>summer</a:t>
            </a:r>
            <a:r>
              <a:rPr lang="it-IT" dirty="0"/>
              <a:t> school</a:t>
            </a:r>
          </a:p>
          <a:p>
            <a:r>
              <a:rPr lang="it-IT" dirty="0"/>
              <a:t>No more fundings from USA and UK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AADE6A-C2E0-7740-26EC-2491FD577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11ED61-43DB-587B-B2CC-9BD69B77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12</a:t>
            </a:fld>
            <a:endParaRPr lang="de-DE"/>
          </a:p>
        </p:txBody>
      </p:sp>
      <p:pic>
        <p:nvPicPr>
          <p:cNvPr id="1026" name="Picture 2" descr="This week in The History of AI at AIWS.net – the Dartmouth Summer ...">
            <a:extLst>
              <a:ext uri="{FF2B5EF4-FFF2-40B4-BE49-F238E27FC236}">
                <a16:creationId xmlns:a16="http://schemas.microsoft.com/office/drawing/2014/main" id="{70D805C1-B7E8-0B8F-6308-9E0F2A539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224" y="2858122"/>
            <a:ext cx="4561357" cy="34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92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46293-9C16-F69B-EE4D-F48877B4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second </a:t>
            </a:r>
            <a:r>
              <a:rPr lang="it-IT" dirty="0" err="1"/>
              <a:t>summer</a:t>
            </a:r>
            <a:r>
              <a:rPr lang="it-IT" dirty="0"/>
              <a:t> (1978-1987)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CC780E-2B1B-4014-48D3-E154FA9F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advent</a:t>
            </a:r>
            <a:r>
              <a:rPr lang="it-IT" dirty="0"/>
              <a:t> of </a:t>
            </a:r>
            <a:r>
              <a:rPr lang="it-IT" dirty="0" err="1"/>
              <a:t>expert</a:t>
            </a:r>
            <a:r>
              <a:rPr lang="it-IT" dirty="0"/>
              <a:t> systems (vs. human </a:t>
            </a:r>
            <a:r>
              <a:rPr lang="it-IT" dirty="0" err="1"/>
              <a:t>experts</a:t>
            </a:r>
            <a:r>
              <a:rPr lang="it-IT" dirty="0"/>
              <a:t>)</a:t>
            </a:r>
          </a:p>
          <a:p>
            <a:r>
              <a:rPr lang="it-IT" dirty="0"/>
              <a:t>Machines to </a:t>
            </a:r>
            <a:r>
              <a:rPr lang="it-IT" dirty="0" err="1"/>
              <a:t>boost</a:t>
            </a:r>
            <a:r>
              <a:rPr lang="it-IT" dirty="0"/>
              <a:t> production, medicine, etc.</a:t>
            </a:r>
          </a:p>
          <a:p>
            <a:r>
              <a:rPr lang="it-IT" dirty="0"/>
              <a:t>The first AI tool for engineering: XCON</a:t>
            </a:r>
            <a:br>
              <a:rPr lang="it-IT" dirty="0"/>
            </a:br>
            <a:r>
              <a:rPr lang="it-IT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McDermott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P. (1980, August). RI: an Expert in the Computer Systems Domain. In </a:t>
            </a:r>
            <a:r>
              <a:rPr lang="it-IT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AAAI</a:t>
            </a:r>
            <a:r>
              <a:rPr lang="it-IT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(Vol. 1, pp. 269-271).</a:t>
            </a:r>
          </a:p>
          <a:p>
            <a:r>
              <a:rPr lang="it-IT" dirty="0"/>
              <a:t>A </a:t>
            </a:r>
            <a:r>
              <a:rPr lang="it-IT" dirty="0" err="1"/>
              <a:t>language</a:t>
            </a:r>
            <a:r>
              <a:rPr lang="it-IT" dirty="0"/>
              <a:t> to </a:t>
            </a:r>
            <a:r>
              <a:rPr lang="it-IT" dirty="0" err="1"/>
              <a:t>enter</a:t>
            </a:r>
            <a:r>
              <a:rPr lang="it-IT" dirty="0"/>
              <a:t> programming rules </a:t>
            </a:r>
            <a:r>
              <a:rPr lang="it-IT" dirty="0" err="1"/>
              <a:t>as</a:t>
            </a:r>
            <a:r>
              <a:rPr lang="it-IT" dirty="0"/>
              <a:t> a non-</a:t>
            </a:r>
            <a:r>
              <a:rPr lang="it-IT" dirty="0" err="1"/>
              <a:t>programmer</a:t>
            </a:r>
            <a:endParaRPr lang="it-IT" dirty="0"/>
          </a:p>
          <a:p>
            <a:pPr lvl="1"/>
            <a:r>
              <a:rPr lang="it-IT" dirty="0"/>
              <a:t>LISP</a:t>
            </a:r>
          </a:p>
          <a:p>
            <a:pPr lvl="1"/>
            <a:r>
              <a:rPr lang="it-IT" dirty="0" err="1"/>
              <a:t>Prolog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A5830F-8FA4-08A8-5A72-8C323759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C0B497-7F49-060B-A93D-13CD858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03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12E2F-6053-537F-A91E-DE4D30C8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second winter (1988-2011)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F398C1-A0B1-E5F2-3C98-7085F8CAD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Commercial </a:t>
            </a:r>
            <a:r>
              <a:rPr lang="it-IT" dirty="0" err="1"/>
              <a:t>causes</a:t>
            </a:r>
            <a:endParaRPr lang="it-IT" dirty="0"/>
          </a:p>
          <a:p>
            <a:pPr lvl="1"/>
            <a:r>
              <a:rPr lang="it-IT" dirty="0" err="1"/>
              <a:t>Trustability</a:t>
            </a:r>
            <a:r>
              <a:rPr lang="it-IT" dirty="0"/>
              <a:t> of AI (e.g., in medicine)</a:t>
            </a:r>
          </a:p>
          <a:p>
            <a:pPr lvl="1"/>
            <a:r>
              <a:rPr lang="it-IT" dirty="0" err="1"/>
              <a:t>Uptake</a:t>
            </a:r>
            <a:r>
              <a:rPr lang="it-IT" dirty="0"/>
              <a:t> of Unix systems (</a:t>
            </a:r>
            <a:r>
              <a:rPr lang="it-IT" dirty="0" err="1"/>
              <a:t>supporting</a:t>
            </a:r>
            <a:r>
              <a:rPr lang="it-IT" dirty="0"/>
              <a:t> LISP and </a:t>
            </a:r>
            <a:r>
              <a:rPr lang="it-IT" dirty="0" err="1"/>
              <a:t>Prolog</a:t>
            </a:r>
            <a:r>
              <a:rPr lang="it-IT" dirty="0"/>
              <a:t>)</a:t>
            </a:r>
          </a:p>
          <a:p>
            <a:r>
              <a:rPr lang="it-IT" dirty="0"/>
              <a:t>Technical </a:t>
            </a:r>
            <a:r>
              <a:rPr lang="it-IT" dirty="0" err="1"/>
              <a:t>causes</a:t>
            </a:r>
            <a:endParaRPr lang="it-IT" dirty="0"/>
          </a:p>
          <a:p>
            <a:pPr lvl="1"/>
            <a:r>
              <a:rPr lang="it-IT" dirty="0"/>
              <a:t>How to deal </a:t>
            </a:r>
            <a:r>
              <a:rPr lang="it-IT" dirty="0" err="1"/>
              <a:t>efficiently</a:t>
            </a:r>
            <a:r>
              <a:rPr lang="it-IT" dirty="0"/>
              <a:t> with </a:t>
            </a:r>
            <a:r>
              <a:rPr lang="it-IT" dirty="0" err="1"/>
              <a:t>probability</a:t>
            </a:r>
            <a:r>
              <a:rPr lang="it-IT" dirty="0"/>
              <a:t> and </a:t>
            </a:r>
            <a:r>
              <a:rPr lang="it-IT" dirty="0" err="1"/>
              <a:t>uncertainty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Too </a:t>
            </a:r>
            <a:r>
              <a:rPr lang="it-IT" dirty="0" err="1"/>
              <a:t>much</a:t>
            </a:r>
            <a:r>
              <a:rPr lang="it-IT" dirty="0"/>
              <a:t> background knowledge for </a:t>
            </a:r>
            <a:r>
              <a:rPr lang="it-IT" dirty="0" err="1"/>
              <a:t>expert</a:t>
            </a:r>
            <a:r>
              <a:rPr lang="it-IT" dirty="0"/>
              <a:t> systems</a:t>
            </a:r>
          </a:p>
          <a:p>
            <a:pPr lvl="1"/>
            <a:r>
              <a:rPr lang="it-IT" dirty="0"/>
              <a:t>How to </a:t>
            </a:r>
            <a:r>
              <a:rPr lang="it-IT" dirty="0" err="1"/>
              <a:t>learn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BA2315C-4FA2-53F5-296C-CDEF99D9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696633-69AA-0658-FA2E-53015FFF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759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B614C-34E4-C5EF-405D-03788672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third</a:t>
            </a:r>
            <a:r>
              <a:rPr lang="it-IT" dirty="0"/>
              <a:t> </a:t>
            </a:r>
            <a:r>
              <a:rPr lang="it-IT" dirty="0" err="1"/>
              <a:t>summer</a:t>
            </a:r>
            <a:r>
              <a:rPr lang="it-IT" dirty="0"/>
              <a:t> (2011-today)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799EFD-BC66-D535-F014-8F9B5005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uptake</a:t>
            </a:r>
            <a:r>
              <a:rPr lang="it-IT" dirty="0"/>
              <a:t> of Deep Learning from imaging</a:t>
            </a:r>
          </a:p>
          <a:p>
            <a:r>
              <a:rPr lang="it-IT" dirty="0"/>
              <a:t>DL </a:t>
            </a:r>
            <a:r>
              <a:rPr lang="it-IT" dirty="0" err="1"/>
              <a:t>captures</a:t>
            </a:r>
            <a:r>
              <a:rPr lang="it-IT" dirty="0"/>
              <a:t> some </a:t>
            </a:r>
            <a:r>
              <a:rPr lang="it-IT" dirty="0" err="1"/>
              <a:t>aspects</a:t>
            </a:r>
            <a:r>
              <a:rPr lang="it-IT" dirty="0"/>
              <a:t> of intelligence</a:t>
            </a:r>
          </a:p>
          <a:p>
            <a:pPr lvl="1"/>
            <a:r>
              <a:rPr lang="it-IT" dirty="0"/>
              <a:t>Concept </a:t>
            </a:r>
            <a:r>
              <a:rPr lang="it-IT" dirty="0" err="1"/>
              <a:t>similarity</a:t>
            </a:r>
            <a:endParaRPr lang="it-IT" dirty="0"/>
          </a:p>
          <a:p>
            <a:pPr lvl="1"/>
            <a:r>
              <a:rPr lang="it-IT" dirty="0" err="1"/>
              <a:t>Representation</a:t>
            </a:r>
            <a:r>
              <a:rPr lang="it-IT" dirty="0"/>
              <a:t> learning (feature </a:t>
            </a:r>
            <a:r>
              <a:rPr lang="it-IT" dirty="0" err="1"/>
              <a:t>extraction</a:t>
            </a:r>
            <a:r>
              <a:rPr lang="it-IT" dirty="0"/>
              <a:t>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3352CD1-EFF5-701B-A79C-4733DC8A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71C3B3-B25D-6F59-A57C-CA045389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15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966FF56-A8A9-DD2F-579C-514283A79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57" y="1870075"/>
            <a:ext cx="3073558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99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52B1D-9164-9114-7FEA-B9F01695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new winter for AI?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024ECE-1AA1-A662-6A29-0A0F75D53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Probably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AI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involved</a:t>
            </a:r>
            <a:r>
              <a:rPr lang="it-IT" dirty="0"/>
              <a:t> in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-world </a:t>
            </a:r>
            <a:r>
              <a:rPr lang="it-IT" dirty="0" err="1"/>
              <a:t>applications</a:t>
            </a:r>
            <a:endParaRPr lang="it-IT" dirty="0"/>
          </a:p>
          <a:p>
            <a:pPr lvl="1"/>
            <a:r>
              <a:rPr lang="it-IT" dirty="0"/>
              <a:t>Commercial </a:t>
            </a:r>
            <a:r>
              <a:rPr lang="it-IT" dirty="0" err="1"/>
              <a:t>push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stop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AB36B8E-C88A-316E-0036-77979495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3BB1C0-288B-22C3-8E19-4FCCE4A2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293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29A8-0087-6BC9-1F27-A6145C4C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7609E2-1EF1-47D4-8BEA-CA5D5235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new winter for AI?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80AD25-95FE-E3A5-6998-E37C9EF7D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Probably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AI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involved</a:t>
            </a:r>
            <a:r>
              <a:rPr lang="it-IT" dirty="0"/>
              <a:t> in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-world </a:t>
            </a:r>
            <a:r>
              <a:rPr lang="it-IT" dirty="0" err="1"/>
              <a:t>applications</a:t>
            </a:r>
            <a:endParaRPr lang="it-IT" dirty="0"/>
          </a:p>
          <a:p>
            <a:pPr lvl="1"/>
            <a:r>
              <a:rPr lang="it-IT" dirty="0"/>
              <a:t>Commercial </a:t>
            </a:r>
            <a:r>
              <a:rPr lang="it-IT" dirty="0" err="1"/>
              <a:t>push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stop</a:t>
            </a:r>
          </a:p>
          <a:p>
            <a:r>
              <a:rPr lang="it-IT" dirty="0"/>
              <a:t>Open challenges</a:t>
            </a:r>
          </a:p>
          <a:p>
            <a:pPr lvl="1"/>
            <a:r>
              <a:rPr lang="it-IT" dirty="0"/>
              <a:t>Privacy, </a:t>
            </a:r>
            <a:r>
              <a:rPr lang="it-IT" dirty="0" err="1"/>
              <a:t>trustworthyness</a:t>
            </a:r>
            <a:r>
              <a:rPr lang="it-IT" dirty="0"/>
              <a:t>, reliability, …</a:t>
            </a:r>
          </a:p>
          <a:p>
            <a:pPr lvl="1"/>
            <a:r>
              <a:rPr lang="it-IT" b="1" dirty="0"/>
              <a:t>Can </a:t>
            </a:r>
            <a:r>
              <a:rPr lang="it-IT" b="1" dirty="0" err="1"/>
              <a:t>modern</a:t>
            </a:r>
            <a:r>
              <a:rPr lang="it-IT" b="1" dirty="0"/>
              <a:t> AI replicate human intelligence?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89C790-6EA0-02D6-D556-F5576CF5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4FC13E-9772-9BE7-14A5-37783D15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17</a:t>
            </a:fld>
            <a:endParaRPr lang="de-DE"/>
          </a:p>
        </p:txBody>
      </p:sp>
      <p:pic>
        <p:nvPicPr>
          <p:cNvPr id="6" name="Picture 2" descr="This week in The History of AI at AIWS.net – the Dartmouth Summer ...">
            <a:extLst>
              <a:ext uri="{FF2B5EF4-FFF2-40B4-BE49-F238E27FC236}">
                <a16:creationId xmlns:a16="http://schemas.microsoft.com/office/drawing/2014/main" id="{3797B38C-AE4D-37FE-AD56-3FD671698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321" y="2813672"/>
            <a:ext cx="4561357" cy="34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ientistas que mudaram o mundo: Alan Turing - TecMundo">
            <a:extLst>
              <a:ext uri="{FF2B5EF4-FFF2-40B4-BE49-F238E27FC236}">
                <a16:creationId xmlns:a16="http://schemas.microsoft.com/office/drawing/2014/main" id="{0D7D960F-4293-6F56-3BF5-0C9C80294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019" y="4622317"/>
            <a:ext cx="2868654" cy="187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rtificial Intelligence?">
            <a:extLst>
              <a:ext uri="{FF2B5EF4-FFF2-40B4-BE49-F238E27FC236}">
                <a16:creationId xmlns:a16="http://schemas.microsoft.com/office/drawing/2014/main" id="{F8105265-3E17-F494-4AD9-A9DCE5335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21" y="4394568"/>
            <a:ext cx="3497179" cy="209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775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866659-9FCE-C2EA-4F6C-C684E16E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FBF2B8-A92D-BFAE-277F-B908E445A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316ED83-C3B4-D1F3-981B-8A83B0F0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C2F76BA-53E8-36BD-AD05-3477B772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18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60C72456-1253-6D0D-D137-5BF7E4C87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AE8A31-7702-A432-2CD1-19CD91FAC8D2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011537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1382-D884-8DB9-B755-988EB54D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98D09-76BC-5732-8A2C-2B82B278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57D270-7FC5-ECF3-C76E-F2A1B0516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060" cy="4351338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  <a:p>
            <a:pPr lvl="1"/>
            <a:r>
              <a:rPr lang="it-IT" dirty="0"/>
              <a:t>System 1</a:t>
            </a:r>
          </a:p>
          <a:p>
            <a:pPr lvl="2"/>
            <a:r>
              <a:rPr lang="it-IT" dirty="0"/>
              <a:t>Immediate </a:t>
            </a:r>
            <a:r>
              <a:rPr lang="it-IT" dirty="0" err="1"/>
              <a:t>perception</a:t>
            </a:r>
            <a:r>
              <a:rPr lang="it-IT" dirty="0"/>
              <a:t> of the </a:t>
            </a:r>
            <a:r>
              <a:rPr lang="it-IT" dirty="0" err="1"/>
              <a:t>current</a:t>
            </a:r>
            <a:r>
              <a:rPr lang="it-IT" dirty="0"/>
              <a:t> situation and </a:t>
            </a:r>
            <a:r>
              <a:rPr lang="it-IT" dirty="0" err="1"/>
              <a:t>possible</a:t>
            </a:r>
            <a:r>
              <a:rPr lang="it-IT" dirty="0"/>
              <a:t> future</a:t>
            </a:r>
          </a:p>
          <a:p>
            <a:pPr lvl="2"/>
            <a:r>
              <a:rPr lang="it-IT" dirty="0"/>
              <a:t>Experience </a:t>
            </a:r>
            <a:r>
              <a:rPr lang="it-IT" dirty="0" err="1"/>
              <a:t>association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FF32EC8-5141-694B-5D3E-E4E79203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B2400AB-3FF8-BFDD-95F7-72FCEEDD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19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6A905987-4E38-DBD2-4E9D-CB9B76AD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33F06F0-7F23-9F62-041E-8959287AF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258" y="3040691"/>
            <a:ext cx="2076557" cy="322596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40FAE31-631D-CCD2-C4E7-9BCD58ABC097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645121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52FB-5D3D-6381-9053-68F5B655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C77497-1EA7-A894-081A-370BF8A7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5A5E2B-F5D7-A634-739F-B2793D85D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060" cy="4351338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  <a:p>
            <a:pPr lvl="1"/>
            <a:r>
              <a:rPr lang="it-IT" dirty="0"/>
              <a:t>System 1</a:t>
            </a:r>
          </a:p>
          <a:p>
            <a:pPr lvl="2"/>
            <a:r>
              <a:rPr lang="it-IT" dirty="0"/>
              <a:t>Immediate </a:t>
            </a:r>
            <a:r>
              <a:rPr lang="it-IT" dirty="0" err="1"/>
              <a:t>perception</a:t>
            </a:r>
            <a:r>
              <a:rPr lang="it-IT" dirty="0"/>
              <a:t> of the </a:t>
            </a:r>
            <a:r>
              <a:rPr lang="it-IT" dirty="0" err="1"/>
              <a:t>current</a:t>
            </a:r>
            <a:r>
              <a:rPr lang="it-IT" dirty="0"/>
              <a:t> situation and </a:t>
            </a:r>
            <a:r>
              <a:rPr lang="it-IT" dirty="0" err="1"/>
              <a:t>possible</a:t>
            </a:r>
            <a:r>
              <a:rPr lang="it-IT" dirty="0"/>
              <a:t> future</a:t>
            </a:r>
          </a:p>
          <a:p>
            <a:pPr lvl="2"/>
            <a:r>
              <a:rPr lang="it-IT" dirty="0"/>
              <a:t>Experience </a:t>
            </a:r>
            <a:r>
              <a:rPr lang="it-IT" dirty="0" err="1"/>
              <a:t>association</a:t>
            </a:r>
            <a:endParaRPr lang="it-IT" dirty="0"/>
          </a:p>
          <a:p>
            <a:pPr lvl="1"/>
            <a:r>
              <a:rPr lang="it-IT" dirty="0"/>
              <a:t>System 2</a:t>
            </a:r>
          </a:p>
          <a:p>
            <a:pPr lvl="2"/>
            <a:r>
              <a:rPr lang="it-IT" dirty="0"/>
              <a:t>A rough idea of </a:t>
            </a:r>
            <a:r>
              <a:rPr lang="it-IT" dirty="0" err="1"/>
              <a:t>how</a:t>
            </a:r>
            <a:r>
              <a:rPr lang="it-IT" dirty="0"/>
              <a:t> to solve, </a:t>
            </a:r>
            <a:r>
              <a:rPr lang="it-IT" dirty="0" err="1"/>
              <a:t>possible</a:t>
            </a:r>
            <a:r>
              <a:rPr lang="it-IT" dirty="0"/>
              <a:t> range of </a:t>
            </a:r>
            <a:r>
              <a:rPr lang="it-IT" dirty="0" err="1"/>
              <a:t>outcome</a:t>
            </a:r>
            <a:r>
              <a:rPr lang="it-IT" dirty="0"/>
              <a:t>, … </a:t>
            </a:r>
            <a:r>
              <a:rPr lang="it-IT" b="1" dirty="0"/>
              <a:t>from </a:t>
            </a:r>
            <a:r>
              <a:rPr lang="it-IT" b="1" dirty="0" err="1"/>
              <a:t>experience</a:t>
            </a:r>
            <a:r>
              <a:rPr lang="it-IT" b="1" dirty="0"/>
              <a:t> / </a:t>
            </a:r>
            <a:r>
              <a:rPr lang="it-IT" b="1" dirty="0" err="1"/>
              <a:t>intuition</a:t>
            </a:r>
            <a:endParaRPr lang="it-IT" b="1" dirty="0"/>
          </a:p>
          <a:p>
            <a:pPr lvl="2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exact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? </a:t>
            </a:r>
            <a:r>
              <a:rPr lang="it-IT" dirty="0" err="1"/>
              <a:t>Need</a:t>
            </a:r>
            <a:r>
              <a:rPr lang="it-IT" dirty="0"/>
              <a:t> time and </a:t>
            </a:r>
            <a:r>
              <a:rPr lang="it-IT" dirty="0" err="1"/>
              <a:t>effort</a:t>
            </a:r>
            <a:r>
              <a:rPr lang="it-IT" dirty="0"/>
              <a:t> to compute…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8FBC46-F920-9415-59F0-9AF8CE2B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980DAD-AB3F-B814-8F53-3EA6C6FB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20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3AF25724-ECE5-D64E-87D0-7506AF110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CFB2C21-B8A7-0383-229D-64CAB294E07D}"/>
              </a:ext>
            </a:extLst>
          </p:cNvPr>
          <p:cNvSpPr txBox="1"/>
          <p:nvPr/>
        </p:nvSpPr>
        <p:spPr>
          <a:xfrm>
            <a:off x="4529503" y="4973698"/>
            <a:ext cx="2393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17 X 24 = ?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0949BF4-CC1A-564F-ABF7-39FEEC65C1B5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662300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C4883-340E-E760-9FA8-2797104D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2B5F29-7CA6-E714-3002-F86642189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CE957A-F1B9-DBC4-00DB-6C032AB1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060" cy="4351338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  <a:p>
            <a:pPr lvl="1"/>
            <a:r>
              <a:rPr lang="it-IT" dirty="0"/>
              <a:t>System 1 – fast </a:t>
            </a:r>
            <a:r>
              <a:rPr lang="it-IT" dirty="0" err="1"/>
              <a:t>intuition</a:t>
            </a:r>
            <a:br>
              <a:rPr lang="it-IT" dirty="0"/>
            </a:br>
            <a:r>
              <a:rPr lang="it-IT" b="1" dirty="0"/>
              <a:t>DL </a:t>
            </a:r>
            <a:r>
              <a:rPr lang="it-IT" b="1" dirty="0" err="1"/>
              <a:t>association</a:t>
            </a:r>
            <a:endParaRPr lang="it-IT" b="1" dirty="0"/>
          </a:p>
          <a:p>
            <a:pPr lvl="1"/>
            <a:r>
              <a:rPr lang="it-IT" dirty="0"/>
              <a:t>System 2 – slow </a:t>
            </a:r>
            <a:r>
              <a:rPr lang="it-IT" dirty="0" err="1"/>
              <a:t>detailed</a:t>
            </a:r>
            <a:r>
              <a:rPr lang="it-IT" dirty="0"/>
              <a:t> processing</a:t>
            </a:r>
            <a:br>
              <a:rPr lang="it-IT" dirty="0"/>
            </a:br>
            <a:r>
              <a:rPr lang="it-IT" b="1" dirty="0"/>
              <a:t>Rule-</a:t>
            </a:r>
            <a:r>
              <a:rPr lang="it-IT" b="1" dirty="0" err="1"/>
              <a:t>based</a:t>
            </a:r>
            <a:r>
              <a:rPr lang="it-IT" b="1" dirty="0"/>
              <a:t> (</a:t>
            </a:r>
            <a:r>
              <a:rPr lang="it-IT" b="1" dirty="0" err="1"/>
              <a:t>logical</a:t>
            </a:r>
            <a:r>
              <a:rPr lang="it-IT" b="1" dirty="0"/>
              <a:t>) </a:t>
            </a:r>
            <a:r>
              <a:rPr lang="it-IT" b="1" dirty="0" err="1"/>
              <a:t>reasoning</a:t>
            </a:r>
            <a:endParaRPr lang="it-IT" b="1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757354B-0770-FC0D-8354-70EECC70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3FBD7F-E2AB-6C7B-409A-17D0DB2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21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7A78FA0F-5AD1-7774-39A2-5A3E3DD8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C462975-53E2-7992-EC82-0DF4CC546A80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710557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34FF-392F-E73F-9F5C-615713E7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1892D-325F-A3B2-43C6-B643481D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931F8-75A0-4079-E605-AB3E2034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060" cy="4351338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  <a:p>
            <a:pPr lvl="1"/>
            <a:r>
              <a:rPr lang="it-IT" dirty="0"/>
              <a:t>System 1 – fast </a:t>
            </a:r>
            <a:r>
              <a:rPr lang="it-IT" dirty="0" err="1"/>
              <a:t>intuition</a:t>
            </a:r>
            <a:br>
              <a:rPr lang="it-IT" dirty="0"/>
            </a:br>
            <a:r>
              <a:rPr lang="it-IT" b="1" dirty="0"/>
              <a:t>DL </a:t>
            </a:r>
            <a:r>
              <a:rPr lang="it-IT" b="1" dirty="0" err="1"/>
              <a:t>association</a:t>
            </a:r>
            <a:endParaRPr lang="it-IT" b="1" dirty="0"/>
          </a:p>
          <a:p>
            <a:pPr lvl="1"/>
            <a:r>
              <a:rPr lang="it-IT" dirty="0"/>
              <a:t>System 2 – slow </a:t>
            </a:r>
            <a:r>
              <a:rPr lang="it-IT" dirty="0" err="1"/>
              <a:t>detailed</a:t>
            </a:r>
            <a:r>
              <a:rPr lang="it-IT" dirty="0"/>
              <a:t> processing</a:t>
            </a:r>
            <a:br>
              <a:rPr lang="it-IT" dirty="0"/>
            </a:br>
            <a:r>
              <a:rPr lang="it-IT" b="1" dirty="0"/>
              <a:t>Rule-</a:t>
            </a:r>
            <a:r>
              <a:rPr lang="it-IT" b="1" dirty="0" err="1"/>
              <a:t>based</a:t>
            </a:r>
            <a:r>
              <a:rPr lang="it-IT" b="1" dirty="0"/>
              <a:t> (</a:t>
            </a:r>
            <a:r>
              <a:rPr lang="it-IT" b="1" dirty="0" err="1"/>
              <a:t>logical</a:t>
            </a:r>
            <a:r>
              <a:rPr lang="it-IT" b="1" dirty="0"/>
              <a:t>) </a:t>
            </a:r>
            <a:r>
              <a:rPr lang="it-IT" b="1" dirty="0" err="1"/>
              <a:t>reasoning</a:t>
            </a:r>
            <a:endParaRPr lang="it-IT" b="1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9FA6844-1139-1C41-2224-CC1357D4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A8DE495-0F6C-C9D2-E192-777F5517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22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9CFC103D-7032-C344-007E-DA7878129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E4F930-8360-9FA9-5A70-0C6DDE1BDA74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  <p:pic>
        <p:nvPicPr>
          <p:cNvPr id="6" name="Immagine 5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78E03AA5-C623-6E6F-6E62-88AC6BB31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13" y="3755314"/>
            <a:ext cx="4106934" cy="206743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C6B839A-979D-76B4-F942-F3E88E02F0E7}"/>
              </a:ext>
            </a:extLst>
          </p:cNvPr>
          <p:cNvSpPr txBox="1"/>
          <p:nvPr/>
        </p:nvSpPr>
        <p:spPr>
          <a:xfrm>
            <a:off x="217897" y="5853797"/>
            <a:ext cx="6881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Throwback</a:t>
            </a:r>
            <a:endParaRPr lang="it-IT" b="1" dirty="0"/>
          </a:p>
          <a:p>
            <a:r>
              <a:rPr lang="it-IT" dirty="0"/>
              <a:t>Association </a:t>
            </a:r>
            <a:r>
              <a:rPr lang="it-IT" dirty="0" err="1"/>
              <a:t>is</a:t>
            </a:r>
            <a:r>
              <a:rPr lang="it-IT" dirty="0"/>
              <a:t> «easy»,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causation</a:t>
            </a:r>
            <a:r>
              <a:rPr lang="it-IT" dirty="0"/>
              <a:t> (more processing) </a:t>
            </a:r>
            <a:r>
              <a:rPr lang="it-IT" dirty="0" err="1"/>
              <a:t>is</a:t>
            </a:r>
            <a:r>
              <a:rPr lang="it-IT" dirty="0"/>
              <a:t> more accurate</a:t>
            </a:r>
          </a:p>
        </p:txBody>
      </p:sp>
    </p:spTree>
    <p:extLst>
      <p:ext uri="{BB962C8B-B14F-4D97-AF65-F5344CB8AC3E}">
        <p14:creationId xmlns:p14="http://schemas.microsoft.com/office/powerpoint/2010/main" val="2753209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6FEB-083E-BC50-D639-D59B4A03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CCD865-4350-7842-560D-9AC866B8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2220A-A766-14C0-6C56-5BC47B107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5060" cy="4351338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does</a:t>
            </a:r>
            <a:r>
              <a:rPr lang="it-IT" dirty="0"/>
              <a:t> human mind work?</a:t>
            </a:r>
          </a:p>
          <a:p>
            <a:pPr lvl="1"/>
            <a:r>
              <a:rPr lang="it-IT" dirty="0"/>
              <a:t>System 1 – fast </a:t>
            </a:r>
            <a:r>
              <a:rPr lang="it-IT" dirty="0" err="1"/>
              <a:t>intuition</a:t>
            </a:r>
            <a:br>
              <a:rPr lang="it-IT" dirty="0"/>
            </a:br>
            <a:r>
              <a:rPr lang="it-IT" b="1" dirty="0"/>
              <a:t>DL </a:t>
            </a:r>
            <a:r>
              <a:rPr lang="it-IT" b="1" dirty="0" err="1"/>
              <a:t>association</a:t>
            </a:r>
            <a:endParaRPr lang="it-IT" b="1" dirty="0"/>
          </a:p>
          <a:p>
            <a:pPr lvl="1"/>
            <a:r>
              <a:rPr lang="it-IT" dirty="0"/>
              <a:t>System 2 – slow </a:t>
            </a:r>
            <a:r>
              <a:rPr lang="it-IT" dirty="0" err="1"/>
              <a:t>detailed</a:t>
            </a:r>
            <a:r>
              <a:rPr lang="it-IT" dirty="0"/>
              <a:t> processing</a:t>
            </a:r>
            <a:br>
              <a:rPr lang="it-IT" dirty="0"/>
            </a:br>
            <a:r>
              <a:rPr lang="it-IT" b="1" dirty="0"/>
              <a:t>Rule-</a:t>
            </a:r>
            <a:r>
              <a:rPr lang="it-IT" b="1" dirty="0" err="1"/>
              <a:t>based</a:t>
            </a:r>
            <a:r>
              <a:rPr lang="it-IT" b="1" dirty="0"/>
              <a:t> (</a:t>
            </a:r>
            <a:r>
              <a:rPr lang="it-IT" b="1" dirty="0" err="1"/>
              <a:t>logical</a:t>
            </a:r>
            <a:r>
              <a:rPr lang="it-IT" b="1" dirty="0"/>
              <a:t>) </a:t>
            </a:r>
            <a:r>
              <a:rPr lang="it-IT" b="1" dirty="0" err="1"/>
              <a:t>reasoning</a:t>
            </a:r>
            <a:endParaRPr lang="it-IT" b="1" dirty="0"/>
          </a:p>
          <a:p>
            <a:r>
              <a:rPr lang="it-IT" b="1" dirty="0"/>
              <a:t>How to combine system 1-2?</a:t>
            </a:r>
          </a:p>
          <a:p>
            <a:pPr lvl="1"/>
            <a:r>
              <a:rPr lang="it-IT" dirty="0" err="1"/>
              <a:t>Towards</a:t>
            </a:r>
            <a:r>
              <a:rPr lang="it-IT" dirty="0"/>
              <a:t> a </a:t>
            </a:r>
            <a:r>
              <a:rPr lang="it-IT" dirty="0" err="1"/>
              <a:t>comprehensive</a:t>
            </a:r>
            <a:r>
              <a:rPr lang="it-IT" dirty="0"/>
              <a:t> </a:t>
            </a:r>
            <a:r>
              <a:rPr lang="it-IT" dirty="0" err="1"/>
              <a:t>simulatable</a:t>
            </a:r>
            <a:r>
              <a:rPr lang="it-IT" dirty="0"/>
              <a:t> AI model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07BF1D6-8D8C-C304-C49A-698287D2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ADD035-8C9E-9FE8-0FB2-D9670CEC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23</a:t>
            </a:fld>
            <a:endParaRPr lang="de-DE" dirty="0"/>
          </a:p>
        </p:txBody>
      </p:sp>
      <p:pic>
        <p:nvPicPr>
          <p:cNvPr id="3074" name="Picture 2" descr="System 1 and 2 Thinking | Customer Camp">
            <a:extLst>
              <a:ext uri="{FF2B5EF4-FFF2-40B4-BE49-F238E27FC236}">
                <a16:creationId xmlns:a16="http://schemas.microsoft.com/office/drawing/2014/main" id="{716FBEB8-6763-B286-D127-848B2A208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899" y="169068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8D7A5BE-8447-AF9A-C9D1-C1C08DEC7917}"/>
              </a:ext>
            </a:extLst>
          </p:cNvPr>
          <p:cNvSpPr txBox="1"/>
          <p:nvPr/>
        </p:nvSpPr>
        <p:spPr>
          <a:xfrm>
            <a:off x="6933689" y="4789032"/>
            <a:ext cx="5178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Nobel Prize 2002 for the interconnection between psychology, human rationality, and economy (with Vernon Smith)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24872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DF67E5-2F1F-ED09-17AC-4FD3C41E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Symbolic</a:t>
            </a:r>
            <a:r>
              <a:rPr lang="it-IT" dirty="0"/>
              <a:t>[Neuro]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D50F96-C7C4-E7A2-A35D-DF2AE6C8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2 in control</a:t>
            </a:r>
          </a:p>
          <a:p>
            <a:r>
              <a:rPr lang="it-IT" dirty="0"/>
              <a:t>System 1 </a:t>
            </a:r>
            <a:r>
              <a:rPr lang="it-IT" dirty="0" err="1"/>
              <a:t>invoked</a:t>
            </a:r>
            <a:r>
              <a:rPr lang="it-IT" dirty="0"/>
              <a:t> in some </a:t>
            </a:r>
            <a:r>
              <a:rPr lang="it-IT" dirty="0" err="1"/>
              <a:t>cases</a:t>
            </a:r>
            <a:endParaRPr lang="it-IT" dirty="0"/>
          </a:p>
          <a:p>
            <a:r>
              <a:rPr lang="it-IT" dirty="0" err="1"/>
              <a:t>AlphaGo</a:t>
            </a:r>
            <a:endParaRPr lang="it-IT" dirty="0"/>
          </a:p>
          <a:p>
            <a:pPr lvl="1"/>
            <a:r>
              <a:rPr lang="it-IT" dirty="0"/>
              <a:t>Model-</a:t>
            </a:r>
            <a:r>
              <a:rPr lang="it-IT" dirty="0" err="1"/>
              <a:t>based</a:t>
            </a:r>
            <a:r>
              <a:rPr lang="it-IT" dirty="0"/>
              <a:t> Monte Carlo Tree </a:t>
            </a:r>
            <a:r>
              <a:rPr lang="it-IT" dirty="0" err="1"/>
              <a:t>Search</a:t>
            </a:r>
            <a:r>
              <a:rPr lang="it-IT" dirty="0"/>
              <a:t> playing</a:t>
            </a:r>
          </a:p>
          <a:p>
            <a:pPr lvl="1"/>
            <a:r>
              <a:rPr lang="it-IT" dirty="0" err="1"/>
              <a:t>Rollout</a:t>
            </a:r>
            <a:r>
              <a:rPr lang="it-IT" dirty="0"/>
              <a:t> </a:t>
            </a:r>
            <a:r>
              <a:rPr lang="it-IT" dirty="0" err="1"/>
              <a:t>estimates</a:t>
            </a:r>
            <a:r>
              <a:rPr lang="it-IT" dirty="0"/>
              <a:t> from policy / </a:t>
            </a:r>
            <a:r>
              <a:rPr lang="it-IT" dirty="0" err="1"/>
              <a:t>value</a:t>
            </a:r>
            <a:r>
              <a:rPr lang="it-IT" dirty="0"/>
              <a:t> networks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5FB696-3787-E61D-C7A2-73F204C6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3C25067-795A-F2E5-0A4E-5E9CD559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24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93E0118-E963-B037-2555-7EA9CBA3B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1576826"/>
            <a:ext cx="3149762" cy="320691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D6E3883-9196-0972-4FEE-FC1173D073E4}"/>
              </a:ext>
            </a:extLst>
          </p:cNvPr>
          <p:cNvSpPr txBox="1"/>
          <p:nvPr/>
        </p:nvSpPr>
        <p:spPr>
          <a:xfrm>
            <a:off x="7662443" y="4905441"/>
            <a:ext cx="4131676" cy="751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Silver, D., Huang, A., Maddison, C. J.,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Guez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Sifre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L., Van Den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Driessche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G., ... &amp; Hassabis, D. (2016). Mastering the game of Go with deep neural networks and tree search.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529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(7587), 484-489.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3451868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EA0A-32A2-4355-0B1F-05765482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7BC09F-F92D-CC3E-E563-B31A723D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Symbolic</a:t>
            </a:r>
            <a:r>
              <a:rPr lang="it-IT" dirty="0"/>
              <a:t>[Neuro]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1DD478-6C41-D7AC-340A-15FFDCA8A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2 in control</a:t>
            </a:r>
          </a:p>
          <a:p>
            <a:r>
              <a:rPr lang="it-IT" dirty="0"/>
              <a:t>System 1 </a:t>
            </a:r>
            <a:r>
              <a:rPr lang="it-IT" dirty="0" err="1"/>
              <a:t>invoked</a:t>
            </a:r>
            <a:r>
              <a:rPr lang="it-IT" dirty="0"/>
              <a:t> in some </a:t>
            </a:r>
            <a:r>
              <a:rPr lang="it-IT" dirty="0" err="1"/>
              <a:t>cases</a:t>
            </a:r>
            <a:endParaRPr lang="it-IT" dirty="0"/>
          </a:p>
          <a:p>
            <a:r>
              <a:rPr lang="it-IT" dirty="0"/>
              <a:t>REBA – </a:t>
            </a:r>
            <a:r>
              <a:rPr lang="it-IT" dirty="0" err="1"/>
              <a:t>REfinement-Based</a:t>
            </a:r>
            <a:r>
              <a:rPr lang="it-IT" dirty="0"/>
              <a:t> Architecture</a:t>
            </a:r>
          </a:p>
          <a:p>
            <a:pPr lvl="1"/>
            <a:r>
              <a:rPr lang="it-IT" dirty="0" err="1"/>
              <a:t>Hierarchical</a:t>
            </a:r>
            <a:r>
              <a:rPr lang="it-IT" dirty="0"/>
              <a:t> planning</a:t>
            </a:r>
          </a:p>
          <a:p>
            <a:pPr lvl="2"/>
            <a:r>
              <a:rPr lang="it-IT" dirty="0" err="1"/>
              <a:t>Coarse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planning</a:t>
            </a:r>
          </a:p>
          <a:p>
            <a:pPr lvl="2"/>
            <a:r>
              <a:rPr lang="it-IT" dirty="0"/>
              <a:t>Fine </a:t>
            </a:r>
            <a:r>
              <a:rPr lang="it-IT" dirty="0" err="1"/>
              <a:t>statistical</a:t>
            </a:r>
            <a:r>
              <a:rPr lang="it-IT" dirty="0"/>
              <a:t> (MDP) planning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158B6E1-FF0C-194E-9761-8FB3432C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887EE84-062F-211E-A70A-E62CF4D9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25</a:t>
            </a:fld>
            <a:endParaRPr lang="de-DE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4CC5D22-6594-6DAB-2885-D3056CA9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140" y="3429000"/>
            <a:ext cx="5301082" cy="223682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EC0CA57-7F5C-F734-7A15-E51F1918E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152" y="1290756"/>
            <a:ext cx="997001" cy="257188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6E9201B-2F30-25F2-8828-BDA8B9DF7A6E}"/>
              </a:ext>
            </a:extLst>
          </p:cNvPr>
          <p:cNvSpPr txBox="1"/>
          <p:nvPr/>
        </p:nvSpPr>
        <p:spPr>
          <a:xfrm>
            <a:off x="6251980" y="5711736"/>
            <a:ext cx="60970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Sridharan, M.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Gelfond, M., Zhang, S., &amp; Wyatt, J. (2019). REBA: A refinement-based architecture for knowledge representation and reasoning in robotics.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Artificial Intelligence Research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87-180.</a:t>
            </a:r>
            <a:endParaRPr lang="it-IT" sz="1100" b="1" u="sng" dirty="0"/>
          </a:p>
        </p:txBody>
      </p:sp>
    </p:spTree>
    <p:extLst>
      <p:ext uri="{BB962C8B-B14F-4D97-AF65-F5344CB8AC3E}">
        <p14:creationId xmlns:p14="http://schemas.microsoft.com/office/powerpoint/2010/main" val="753885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32E2-7096-8BEF-A65F-B82EF8A9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9AEB80-1837-02E1-3436-7F3E7026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Symbolic</a:t>
            </a:r>
            <a:r>
              <a:rPr lang="it-IT" dirty="0"/>
              <a:t>[Neuro]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DE2DFD-3CDF-DF79-A012-6E7082BB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64562" cy="4351338"/>
          </a:xfrm>
        </p:spPr>
        <p:txBody>
          <a:bodyPr/>
          <a:lstStyle/>
          <a:p>
            <a:r>
              <a:rPr lang="it-IT" dirty="0"/>
              <a:t>System 2 in control</a:t>
            </a:r>
          </a:p>
          <a:p>
            <a:r>
              <a:rPr lang="it-IT" dirty="0"/>
              <a:t>System 1 </a:t>
            </a:r>
            <a:r>
              <a:rPr lang="it-IT" dirty="0" err="1"/>
              <a:t>invoked</a:t>
            </a:r>
            <a:r>
              <a:rPr lang="it-IT" dirty="0"/>
              <a:t> in some </a:t>
            </a:r>
            <a:r>
              <a:rPr lang="it-IT" dirty="0" err="1"/>
              <a:t>cases</a:t>
            </a:r>
            <a:endParaRPr lang="it-IT" dirty="0"/>
          </a:p>
          <a:p>
            <a:r>
              <a:rPr lang="it-IT" b="1" dirty="0" err="1"/>
              <a:t>Pros</a:t>
            </a:r>
            <a:endParaRPr lang="it-IT" b="1" dirty="0"/>
          </a:p>
          <a:p>
            <a:pPr lvl="1"/>
            <a:r>
              <a:rPr lang="it-IT" dirty="0"/>
              <a:t>Control (</a:t>
            </a:r>
            <a:r>
              <a:rPr lang="it-IT" dirty="0" err="1"/>
              <a:t>interpretability</a:t>
            </a:r>
            <a:r>
              <a:rPr lang="it-IT" dirty="0"/>
              <a:t>?) of the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process</a:t>
            </a:r>
            <a:endParaRPr lang="it-IT" dirty="0"/>
          </a:p>
          <a:p>
            <a:pPr lvl="1"/>
            <a:r>
              <a:rPr lang="it-IT" dirty="0" err="1"/>
              <a:t>Selected</a:t>
            </a:r>
            <a:r>
              <a:rPr lang="it-IT" dirty="0"/>
              <a:t> (more restricted) </a:t>
            </a:r>
            <a:r>
              <a:rPr lang="it-IT" dirty="0" err="1"/>
              <a:t>neural</a:t>
            </a:r>
            <a:r>
              <a:rPr lang="it-IT" dirty="0"/>
              <a:t> training</a:t>
            </a:r>
          </a:p>
          <a:p>
            <a:pPr lvl="1"/>
            <a:r>
              <a:rPr lang="it-IT" dirty="0"/>
              <a:t>Data </a:t>
            </a:r>
            <a:r>
              <a:rPr lang="it-IT" dirty="0" err="1"/>
              <a:t>reduction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365962-B89B-DF2D-D0CD-6075B28F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9FFC781-863B-BCA7-3221-1ECFF491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26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E93D57-A3F1-1128-5771-AD024B92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469" y="1018368"/>
            <a:ext cx="2183710" cy="222333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1E16216-02A7-ECCC-ADA5-1CC356504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398" y="4264761"/>
            <a:ext cx="4239226" cy="17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89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3D57-109C-3136-8B60-852856BA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CD4212-E58A-6DE8-88AD-B5BF5874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Symbolic</a:t>
            </a:r>
            <a:r>
              <a:rPr lang="it-IT" dirty="0"/>
              <a:t>[Neuro]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90E99D-AAA7-9886-D395-1BF49DE6C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2 in control</a:t>
            </a:r>
          </a:p>
          <a:p>
            <a:r>
              <a:rPr lang="it-IT" dirty="0"/>
              <a:t>System 1 </a:t>
            </a:r>
            <a:r>
              <a:rPr lang="it-IT" dirty="0" err="1"/>
              <a:t>invoked</a:t>
            </a:r>
            <a:r>
              <a:rPr lang="it-IT" dirty="0"/>
              <a:t> in some </a:t>
            </a:r>
            <a:r>
              <a:rPr lang="it-IT" dirty="0" err="1"/>
              <a:t>cases</a:t>
            </a:r>
            <a:endParaRPr lang="it-IT" dirty="0"/>
          </a:p>
          <a:p>
            <a:r>
              <a:rPr lang="it-IT" b="1" dirty="0" err="1"/>
              <a:t>Humans</a:t>
            </a:r>
            <a:r>
              <a:rPr lang="it-IT" b="1" dirty="0"/>
              <a:t> think the opposite way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BEE9BF4-7864-447B-61D9-B5610E8B2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A2F2E8B-E4D7-B0A4-4AA3-892359AE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27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F5BAA019-7EC0-B917-19EB-44C3CCDF0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69" y="3356718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BD2C4BC-3123-5FC2-3C94-46110B85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469" y="1018368"/>
            <a:ext cx="2183710" cy="222333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2895C03-171A-CB4D-6011-D647ABA5A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398" y="4264761"/>
            <a:ext cx="4239226" cy="17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0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DECD68-1753-1EF6-8C69-5D604388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0D6A1D-9CB4-A132-467B-B666C261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DD5373-A16D-4F4E-983C-9B1B0EBA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70CB9DD-5C6B-1837-F783-864B8E0F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28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AB94DF8-3D4E-42BA-6B06-0D9E4F50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19" y="1027906"/>
            <a:ext cx="3434398" cy="456102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655C9A-E58B-912F-3E58-E0191E4A85C3}"/>
              </a:ext>
            </a:extLst>
          </p:cNvPr>
          <p:cNvSpPr txBox="1"/>
          <p:nvPr/>
        </p:nvSpPr>
        <p:spPr>
          <a:xfrm>
            <a:off x="1462333" y="5835769"/>
            <a:ext cx="6097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Badreddine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Garcez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D. A., Serafini, L., &amp;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Spranger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(2022).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tensor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networks. </a:t>
            </a:r>
            <a:r>
              <a:rPr lang="it-IT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Intelligence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303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103649.</a:t>
            </a:r>
            <a:endParaRPr lang="it-IT" sz="11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972376F-C0FE-4DA1-A767-24A5E6AA7FEB}"/>
              </a:ext>
            </a:extLst>
          </p:cNvPr>
          <p:cNvSpPr txBox="1"/>
          <p:nvPr/>
        </p:nvSpPr>
        <p:spPr>
          <a:xfrm>
            <a:off x="8099327" y="6007336"/>
            <a:ext cx="34343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Evans, R., &amp;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Grefenstette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(2018). Learning explanatory rules from noisy data.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Artificial Intelligence Research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61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1-64.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6CB536A-1473-331C-F6E1-6AEA8EE4E6C9}"/>
              </a:ext>
            </a:extLst>
          </p:cNvPr>
          <p:cNvSpPr txBox="1"/>
          <p:nvPr/>
        </p:nvSpPr>
        <p:spPr>
          <a:xfrm>
            <a:off x="1462333" y="5487893"/>
            <a:ext cx="154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Real </a:t>
            </a:r>
            <a:r>
              <a:rPr lang="it-IT" b="1" dirty="0" err="1"/>
              <a:t>logics</a:t>
            </a:r>
            <a:endParaRPr lang="it-IT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4CB30AD-916D-1472-6B05-A5079B74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241" y="3032221"/>
            <a:ext cx="5342161" cy="270778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AAC3118-DE2E-4FE7-703E-0B75CBA8777C}"/>
              </a:ext>
            </a:extLst>
          </p:cNvPr>
          <p:cNvSpPr txBox="1"/>
          <p:nvPr/>
        </p:nvSpPr>
        <p:spPr>
          <a:xfrm>
            <a:off x="8093093" y="5699793"/>
            <a:ext cx="1867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Differentiable</a:t>
            </a:r>
            <a:r>
              <a:rPr lang="it-IT" b="1" dirty="0"/>
              <a:t> ILP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5766B56-1A84-B0E2-9828-1268951E92CB}"/>
              </a:ext>
            </a:extLst>
          </p:cNvPr>
          <p:cNvSpPr/>
          <p:nvPr/>
        </p:nvSpPr>
        <p:spPr>
          <a:xfrm>
            <a:off x="9725696" y="4246743"/>
            <a:ext cx="994691" cy="3988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C919EC5-6B2A-366E-29E2-0463E2F33AF5}"/>
              </a:ext>
            </a:extLst>
          </p:cNvPr>
          <p:cNvSpPr/>
          <p:nvPr/>
        </p:nvSpPr>
        <p:spPr>
          <a:xfrm>
            <a:off x="8814900" y="1095335"/>
            <a:ext cx="991888" cy="5509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0557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5D14-F685-8602-B9D1-CB6EC1D5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727C9-E11E-4150-AC34-DA402EB5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0A7F83-7A7D-EED3-CF21-E7FF65CF8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6340" cy="4351338"/>
          </a:xfrm>
        </p:spPr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  <a:p>
            <a:pPr lvl="1"/>
            <a:r>
              <a:rPr lang="it-IT" dirty="0" err="1"/>
              <a:t>Problog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way to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logics</a:t>
            </a:r>
            <a:r>
              <a:rPr lang="it-IT" dirty="0"/>
              <a:t> (</a:t>
            </a:r>
            <a:r>
              <a:rPr lang="it-IT" dirty="0" err="1"/>
              <a:t>expressive</a:t>
            </a:r>
            <a:r>
              <a:rPr lang="it-IT" dirty="0"/>
              <a:t> </a:t>
            </a:r>
            <a:r>
              <a:rPr lang="it-IT" dirty="0" err="1"/>
              <a:t>causality</a:t>
            </a:r>
            <a:r>
              <a:rPr lang="it-IT" dirty="0"/>
              <a:t>) and </a:t>
            </a:r>
            <a:r>
              <a:rPr lang="it-IT" dirty="0" err="1"/>
              <a:t>associational</a:t>
            </a:r>
            <a:r>
              <a:rPr lang="it-IT" dirty="0"/>
              <a:t> </a:t>
            </a:r>
            <a:r>
              <a:rPr lang="it-IT" dirty="0" err="1"/>
              <a:t>perspectives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5FD336D-3A51-8157-9B6D-278D3442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413856C-778D-6B98-9CBF-CADA58F4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29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4F8A94C-26BA-1B31-B059-D120C31B3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80" y="3870489"/>
            <a:ext cx="5129251" cy="230647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3E4A7F3-E6D4-E6BA-EEA4-C8923CEF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31896"/>
            <a:ext cx="3361274" cy="159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52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7AF7-EE3B-F872-FC3C-E0503687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DB424C-7650-5DEC-E989-780FABB1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AE3AA9-706F-1724-5B54-5E116D34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  <a:p>
            <a:pPr lvl="1"/>
            <a:r>
              <a:rPr lang="it-IT" b="1" dirty="0" err="1"/>
              <a:t>Closer</a:t>
            </a:r>
            <a:r>
              <a:rPr lang="it-IT" b="1" dirty="0"/>
              <a:t> to the theory of mind</a:t>
            </a:r>
          </a:p>
          <a:p>
            <a:pPr lvl="1"/>
            <a:r>
              <a:rPr lang="it-IT" b="1" dirty="0"/>
              <a:t>More </a:t>
            </a:r>
            <a:r>
              <a:rPr lang="it-IT" b="1" dirty="0" err="1"/>
              <a:t>interpretable</a:t>
            </a:r>
            <a:r>
              <a:rPr lang="it-IT" b="1" dirty="0"/>
              <a:t> and </a:t>
            </a:r>
            <a:r>
              <a:rPr lang="it-IT" b="1" dirty="0" err="1"/>
              <a:t>controllable</a:t>
            </a:r>
            <a:br>
              <a:rPr lang="it-IT" b="1" dirty="0"/>
            </a:br>
            <a:r>
              <a:rPr lang="it-IT" b="1" dirty="0"/>
              <a:t>(</a:t>
            </a:r>
            <a:r>
              <a:rPr lang="it-IT" b="1" dirty="0" err="1"/>
              <a:t>explainable</a:t>
            </a:r>
            <a:r>
              <a:rPr lang="it-IT" b="1" dirty="0"/>
              <a:t>?)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9AB8F2-5BA1-F1DC-2A96-61AB88C1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280BB8-1E00-10C6-A3F6-75B54283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30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CECA725A-9C2F-110A-8815-D47CBE993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158" y="2961697"/>
            <a:ext cx="5019893" cy="282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8CE3798-645B-B7CA-51B8-361629EC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95" y="4231519"/>
            <a:ext cx="2660952" cy="208038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FF61723-D737-9D09-7EE5-8E7B1CF26BE0}"/>
              </a:ext>
            </a:extLst>
          </p:cNvPr>
          <p:cNvSpPr txBox="1"/>
          <p:nvPr/>
        </p:nvSpPr>
        <p:spPr>
          <a:xfrm>
            <a:off x="3392760" y="4809366"/>
            <a:ext cx="343439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Evans, R., &amp;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Grefenstette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(2018). Learning explanatory rules from noisy data.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Artificial Intelligence Research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61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1-64.</a:t>
            </a:r>
            <a:b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From MNIST dataset</a:t>
            </a:r>
          </a:p>
          <a:p>
            <a:r>
              <a:rPr lang="en-US" sz="1100" b="1" u="sng" dirty="0">
                <a:solidFill>
                  <a:srgbClr val="222222"/>
                </a:solidFill>
                <a:latin typeface="Arial" panose="020B0604020202020204" pitchFamily="34" charset="0"/>
              </a:rPr>
              <a:t>More than just digit recognition</a:t>
            </a:r>
            <a:endParaRPr lang="it-IT" sz="1100" b="1" u="sng" dirty="0"/>
          </a:p>
        </p:txBody>
      </p:sp>
    </p:spTree>
    <p:extLst>
      <p:ext uri="{BB962C8B-B14F-4D97-AF65-F5344CB8AC3E}">
        <p14:creationId xmlns:p14="http://schemas.microsoft.com/office/powerpoint/2010/main" val="1042048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761C-A6F6-29E2-FE5E-3BBCB4320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3E80713C-0480-42A2-68F2-D52ABFEF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615936"/>
            <a:ext cx="3434398" cy="456102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DC4CB45-8ADB-E2A8-3DA6-A1D24401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2A7D9-151D-DC3A-F632-D2EE153F5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  <a:p>
            <a:pPr lvl="1"/>
            <a:r>
              <a:rPr lang="it-IT" dirty="0" err="1"/>
              <a:t>Closer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More </a:t>
            </a:r>
            <a:r>
              <a:rPr lang="it-IT" dirty="0" err="1"/>
              <a:t>interpretable</a:t>
            </a:r>
            <a:r>
              <a:rPr lang="it-IT" dirty="0"/>
              <a:t> and </a:t>
            </a:r>
            <a:r>
              <a:rPr lang="it-IT" dirty="0" err="1"/>
              <a:t>controllable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explainable</a:t>
            </a:r>
            <a:r>
              <a:rPr lang="it-IT" dirty="0"/>
              <a:t>?)</a:t>
            </a:r>
          </a:p>
          <a:p>
            <a:pPr lvl="1"/>
            <a:r>
              <a:rPr lang="it-IT" b="1" dirty="0"/>
              <a:t>Not </a:t>
            </a:r>
            <a:r>
              <a:rPr lang="it-IT" b="1" dirty="0" err="1"/>
              <a:t>really</a:t>
            </a:r>
            <a:r>
              <a:rPr lang="it-IT" b="1" dirty="0"/>
              <a:t> </a:t>
            </a:r>
            <a:r>
              <a:rPr lang="it-IT" b="1" dirty="0" err="1"/>
              <a:t>efficient</a:t>
            </a:r>
            <a:endParaRPr lang="it-IT" b="1" dirty="0"/>
          </a:p>
          <a:p>
            <a:pPr lvl="2"/>
            <a:r>
              <a:rPr lang="it-IT" dirty="0" err="1"/>
              <a:t>Finding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patterns over large (</a:t>
            </a:r>
            <a:r>
              <a:rPr lang="it-IT" dirty="0" err="1"/>
              <a:t>continuous</a:t>
            </a:r>
            <a:r>
              <a:rPr lang="it-IT" dirty="0"/>
              <a:t>) </a:t>
            </a:r>
            <a:r>
              <a:rPr lang="it-IT" dirty="0" err="1"/>
              <a:t>Herbrand</a:t>
            </a:r>
            <a:r>
              <a:rPr lang="it-IT" dirty="0"/>
              <a:t> </a:t>
            </a:r>
            <a:r>
              <a:rPr lang="it-IT" dirty="0" err="1"/>
              <a:t>spaces</a:t>
            </a:r>
            <a:endParaRPr lang="it-IT" dirty="0"/>
          </a:p>
          <a:p>
            <a:pPr lvl="2"/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probabilities</a:t>
            </a:r>
            <a:endParaRPr lang="it-IT" dirty="0"/>
          </a:p>
          <a:p>
            <a:pPr lvl="3"/>
            <a:r>
              <a:rPr lang="it-IT" dirty="0" err="1"/>
              <a:t>Problog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  <a:p>
            <a:pPr lvl="3"/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uncertain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worlds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EF20FC-A829-1DED-2788-963DF5E1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E30AE0-FD06-2426-3F95-4358F289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735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B5FE0-828D-85FB-42EA-E49687CF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3B5C9A-4709-C66F-A2D3-A42B1ACB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5773E2-5C0C-4DF8-3AD6-6BC8A3D9C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807D24-6D0F-DDFC-44BF-5364E309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B19EC2-53A3-6032-E58D-589BCD6B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32</a:t>
            </a:fld>
            <a:endParaRPr lang="de-DE" dirty="0"/>
          </a:p>
        </p:txBody>
      </p:sp>
      <p:pic>
        <p:nvPicPr>
          <p:cNvPr id="8" name="Picture 2" descr="System 1 and 2 Thinking | Customer Camp">
            <a:extLst>
              <a:ext uri="{FF2B5EF4-FFF2-40B4-BE49-F238E27FC236}">
                <a16:creationId xmlns:a16="http://schemas.microsoft.com/office/drawing/2014/main" id="{4F286A31-6146-8619-234A-2FB11CED2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411" y="2732831"/>
            <a:ext cx="4963448" cy="27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Elemento grafico 9" descr="Segno di spunta con riempimento a tinta unita">
            <a:extLst>
              <a:ext uri="{FF2B5EF4-FFF2-40B4-BE49-F238E27FC236}">
                <a16:creationId xmlns:a16="http://schemas.microsoft.com/office/drawing/2014/main" id="{56F4CD65-AD01-7103-23FB-C2EB11022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1935" y="26522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83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E83A-C18A-6629-9ADA-A39F1637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94F95-8EA8-E954-6E37-E8FE9F0A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8F283C-8E50-381F-FF84-D6A969A3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this</a:t>
            </a:r>
            <a:r>
              <a:rPr lang="it-IT" b="1" dirty="0"/>
              <a:t> </a:t>
            </a:r>
            <a:r>
              <a:rPr lang="it-IT" b="1" dirty="0" err="1"/>
              <a:t>completely</a:t>
            </a:r>
            <a:r>
              <a:rPr lang="it-IT" b="1" dirty="0"/>
              <a:t> a new </a:t>
            </a:r>
            <a:r>
              <a:rPr lang="it-IT" b="1" dirty="0" err="1"/>
              <a:t>thing</a:t>
            </a:r>
            <a:r>
              <a:rPr lang="it-IT" b="1" dirty="0"/>
              <a:t>?</a:t>
            </a:r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879FAC-5C1B-07EC-F1C1-3867BE13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8E7B89-4B21-D116-E170-EE371EA3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33</a:t>
            </a:fld>
            <a:endParaRPr lang="de-DE" dirty="0"/>
          </a:p>
        </p:txBody>
      </p:sp>
      <p:pic>
        <p:nvPicPr>
          <p:cNvPr id="8" name="Picture 2" descr="System 1 and 2 Thinking | Customer Camp">
            <a:extLst>
              <a:ext uri="{FF2B5EF4-FFF2-40B4-BE49-F238E27FC236}">
                <a16:creationId xmlns:a16="http://schemas.microsoft.com/office/drawing/2014/main" id="{97771655-3F9F-8CDF-261C-8B566345A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411" y="2732831"/>
            <a:ext cx="4963448" cy="27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Elemento grafico 9" descr="Segno di spunta con riempimento a tinta unita">
            <a:extLst>
              <a:ext uri="{FF2B5EF4-FFF2-40B4-BE49-F238E27FC236}">
                <a16:creationId xmlns:a16="http://schemas.microsoft.com/office/drawing/2014/main" id="{5952F4C7-B79C-64D0-0A7C-28CB4F6FF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1935" y="26522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88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3A12-1616-407C-EBFF-1CB14AAC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DE2E9-61CB-97C7-3289-A6A7216C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2C91B4-297F-A3ED-FDA7-99664D9F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this</a:t>
            </a:r>
            <a:r>
              <a:rPr lang="it-IT" b="1" dirty="0"/>
              <a:t> </a:t>
            </a:r>
            <a:r>
              <a:rPr lang="it-IT" b="1" dirty="0" err="1"/>
              <a:t>completely</a:t>
            </a:r>
            <a:r>
              <a:rPr lang="it-IT" b="1" dirty="0"/>
              <a:t> a new </a:t>
            </a:r>
            <a:r>
              <a:rPr lang="it-IT" b="1" dirty="0" err="1"/>
              <a:t>thing</a:t>
            </a:r>
            <a:r>
              <a:rPr lang="it-IT" b="1" dirty="0"/>
              <a:t>?</a:t>
            </a:r>
          </a:p>
          <a:p>
            <a:pPr lvl="2"/>
            <a:r>
              <a:rPr lang="it-IT" dirty="0"/>
              <a:t>NLP</a:t>
            </a:r>
          </a:p>
          <a:p>
            <a:pPr lvl="3"/>
            <a:r>
              <a:rPr lang="it-IT" dirty="0" err="1"/>
              <a:t>Embed</a:t>
            </a:r>
            <a:r>
              <a:rPr lang="it-IT" dirty="0"/>
              <a:t> and </a:t>
            </a:r>
            <a:r>
              <a:rPr lang="it-IT" dirty="0" err="1"/>
              <a:t>encode</a:t>
            </a:r>
            <a:r>
              <a:rPr lang="it-IT" dirty="0"/>
              <a:t> to a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dimension</a:t>
            </a:r>
            <a:r>
              <a:rPr lang="it-IT" dirty="0"/>
              <a:t> (</a:t>
            </a:r>
            <a:r>
              <a:rPr lang="it-IT" b="1" dirty="0"/>
              <a:t>abstract</a:t>
            </a:r>
            <a:r>
              <a:rPr lang="it-IT" dirty="0"/>
              <a:t>)</a:t>
            </a:r>
          </a:p>
          <a:p>
            <a:pPr lvl="3"/>
            <a:r>
              <a:rPr lang="it-IT" dirty="0" err="1"/>
              <a:t>Decode</a:t>
            </a:r>
            <a:r>
              <a:rPr lang="it-IT" dirty="0"/>
              <a:t> with </a:t>
            </a:r>
            <a:r>
              <a:rPr lang="it-IT" dirty="0" err="1"/>
              <a:t>attention</a:t>
            </a:r>
            <a:r>
              <a:rPr lang="it-IT" dirty="0"/>
              <a:t> (</a:t>
            </a:r>
            <a:r>
              <a:rPr lang="it-IT" b="1" dirty="0" err="1"/>
              <a:t>analyze</a:t>
            </a:r>
            <a:r>
              <a:rPr lang="it-IT" b="1" dirty="0"/>
              <a:t> &amp; deduce</a:t>
            </a:r>
            <a:r>
              <a:rPr lang="it-IT" dirty="0"/>
              <a:t>)</a:t>
            </a:r>
          </a:p>
          <a:p>
            <a:pPr lvl="3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94EB2BD-F8F9-BC13-3EE6-7FEB97CD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10A1AAE-0B4A-60DC-31EE-75BDA081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34</a:t>
            </a:fld>
            <a:endParaRPr lang="de-DE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347CA8A-E5BB-4F11-7668-1A1F1BD13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793" y="1199735"/>
            <a:ext cx="4828704" cy="384249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6F6A6A8-CAA2-352C-3464-3A2E17463829}"/>
              </a:ext>
            </a:extLst>
          </p:cNvPr>
          <p:cNvSpPr txBox="1"/>
          <p:nvPr/>
        </p:nvSpPr>
        <p:spPr>
          <a:xfrm>
            <a:off x="7221612" y="5052959"/>
            <a:ext cx="49110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Graziano, M. S. (2019).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Rethinking consciousness: a scientific theory of subjective experience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WW Norton &amp; Company.</a:t>
            </a:r>
          </a:p>
          <a:p>
            <a:r>
              <a:rPr lang="en-US" sz="1100" b="1" dirty="0">
                <a:solidFill>
                  <a:srgbClr val="222222"/>
                </a:solidFill>
                <a:latin typeface="Arial" panose="020B0604020202020204" pitchFamily="34" charset="0"/>
              </a:rPr>
              <a:t>Attention schema as a cognitive mechanism of humans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474672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4856A-5492-EA3A-7DD3-F2BB8066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38C825-1951-9759-E2DC-EBA53C59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4DA6CA-9BF8-480F-AC41-797C273F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this</a:t>
            </a:r>
            <a:r>
              <a:rPr lang="it-IT" b="1" dirty="0"/>
              <a:t> </a:t>
            </a:r>
            <a:r>
              <a:rPr lang="it-IT" b="1" dirty="0" err="1"/>
              <a:t>completely</a:t>
            </a:r>
            <a:r>
              <a:rPr lang="it-IT" b="1" dirty="0"/>
              <a:t> a new </a:t>
            </a:r>
            <a:r>
              <a:rPr lang="it-IT" b="1" dirty="0" err="1"/>
              <a:t>thing</a:t>
            </a:r>
            <a:r>
              <a:rPr lang="it-IT" b="1" dirty="0"/>
              <a:t>?</a:t>
            </a:r>
          </a:p>
          <a:p>
            <a:pPr lvl="2"/>
            <a:r>
              <a:rPr lang="it-IT" dirty="0"/>
              <a:t>Application to RL tasks</a:t>
            </a:r>
          </a:p>
          <a:p>
            <a:pPr lvl="3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98CD28-A719-4B35-545E-EABE283D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CB3D2E-5407-79C8-2F59-EEAC6C12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35</a:t>
            </a:fld>
            <a:endParaRPr lang="de-DE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A053F39-A470-4F86-ED50-8B5D2B1E8F4B}"/>
              </a:ext>
            </a:extLst>
          </p:cNvPr>
          <p:cNvSpPr txBox="1"/>
          <p:nvPr/>
        </p:nvSpPr>
        <p:spPr>
          <a:xfrm>
            <a:off x="7221612" y="5052959"/>
            <a:ext cx="49110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Graziano, M. S. (2019).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Rethinking consciousness: a scientific theory of subjective experience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WW Norton &amp; Company.</a:t>
            </a:r>
          </a:p>
          <a:p>
            <a:r>
              <a:rPr lang="en-US" sz="1100" b="1" dirty="0">
                <a:solidFill>
                  <a:srgbClr val="222222"/>
                </a:solidFill>
                <a:latin typeface="Arial" panose="020B0604020202020204" pitchFamily="34" charset="0"/>
              </a:rPr>
              <a:t>Attention schema as a cognitive mechanism of humans</a:t>
            </a:r>
            <a:endParaRPr lang="it-IT" sz="11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3EBCAF3-AE88-034F-ADBC-9BC6DD1F3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418" y="1660867"/>
            <a:ext cx="4874259" cy="208153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DB6ABC9-24EA-A896-7B5B-59E67F2E750E}"/>
              </a:ext>
            </a:extLst>
          </p:cNvPr>
          <p:cNvSpPr txBox="1"/>
          <p:nvPr/>
        </p:nvSpPr>
        <p:spPr>
          <a:xfrm>
            <a:off x="7221611" y="3876024"/>
            <a:ext cx="466106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Madan, K., Ke, N. R., Goyal, A.,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Schölkopf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B., &amp; Bengio, Y. (2021) Fast And Slow Learning Of Recurrent Independent Mechanisms. In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Learning Representations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896569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82E3-AED2-ECD2-E8D9-4944A649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923A1-DE8D-FEAD-2FAC-5220CDA7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C8F311-DB6C-B67A-903D-C1FF70AA3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this</a:t>
            </a:r>
            <a:r>
              <a:rPr lang="it-IT" b="1" dirty="0"/>
              <a:t> </a:t>
            </a:r>
            <a:r>
              <a:rPr lang="it-IT" b="1" dirty="0" err="1"/>
              <a:t>completely</a:t>
            </a:r>
            <a:r>
              <a:rPr lang="it-IT" b="1" dirty="0"/>
              <a:t> a new </a:t>
            </a:r>
            <a:r>
              <a:rPr lang="it-IT" b="1" dirty="0" err="1"/>
              <a:t>thing</a:t>
            </a:r>
            <a:r>
              <a:rPr lang="it-IT" b="1" dirty="0"/>
              <a:t>?</a:t>
            </a:r>
          </a:p>
          <a:p>
            <a:pPr lvl="2"/>
            <a:r>
              <a:rPr lang="it-IT" dirty="0"/>
              <a:t>Application to visual-</a:t>
            </a:r>
            <a:r>
              <a:rPr lang="it-IT" dirty="0" err="1"/>
              <a:t>language</a:t>
            </a:r>
            <a:r>
              <a:rPr lang="it-IT" dirty="0"/>
              <a:t> tasks</a:t>
            </a:r>
          </a:p>
          <a:p>
            <a:pPr lvl="3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2DD0209-CFA5-EA42-A952-59479367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797409-C3F3-E50F-B797-37EA9DF9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36</a:t>
            </a:fld>
            <a:endParaRPr lang="de-DE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F719EF-AAC5-0289-7750-983BBB37215D}"/>
              </a:ext>
            </a:extLst>
          </p:cNvPr>
          <p:cNvSpPr txBox="1"/>
          <p:nvPr/>
        </p:nvSpPr>
        <p:spPr>
          <a:xfrm>
            <a:off x="7221612" y="5052959"/>
            <a:ext cx="49110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Graziano, M. S. (2019).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Rethinking consciousness: a scientific theory of subjective experience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WW Norton &amp; Company.</a:t>
            </a:r>
          </a:p>
          <a:p>
            <a:r>
              <a:rPr lang="en-US" sz="1100" b="1" dirty="0">
                <a:solidFill>
                  <a:srgbClr val="222222"/>
                </a:solidFill>
                <a:latin typeface="Arial" panose="020B0604020202020204" pitchFamily="34" charset="0"/>
              </a:rPr>
              <a:t>Attention schema as a cognitive mechanism of humans</a:t>
            </a:r>
            <a:endParaRPr lang="it-IT" sz="11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E38D1D7-28D9-9954-91D1-768927DA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36" y="1509681"/>
            <a:ext cx="6095501" cy="149740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039EE4C-C154-E5E7-9A5D-78BE910CE403}"/>
              </a:ext>
            </a:extLst>
          </p:cNvPr>
          <p:cNvSpPr txBox="1"/>
          <p:nvPr/>
        </p:nvSpPr>
        <p:spPr>
          <a:xfrm>
            <a:off x="7221612" y="3081473"/>
            <a:ext cx="469324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Mao, J.,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Gan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Kohli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Tenenbaum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B., &amp;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Wu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(2018,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September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). The Neuro-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Symbolic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Concept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Learner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Interpreting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Scenes, Words, and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Sentences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From Natural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Supervision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 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Learning </a:t>
            </a:r>
            <a:r>
              <a:rPr lang="it-IT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Representations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it-IT" sz="1100" b="1" dirty="0">
                <a:solidFill>
                  <a:srgbClr val="222222"/>
                </a:solidFill>
                <a:latin typeface="Arial" panose="020B0604020202020204" pitchFamily="34" charset="0"/>
              </a:rPr>
              <a:t>A human-like concept </a:t>
            </a:r>
            <a:r>
              <a:rPr lang="it-IT" sz="1100" b="1" dirty="0" err="1">
                <a:solidFill>
                  <a:srgbClr val="222222"/>
                </a:solidFill>
                <a:latin typeface="Arial" panose="020B0604020202020204" pitchFamily="34" charset="0"/>
              </a:rPr>
              <a:t>learner</a:t>
            </a:r>
            <a:r>
              <a:rPr lang="it-IT" sz="1100" b="1" dirty="0">
                <a:solidFill>
                  <a:srgbClr val="222222"/>
                </a:solidFill>
                <a:latin typeface="Arial" panose="020B0604020202020204" pitchFamily="34" charset="0"/>
              </a:rPr>
              <a:t> (</a:t>
            </a:r>
            <a:r>
              <a:rPr lang="it-IT" sz="1100" b="1" dirty="0" err="1">
                <a:solidFill>
                  <a:srgbClr val="222222"/>
                </a:solidFill>
                <a:latin typeface="Arial" panose="020B0604020202020204" pitchFamily="34" charset="0"/>
              </a:rPr>
              <a:t>embedder</a:t>
            </a:r>
            <a:r>
              <a:rPr lang="it-IT" sz="1100" b="1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endParaRPr lang="it-IT" sz="1100" b="1" dirty="0"/>
          </a:p>
        </p:txBody>
      </p:sp>
    </p:spTree>
    <p:extLst>
      <p:ext uri="{BB962C8B-B14F-4D97-AF65-F5344CB8AC3E}">
        <p14:creationId xmlns:p14="http://schemas.microsoft.com/office/powerpoint/2010/main" val="2975650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D483-FE03-C3ED-3CC5-97F6228C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27B790-EF4D-3680-15E6-1BC84788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BF97D3-B187-1DEA-87C7-86B0C5554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closest</a:t>
            </a:r>
            <a:r>
              <a:rPr lang="it-IT" dirty="0"/>
              <a:t> to the theory of mind</a:t>
            </a:r>
          </a:p>
          <a:p>
            <a:pPr lvl="1"/>
            <a:r>
              <a:rPr lang="it-IT" dirty="0"/>
              <a:t>Intelligence </a:t>
            </a:r>
            <a:r>
              <a:rPr lang="it-IT" dirty="0" err="1"/>
              <a:t>as</a:t>
            </a:r>
            <a:r>
              <a:rPr lang="it-IT" dirty="0"/>
              <a:t> a (deep) </a:t>
            </a:r>
            <a:r>
              <a:rPr lang="it-IT" b="1" dirty="0"/>
              <a:t>learning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1"/>
            <a:r>
              <a:rPr lang="it-IT" dirty="0"/>
              <a:t>Experience </a:t>
            </a:r>
            <a:r>
              <a:rPr lang="it-IT" dirty="0" err="1"/>
              <a:t>adaptation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b="1" dirty="0" err="1"/>
              <a:t>reasoning</a:t>
            </a:r>
            <a:endParaRPr lang="it-IT" b="1" dirty="0"/>
          </a:p>
          <a:p>
            <a:pPr lvl="2"/>
            <a:r>
              <a:rPr lang="it-IT" b="1" dirty="0"/>
              <a:t>Abstract</a:t>
            </a:r>
            <a:r>
              <a:rPr lang="it-IT" dirty="0"/>
              <a:t> from data to concepts</a:t>
            </a:r>
          </a:p>
          <a:p>
            <a:pPr lvl="2"/>
            <a:r>
              <a:rPr lang="it-IT" b="1" dirty="0" err="1"/>
              <a:t>Analyze</a:t>
            </a:r>
            <a:r>
              <a:rPr lang="it-IT" dirty="0"/>
              <a:t> situations</a:t>
            </a:r>
          </a:p>
          <a:p>
            <a:pPr lvl="2"/>
            <a:r>
              <a:rPr lang="it-IT" b="1" dirty="0"/>
              <a:t>Deduce</a:t>
            </a:r>
            <a:r>
              <a:rPr lang="it-IT" dirty="0"/>
              <a:t> and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endParaRPr lang="it-IT" dirty="0"/>
          </a:p>
          <a:p>
            <a:pPr lvl="2"/>
            <a:r>
              <a:rPr lang="it-IT" dirty="0"/>
              <a:t>Or </a:t>
            </a:r>
            <a:r>
              <a:rPr lang="it-IT" dirty="0" err="1"/>
              <a:t>refine</a:t>
            </a:r>
            <a:r>
              <a:rPr lang="it-IT" dirty="0"/>
              <a:t>!</a:t>
            </a:r>
          </a:p>
          <a:p>
            <a:pPr lvl="1"/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this</a:t>
            </a:r>
            <a:r>
              <a:rPr lang="it-IT" b="1" dirty="0"/>
              <a:t> </a:t>
            </a:r>
            <a:r>
              <a:rPr lang="it-IT" b="1" dirty="0" err="1"/>
              <a:t>exactly</a:t>
            </a:r>
            <a:r>
              <a:rPr lang="it-IT" b="1" dirty="0"/>
              <a:t> like human mind?</a:t>
            </a:r>
            <a:endParaRPr lang="it-IT" dirty="0"/>
          </a:p>
          <a:p>
            <a:pPr lvl="3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08EF7E5-AE3D-8D0A-F17C-C008B7DF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9D0067-DBE9-1CAE-D529-390A3EFD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37</a:t>
            </a:fld>
            <a:endParaRPr lang="de-DE" dirty="0"/>
          </a:p>
        </p:txBody>
      </p:sp>
      <p:pic>
        <p:nvPicPr>
          <p:cNvPr id="1026" name="Picture 2" descr="Schematic of Marr's three levels. | Download Scientific Diagram">
            <a:extLst>
              <a:ext uri="{FF2B5EF4-FFF2-40B4-BE49-F238E27FC236}">
                <a16:creationId xmlns:a16="http://schemas.microsoft.com/office/drawing/2014/main" id="{83D9B9CB-64D2-89B9-FE20-AB1B1EBA0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960" y="1148486"/>
            <a:ext cx="3064840" cy="404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9B07386-9060-D820-75EC-BDCF4B375EEE}"/>
              </a:ext>
            </a:extLst>
          </p:cNvPr>
          <p:cNvSpPr txBox="1"/>
          <p:nvPr/>
        </p:nvSpPr>
        <p:spPr>
          <a:xfrm>
            <a:off x="7724937" y="5332386"/>
            <a:ext cx="43647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Marr, D. (1982). Vision: A Computational Investigation into the Human Representation and Processing of Visual Information.</a:t>
            </a:r>
          </a:p>
          <a:p>
            <a:r>
              <a:rPr lang="en-US" sz="1100" b="1" dirty="0">
                <a:solidFill>
                  <a:srgbClr val="222222"/>
                </a:solidFill>
                <a:latin typeface="Arial" panose="020B0604020202020204" pitchFamily="34" charset="0"/>
              </a:rPr>
              <a:t>Our tools work at the implementation level</a:t>
            </a:r>
          </a:p>
          <a:p>
            <a:r>
              <a:rPr lang="en-US" sz="1100" b="1" dirty="0">
                <a:solidFill>
                  <a:srgbClr val="222222"/>
                </a:solidFill>
                <a:latin typeface="Arial" panose="020B0604020202020204" pitchFamily="34" charset="0"/>
              </a:rPr>
              <a:t>This is just an approximation (more powerful?)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9FCF183-5A19-71F0-5BB7-0A68FCF3F721}"/>
              </a:ext>
            </a:extLst>
          </p:cNvPr>
          <p:cNvSpPr txBox="1"/>
          <p:nvPr/>
        </p:nvSpPr>
        <p:spPr>
          <a:xfrm>
            <a:off x="10156847" y="1479594"/>
            <a:ext cx="96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I/O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A62B5FE-EC47-7912-4882-AA0A5B126B21}"/>
              </a:ext>
            </a:extLst>
          </p:cNvPr>
          <p:cNvSpPr txBox="1"/>
          <p:nvPr/>
        </p:nvSpPr>
        <p:spPr>
          <a:xfrm>
            <a:off x="9736997" y="2668108"/>
            <a:ext cx="299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Mathematical </a:t>
            </a:r>
            <a:br>
              <a:rPr lang="it-IT" dirty="0"/>
            </a:br>
            <a:r>
              <a:rPr lang="it-IT" dirty="0"/>
              <a:t>relations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855AA78-6768-2FF4-031E-F184703084E8}"/>
              </a:ext>
            </a:extLst>
          </p:cNvPr>
          <p:cNvSpPr txBox="1"/>
          <p:nvPr/>
        </p:nvSpPr>
        <p:spPr>
          <a:xfrm>
            <a:off x="9674094" y="4000247"/>
            <a:ext cx="299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Numerical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approximations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9380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1195D4-EE11-E5D6-08D5-CC1425C8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57BE31-09BC-CCC8-DF86-44E18A2C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in control</a:t>
            </a:r>
          </a:p>
          <a:p>
            <a:r>
              <a:rPr lang="it-IT" dirty="0"/>
              <a:t>System 2 (</a:t>
            </a:r>
            <a:r>
              <a:rPr lang="it-IT" b="1" dirty="0"/>
              <a:t>with </a:t>
            </a:r>
            <a:r>
              <a:rPr lang="it-IT" b="1" dirty="0" err="1"/>
              <a:t>interpretable</a:t>
            </a:r>
            <a:r>
              <a:rPr lang="it-IT" b="1" dirty="0"/>
              <a:t> </a:t>
            </a:r>
            <a:r>
              <a:rPr lang="it-IT" b="1" dirty="0" err="1"/>
              <a:t>logics</a:t>
            </a:r>
            <a:r>
              <a:rPr lang="it-IT" dirty="0"/>
              <a:t>) </a:t>
            </a:r>
            <a:r>
              <a:rPr lang="it-IT" dirty="0" err="1"/>
              <a:t>invoked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FC709F8-B137-8834-3238-AFD69681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D98B408-B518-E5C3-8F90-365CF8C1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38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D9A40EB-F663-8C27-5A19-EFF7DE79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1" y="3318109"/>
            <a:ext cx="4677723" cy="285885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47BA7D4-4940-2D1F-76A5-2DF4F06DE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08" y="3385907"/>
            <a:ext cx="4677723" cy="27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32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5109FD-EB1C-0E53-99CE-2BC2F022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C7FF87-D9AE-D035-DD32-D4E202E5F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AI</a:t>
            </a:r>
          </a:p>
          <a:p>
            <a:pPr lvl="1"/>
            <a:r>
              <a:rPr lang="it-IT" dirty="0"/>
              <a:t>Statistical </a:t>
            </a:r>
            <a:r>
              <a:rPr lang="it-IT" dirty="0" err="1"/>
              <a:t>Relational</a:t>
            </a:r>
            <a:r>
              <a:rPr lang="it-IT" dirty="0"/>
              <a:t> Learning</a:t>
            </a:r>
          </a:p>
          <a:p>
            <a:pPr lvl="1"/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meaningful</a:t>
            </a:r>
            <a:r>
              <a:rPr lang="it-IT" dirty="0"/>
              <a:t> </a:t>
            </a:r>
            <a:r>
              <a:rPr lang="it-IT" dirty="0" err="1"/>
              <a:t>associations</a:t>
            </a:r>
            <a:r>
              <a:rPr lang="it-IT" dirty="0"/>
              <a:t> in a </a:t>
            </a:r>
            <a:r>
              <a:rPr lang="it-IT" dirty="0" err="1"/>
              <a:t>logical</a:t>
            </a:r>
            <a:r>
              <a:rPr lang="it-IT" dirty="0"/>
              <a:t> framework</a:t>
            </a:r>
          </a:p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AI</a:t>
            </a:r>
          </a:p>
          <a:p>
            <a:pPr lvl="1"/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planning (and learning)</a:t>
            </a:r>
          </a:p>
          <a:p>
            <a:pPr lvl="1"/>
            <a:r>
              <a:rPr lang="it-IT" dirty="0" err="1"/>
              <a:t>Neruosymbolic</a:t>
            </a:r>
            <a:r>
              <a:rPr lang="it-IT" dirty="0"/>
              <a:t> planning and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D2DF11-A48C-C699-7B25-3688D36F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DF934EA-3A8E-2EC9-57D4-BC662333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477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97F3-F8FF-444E-F933-23592A98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9A390-07A8-DC4B-648B-67C92D53D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XAI</a:t>
            </a:r>
            <a:endParaRPr lang="de-DE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C020B83-37C1-3C53-9649-40469197E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cs typeface="Calibri"/>
              </a:rPr>
              <a:t>Neuro</a:t>
            </a:r>
            <a:r>
              <a:rPr lang="de-DE" dirty="0">
                <a:cs typeface="Calibri"/>
              </a:rPr>
              <a:t>_{</a:t>
            </a:r>
            <a:r>
              <a:rPr lang="de-DE" dirty="0" err="1">
                <a:cs typeface="Calibri"/>
              </a:rPr>
              <a:t>Symbolic</a:t>
            </a:r>
            <a:r>
              <a:rPr lang="de-DE" dirty="0">
                <a:cs typeface="Calibri"/>
              </a:rPr>
              <a:t>} AI: A </a:t>
            </a:r>
            <a:r>
              <a:rPr lang="de-DE" dirty="0" err="1">
                <a:cs typeface="Calibri"/>
              </a:rPr>
              <a:t>peer-to-peer</a:t>
            </a:r>
            <a:r>
              <a:rPr lang="de-DE" dirty="0">
                <a:cs typeface="Calibri"/>
              </a:rPr>
              <a:t> </a:t>
            </a:r>
            <a:r>
              <a:rPr lang="de-DE" dirty="0" err="1">
                <a:cs typeface="Calibri"/>
              </a:rPr>
              <a:t>integration</a:t>
            </a:r>
            <a:endParaRPr lang="it-IT" dirty="0" err="1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1281BAF-E5E5-A395-3752-93C5D77F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94F0EF-0BEC-B191-EACE-AF31D362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958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BFF2-6C7F-32D3-47A6-482F466A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6B9875-B6C8-F7D2-170C-B007CFF5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D201F8-0C5E-24EE-E84E-CA55A865D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622CE3F-7FAE-5AB2-A2CF-051B8ECE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9D081A-22B8-DD99-BFEE-ED2FA854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41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FEE5FFD-8D3C-30F3-A33B-43E7353B4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19" y="1027906"/>
            <a:ext cx="3434398" cy="456102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A93DE9C-8802-F9B0-5092-51E0367A6C45}"/>
              </a:ext>
            </a:extLst>
          </p:cNvPr>
          <p:cNvSpPr txBox="1"/>
          <p:nvPr/>
        </p:nvSpPr>
        <p:spPr>
          <a:xfrm>
            <a:off x="1462333" y="5835769"/>
            <a:ext cx="6097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Badreddine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Garcez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D. A., Serafini, L., &amp;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Spranger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(2022).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tensor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networks. </a:t>
            </a:r>
            <a:r>
              <a:rPr lang="it-IT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Intelligence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303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103649.</a:t>
            </a:r>
            <a:endParaRPr lang="it-IT" sz="11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DC3633E-307B-D6EE-FBFE-0391F3EAA8C7}"/>
              </a:ext>
            </a:extLst>
          </p:cNvPr>
          <p:cNvSpPr txBox="1"/>
          <p:nvPr/>
        </p:nvSpPr>
        <p:spPr>
          <a:xfrm>
            <a:off x="8099327" y="5672559"/>
            <a:ext cx="34343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Evans, R., &amp;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Grefenstette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(2018). Learning explanatory rules from noisy data.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Artificial Intelligence Research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61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1-64.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1B9016E-3901-0B87-356E-289AAAFB972B}"/>
              </a:ext>
            </a:extLst>
          </p:cNvPr>
          <p:cNvSpPr txBox="1"/>
          <p:nvPr/>
        </p:nvSpPr>
        <p:spPr>
          <a:xfrm>
            <a:off x="1453452" y="6169580"/>
            <a:ext cx="154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Real </a:t>
            </a:r>
            <a:r>
              <a:rPr lang="it-IT" b="1" dirty="0" err="1"/>
              <a:t>logics</a:t>
            </a:r>
            <a:endParaRPr lang="it-IT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9E6A5D4-09C8-A8ED-F30D-7F1A1AB09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83134"/>
            <a:ext cx="5342161" cy="270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495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6EA5-297D-971F-498A-3B2214F6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FABA0F-5744-F501-1E7D-F763E149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A74D25-D384-61E1-6114-994BEBBB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6340" cy="4351338"/>
          </a:xfrm>
        </p:spPr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  <a:p>
            <a:pPr lvl="1"/>
            <a:r>
              <a:rPr lang="it-IT" dirty="0" err="1"/>
              <a:t>Problog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way to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logics</a:t>
            </a:r>
            <a:r>
              <a:rPr lang="it-IT" dirty="0"/>
              <a:t> (</a:t>
            </a:r>
            <a:r>
              <a:rPr lang="it-IT" dirty="0" err="1"/>
              <a:t>expressive</a:t>
            </a:r>
            <a:r>
              <a:rPr lang="it-IT" dirty="0"/>
              <a:t> </a:t>
            </a:r>
            <a:r>
              <a:rPr lang="it-IT" dirty="0" err="1"/>
              <a:t>causality</a:t>
            </a:r>
            <a:r>
              <a:rPr lang="it-IT" dirty="0"/>
              <a:t>) and </a:t>
            </a:r>
            <a:r>
              <a:rPr lang="it-IT" dirty="0" err="1"/>
              <a:t>associational</a:t>
            </a:r>
            <a:r>
              <a:rPr lang="it-IT" dirty="0"/>
              <a:t> </a:t>
            </a:r>
            <a:r>
              <a:rPr lang="it-IT" dirty="0" err="1"/>
              <a:t>perspectives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8BA146B-BB2B-7158-67B7-B65E0F23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CC2C053-2107-53AC-4A75-67C2E186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42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F874F16-E8F5-1FAF-7D01-D49460D0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80" y="3870489"/>
            <a:ext cx="5129251" cy="230647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756CBF3-BAA7-F403-CE5B-91D59AA34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31896"/>
            <a:ext cx="3361274" cy="159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57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F5E4-9E7B-D27D-9C9B-2AF8F0D7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0E3584-2C4C-56C9-E170-E6732133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F4C14C-B597-C9F4-DDDD-FC3530E8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6340" cy="4351338"/>
          </a:xfrm>
        </p:spPr>
        <p:txBody>
          <a:bodyPr/>
          <a:lstStyle/>
          <a:p>
            <a:r>
              <a:rPr lang="it-IT" dirty="0"/>
              <a:t>System 1 re-</a:t>
            </a:r>
            <a:r>
              <a:rPr lang="it-IT" dirty="0" err="1"/>
              <a:t>shaped</a:t>
            </a:r>
            <a:r>
              <a:rPr lang="it-IT" dirty="0"/>
              <a:t> by System 2</a:t>
            </a:r>
          </a:p>
          <a:p>
            <a:pPr lvl="1"/>
            <a:r>
              <a:rPr lang="it-IT" dirty="0" err="1"/>
              <a:t>Differentiable</a:t>
            </a:r>
            <a:r>
              <a:rPr lang="it-IT" dirty="0"/>
              <a:t> + non-</a:t>
            </a:r>
            <a:r>
              <a:rPr lang="it-IT" dirty="0" err="1"/>
              <a:t>differentiable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DL</a:t>
            </a:r>
          </a:p>
          <a:p>
            <a:pPr lvl="1"/>
            <a:r>
              <a:rPr lang="it-IT" dirty="0" err="1"/>
              <a:t>Problog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way to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logics</a:t>
            </a:r>
            <a:r>
              <a:rPr lang="it-IT" dirty="0"/>
              <a:t> (</a:t>
            </a:r>
            <a:r>
              <a:rPr lang="it-IT" dirty="0" err="1"/>
              <a:t>expressive</a:t>
            </a:r>
            <a:r>
              <a:rPr lang="it-IT" dirty="0"/>
              <a:t> </a:t>
            </a:r>
            <a:r>
              <a:rPr lang="it-IT" dirty="0" err="1"/>
              <a:t>causality</a:t>
            </a:r>
            <a:r>
              <a:rPr lang="it-IT" dirty="0"/>
              <a:t>) and </a:t>
            </a:r>
            <a:r>
              <a:rPr lang="it-IT" dirty="0" err="1"/>
              <a:t>associational</a:t>
            </a:r>
            <a:r>
              <a:rPr lang="it-IT" dirty="0"/>
              <a:t> </a:t>
            </a:r>
            <a:r>
              <a:rPr lang="it-IT" dirty="0" err="1"/>
              <a:t>perspectives</a:t>
            </a:r>
            <a:endParaRPr lang="it-IT" dirty="0"/>
          </a:p>
          <a:p>
            <a:r>
              <a:rPr lang="it-IT" dirty="0" err="1"/>
              <a:t>Problog</a:t>
            </a:r>
            <a:r>
              <a:rPr lang="it-IT" dirty="0"/>
              <a:t> can be </a:t>
            </a:r>
            <a:r>
              <a:rPr lang="it-IT" dirty="0" err="1"/>
              <a:t>used</a:t>
            </a:r>
            <a:r>
              <a:rPr lang="it-IT" dirty="0"/>
              <a:t> for </a:t>
            </a:r>
            <a:r>
              <a:rPr lang="it-IT" dirty="0" err="1"/>
              <a:t>reasoning</a:t>
            </a:r>
            <a:endParaRPr lang="it-IT" dirty="0"/>
          </a:p>
          <a:p>
            <a:r>
              <a:rPr lang="it-IT" b="1" dirty="0"/>
              <a:t>How to </a:t>
            </a:r>
            <a:r>
              <a:rPr lang="it-IT" b="1" dirty="0" err="1"/>
              <a:t>learn</a:t>
            </a:r>
            <a:r>
              <a:rPr lang="it-IT" b="1" dirty="0"/>
              <a:t> a </a:t>
            </a:r>
            <a:r>
              <a:rPr lang="it-IT" b="1" dirty="0" err="1"/>
              <a:t>Problog</a:t>
            </a:r>
            <a:r>
              <a:rPr lang="it-IT" b="1" dirty="0"/>
              <a:t> </a:t>
            </a:r>
            <a:r>
              <a:rPr lang="it-IT" b="1" dirty="0" err="1"/>
              <a:t>program</a:t>
            </a:r>
            <a:r>
              <a:rPr lang="it-IT" b="1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37873E9-DD25-38D2-5068-33F4DD1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F4D459-2458-A0C9-A178-FE0B0F0F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43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0C62FDC-E624-CF6A-4A6D-EA3C1CCA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80" y="3870489"/>
            <a:ext cx="5129251" cy="230647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6074139-9246-EC9D-4DE3-E1A1DB1F3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31896"/>
            <a:ext cx="3361274" cy="159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86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229D2B-17E5-5332-9BDB-ACFDD19D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programs</a:t>
            </a:r>
            <a:r>
              <a:rPr lang="it-IT" dirty="0"/>
              <a:t> (networks)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A99B71-92EB-5155-CCE1-F6EBC06E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Associations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variables</a:t>
            </a:r>
            <a:endParaRPr lang="it-IT" dirty="0"/>
          </a:p>
          <a:p>
            <a:r>
              <a:rPr lang="it-IT" dirty="0"/>
              <a:t>Back to </a:t>
            </a:r>
            <a:r>
              <a:rPr lang="it-IT" dirty="0" err="1"/>
              <a:t>causal</a:t>
            </a:r>
            <a:r>
              <a:rPr lang="it-IT" dirty="0"/>
              <a:t> </a:t>
            </a:r>
            <a:r>
              <a:rPr lang="it-IT" dirty="0" err="1"/>
              <a:t>discovery</a:t>
            </a:r>
            <a:r>
              <a:rPr lang="it-IT" dirty="0"/>
              <a:t>…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CA795A4-9E07-E30F-C58A-D86CFC4A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174AD5C-266B-B478-C7A9-14DC54B0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44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3EBCDE5-755B-0DE2-3A2C-C924E6C9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30" y="3158338"/>
            <a:ext cx="3395687" cy="268122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128D527-DEDF-3894-9906-EE37AF677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127" y="3158338"/>
            <a:ext cx="3458609" cy="278355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D1D3A75-78EC-E1FC-8B08-D57B502A4464}"/>
              </a:ext>
            </a:extLst>
          </p:cNvPr>
          <p:cNvSpPr txBox="1"/>
          <p:nvPr/>
        </p:nvSpPr>
        <p:spPr>
          <a:xfrm>
            <a:off x="1698954" y="5941894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Bayesian</a:t>
            </a:r>
            <a:r>
              <a:rPr lang="it-IT" b="1" dirty="0"/>
              <a:t> network</a:t>
            </a:r>
          </a:p>
          <a:p>
            <a:r>
              <a:rPr lang="it-IT" dirty="0" err="1"/>
              <a:t>Directed</a:t>
            </a:r>
            <a:r>
              <a:rPr lang="it-IT" dirty="0"/>
              <a:t>, </a:t>
            </a:r>
            <a:r>
              <a:rPr lang="it-IT" dirty="0" err="1"/>
              <a:t>acyclic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E016C8D-4AC9-A094-911A-DDD36B95A6C8}"/>
              </a:ext>
            </a:extLst>
          </p:cNvPr>
          <p:cNvSpPr txBox="1"/>
          <p:nvPr/>
        </p:nvSpPr>
        <p:spPr>
          <a:xfrm>
            <a:off x="7474916" y="5969202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Markov network</a:t>
            </a:r>
          </a:p>
          <a:p>
            <a:r>
              <a:rPr lang="it-IT" dirty="0" err="1"/>
              <a:t>Undirected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7B63EDD-CC1F-05DC-0DC1-4B4FAB700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831" y="2920928"/>
            <a:ext cx="3185199" cy="20494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9E788ED-9215-06F4-17EF-1D6E4E73B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23" y="2902330"/>
            <a:ext cx="3293135" cy="2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41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E7A632-4DAB-517F-B615-ADC43200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0D5688-2C5E-61A8-6E04-20E751C5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programs</a:t>
            </a:r>
            <a:r>
              <a:rPr lang="it-IT" dirty="0"/>
              <a:t> (networks)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C12A3D-893D-2F0B-7767-02B9BA7D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Associations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variables</a:t>
            </a:r>
            <a:endParaRPr lang="it-IT" dirty="0"/>
          </a:p>
          <a:p>
            <a:r>
              <a:rPr lang="it-IT" dirty="0"/>
              <a:t>Back to </a:t>
            </a:r>
            <a:r>
              <a:rPr lang="it-IT" dirty="0" err="1"/>
              <a:t>causal</a:t>
            </a:r>
            <a:r>
              <a:rPr lang="it-IT" dirty="0"/>
              <a:t> </a:t>
            </a:r>
            <a:r>
              <a:rPr lang="it-IT" dirty="0" err="1"/>
              <a:t>discovery</a:t>
            </a:r>
            <a:r>
              <a:rPr lang="it-IT" dirty="0"/>
              <a:t>…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7D68AC-6925-A855-2031-A20C31C9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CD9514-F1D3-6C24-280E-BF521621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45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9B58333-AE08-CA91-2C02-4B7707808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30" y="3158338"/>
            <a:ext cx="3395687" cy="268122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D3A0939-FF42-1AE0-B604-4A34895C504D}"/>
              </a:ext>
            </a:extLst>
          </p:cNvPr>
          <p:cNvSpPr txBox="1"/>
          <p:nvPr/>
        </p:nvSpPr>
        <p:spPr>
          <a:xfrm>
            <a:off x="1698954" y="5941894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Bayesian</a:t>
            </a:r>
            <a:r>
              <a:rPr lang="it-IT" b="1" dirty="0"/>
              <a:t> network</a:t>
            </a:r>
          </a:p>
          <a:p>
            <a:r>
              <a:rPr lang="it-IT" dirty="0" err="1"/>
              <a:t>Directed</a:t>
            </a:r>
            <a:r>
              <a:rPr lang="it-IT" dirty="0"/>
              <a:t>, </a:t>
            </a:r>
            <a:r>
              <a:rPr lang="it-IT" dirty="0" err="1"/>
              <a:t>acyclic</a:t>
            </a:r>
            <a:endParaRPr lang="it-IT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A0DA711-2136-F3E6-4DD6-36573EC67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23" y="2902330"/>
            <a:ext cx="3293135" cy="24214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E9E6CAD-4080-AE73-5DB7-2BB53FBC7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893" y="3545071"/>
            <a:ext cx="5649907" cy="190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80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E59FF4-A0CA-4561-4179-806FA75F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8BCF48-46C5-D079-9C82-CC582595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programs</a:t>
            </a:r>
            <a:r>
              <a:rPr lang="it-IT" dirty="0"/>
              <a:t> (networks)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FA8EB0-AC40-8CCF-1044-469986FAD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Associations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variables</a:t>
            </a:r>
            <a:endParaRPr lang="it-IT" dirty="0"/>
          </a:p>
          <a:p>
            <a:r>
              <a:rPr lang="it-IT" dirty="0"/>
              <a:t>Back to </a:t>
            </a:r>
            <a:r>
              <a:rPr lang="it-IT" dirty="0" err="1"/>
              <a:t>causal</a:t>
            </a:r>
            <a:r>
              <a:rPr lang="it-IT" dirty="0"/>
              <a:t> </a:t>
            </a:r>
            <a:r>
              <a:rPr lang="it-IT" dirty="0" err="1"/>
              <a:t>discovery</a:t>
            </a:r>
            <a:r>
              <a:rPr lang="it-IT" dirty="0"/>
              <a:t>…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4A06B2-7137-F76D-3524-2CBDF761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944E1BD-E7C3-8983-23BC-2360D572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46</a:t>
            </a:fld>
            <a:endParaRPr lang="de-DE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D72D85A-B4F0-E4A5-2F18-5FCAC3BCA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127" y="3158338"/>
            <a:ext cx="3458609" cy="278355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0E061BA-493E-65F3-8041-D928EEA15D18}"/>
              </a:ext>
            </a:extLst>
          </p:cNvPr>
          <p:cNvSpPr txBox="1"/>
          <p:nvPr/>
        </p:nvSpPr>
        <p:spPr>
          <a:xfrm>
            <a:off x="7474916" y="5969202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Markov network</a:t>
            </a:r>
          </a:p>
          <a:p>
            <a:r>
              <a:rPr lang="it-IT" dirty="0" err="1"/>
              <a:t>Undirected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436BD57-B7F9-B2E5-69EA-124DEAD98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31" y="2920928"/>
            <a:ext cx="3185199" cy="20494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C5B1920-FAA0-2313-16A3-DB0A48DAA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85" y="4237394"/>
            <a:ext cx="5432951" cy="62544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E958E64-49D9-6A69-6CCA-30127B023517}"/>
              </a:ext>
            </a:extLst>
          </p:cNvPr>
          <p:cNvSpPr txBox="1"/>
          <p:nvPr/>
        </p:nvSpPr>
        <p:spPr>
          <a:xfrm>
            <a:off x="927985" y="3608505"/>
            <a:ext cx="5362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Inference</a:t>
            </a:r>
            <a:r>
              <a:rPr lang="it-IT" b="1" dirty="0"/>
              <a:t> on </a:t>
            </a:r>
            <a:r>
              <a:rPr lang="it-IT" b="1" dirty="0" err="1"/>
              <a:t>cliques</a:t>
            </a:r>
            <a:r>
              <a:rPr lang="it-IT" dirty="0"/>
              <a:t>: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lang="it-IT" dirty="0"/>
              <a:t> sub-</a:t>
            </a:r>
            <a:r>
              <a:rPr lang="it-IT" dirty="0" err="1"/>
              <a:t>graphs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304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8BB9A3-D758-5C26-1F29-89288D12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9739C8-3F11-19A4-636A-FB511C1C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programs</a:t>
            </a:r>
            <a:r>
              <a:rPr lang="it-IT" dirty="0"/>
              <a:t> (networks)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90DCAD-F292-58F8-3E51-41CD54B4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Not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from a </a:t>
            </a:r>
            <a:r>
              <a:rPr lang="it-IT" dirty="0" err="1"/>
              <a:t>Problog</a:t>
            </a:r>
            <a:r>
              <a:rPr lang="it-IT" dirty="0"/>
              <a:t> </a:t>
            </a:r>
            <a:r>
              <a:rPr lang="it-IT" dirty="0" err="1"/>
              <a:t>program</a:t>
            </a:r>
            <a:r>
              <a:rPr lang="it-IT" dirty="0"/>
              <a:t>…</a:t>
            </a:r>
          </a:p>
          <a:p>
            <a:r>
              <a:rPr lang="it-IT" b="1" dirty="0"/>
              <a:t>A </a:t>
            </a:r>
            <a:r>
              <a:rPr lang="it-IT" b="1" dirty="0" err="1"/>
              <a:t>probabilistic</a:t>
            </a:r>
            <a:r>
              <a:rPr lang="it-IT" b="1" dirty="0"/>
              <a:t> network over </a:t>
            </a:r>
            <a:r>
              <a:rPr lang="it-IT" b="1" dirty="0" err="1"/>
              <a:t>interpretations</a:t>
            </a:r>
            <a:r>
              <a:rPr lang="it-IT" b="1" dirty="0"/>
              <a:t> (</a:t>
            </a:r>
            <a:r>
              <a:rPr lang="it-IT" b="1" dirty="0" err="1"/>
              <a:t>Herbrand</a:t>
            </a:r>
            <a:r>
              <a:rPr lang="it-IT" b="1" dirty="0"/>
              <a:t> </a:t>
            </a:r>
            <a:r>
              <a:rPr lang="it-IT" b="1" dirty="0" err="1"/>
              <a:t>space</a:t>
            </a:r>
            <a:r>
              <a:rPr lang="it-IT" b="1" dirty="0"/>
              <a:t>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3D766A-65A4-24F7-F3DF-6E642F2F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EE79FC-5B9F-E937-6344-079762A5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47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B8317AC-5583-A9FC-5A9A-F58DB989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66" y="3209502"/>
            <a:ext cx="3395687" cy="26812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C906E98-F477-ECB0-8527-C9E9C1D2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125" y="3183582"/>
            <a:ext cx="3458609" cy="27835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FD2C36-7C85-9724-9190-E8C75EC4FC29}"/>
              </a:ext>
            </a:extLst>
          </p:cNvPr>
          <p:cNvSpPr txBox="1"/>
          <p:nvPr/>
        </p:nvSpPr>
        <p:spPr>
          <a:xfrm>
            <a:off x="1698954" y="5941894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Bayesian</a:t>
            </a:r>
            <a:r>
              <a:rPr lang="it-IT" b="1" dirty="0"/>
              <a:t> network</a:t>
            </a:r>
          </a:p>
          <a:p>
            <a:r>
              <a:rPr lang="it-IT" dirty="0" err="1"/>
              <a:t>Directed</a:t>
            </a:r>
            <a:r>
              <a:rPr lang="it-IT" dirty="0"/>
              <a:t>, </a:t>
            </a:r>
            <a:r>
              <a:rPr lang="it-IT" dirty="0" err="1"/>
              <a:t>acyclic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EB5A56-32F5-7AE8-81B2-FAEFB2B7C03A}"/>
              </a:ext>
            </a:extLst>
          </p:cNvPr>
          <p:cNvSpPr txBox="1"/>
          <p:nvPr/>
        </p:nvSpPr>
        <p:spPr>
          <a:xfrm>
            <a:off x="7474916" y="5969202"/>
            <a:ext cx="308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Markov network</a:t>
            </a:r>
          </a:p>
          <a:p>
            <a:r>
              <a:rPr lang="it-IT" dirty="0" err="1"/>
              <a:t>Undirected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329768F-FC91-A457-8D1D-EF374E96A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831" y="2920928"/>
            <a:ext cx="3185199" cy="20494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DA8330F-449D-3549-28BA-E806F20AA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23" y="2902330"/>
            <a:ext cx="3293135" cy="242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4D29A0A-E638-90FD-3687-4A974947B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590052"/>
            <a:ext cx="3361274" cy="159400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6CFF3F-9915-748B-3E5B-0E55C96E961C}"/>
              </a:ext>
            </a:extLst>
          </p:cNvPr>
          <p:cNvSpPr txBox="1"/>
          <p:nvPr/>
        </p:nvSpPr>
        <p:spPr>
          <a:xfrm>
            <a:off x="5189654" y="3577820"/>
            <a:ext cx="183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Structure</a:t>
            </a:r>
            <a:endParaRPr lang="it-IT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0CD57901-FC21-429C-EA92-DB3624B68B28}"/>
                  </a:ext>
                </a:extLst>
              </p14:cNvPr>
              <p14:cNvContentPartPr/>
              <p14:nvPr/>
            </p14:nvContentPartPr>
            <p14:xfrm>
              <a:off x="9978359" y="1779502"/>
              <a:ext cx="208440" cy="360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0CD57901-FC21-429C-EA92-DB3624B68B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63934" y="1765102"/>
                <a:ext cx="236569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D76425E8-A960-54E0-F02A-03C06F8BB69B}"/>
                  </a:ext>
                </a:extLst>
              </p14:cNvPr>
              <p14:cNvContentPartPr/>
              <p14:nvPr/>
            </p14:nvContentPartPr>
            <p14:xfrm>
              <a:off x="10358879" y="1668982"/>
              <a:ext cx="169200" cy="36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D76425E8-A960-54E0-F02A-03C06F8BB6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44479" y="1654582"/>
                <a:ext cx="1972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616E48A2-51A3-B6AD-EAE2-5792BB7E7C5F}"/>
                  </a:ext>
                </a:extLst>
              </p14:cNvPr>
              <p14:cNvContentPartPr/>
              <p14:nvPr/>
            </p14:nvContentPartPr>
            <p14:xfrm>
              <a:off x="11365439" y="1681582"/>
              <a:ext cx="190080" cy="36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616E48A2-51A3-B6AD-EAE2-5792BB7E7C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51039" y="1667182"/>
                <a:ext cx="218160" cy="284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4C4CA3E-C526-AD3E-E5FD-5C74F3C32149}"/>
              </a:ext>
            </a:extLst>
          </p:cNvPr>
          <p:cNvSpPr txBox="1"/>
          <p:nvPr/>
        </p:nvSpPr>
        <p:spPr>
          <a:xfrm>
            <a:off x="9967828" y="2015332"/>
            <a:ext cx="183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Params</a:t>
            </a:r>
            <a:endParaRPr lang="it-IT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829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A1D879-9E62-E98E-2ACD-87CBD1B1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41779F-C8BD-EECD-9F8D-D4216DB7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3D52C21-2369-81D3-901C-F1F7E51D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48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88E38CB-AE6E-ED51-C027-A7615FA99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28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5424-60DF-AEC2-16E9-9F5DEDA0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77FFCB-1576-5011-DE40-311E116C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15ABF3-E3A7-73A1-8FBB-8245A0F1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0D2BE2-801E-F593-0FC9-49EC90BF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49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6EA705E-13FB-4746-08D1-BE5C36A8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06B0BFF-76BE-A161-242C-946648B67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043" y="5279861"/>
            <a:ext cx="5987114" cy="49692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EE2A9A4-FA84-3126-6992-067025A97FF5}"/>
              </a:ext>
            </a:extLst>
          </p:cNvPr>
          <p:cNvSpPr/>
          <p:nvPr/>
        </p:nvSpPr>
        <p:spPr>
          <a:xfrm>
            <a:off x="1251930" y="2608188"/>
            <a:ext cx="7358670" cy="533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B3E110E-E316-206C-87A1-587557A4D022}"/>
              </a:ext>
            </a:extLst>
          </p:cNvPr>
          <p:cNvSpPr/>
          <p:nvPr/>
        </p:nvSpPr>
        <p:spPr>
          <a:xfrm>
            <a:off x="838200" y="3792643"/>
            <a:ext cx="6200839" cy="9076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32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A521-204D-CE2E-7EC0-F0190173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D63B5B-705E-E87D-9845-7BC2EEA8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D73A3CC-9CAB-252F-EA7A-16751D44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4B4CDF-9B3B-EE4F-48FB-C08DFDA2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50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5938E66-00CB-1F31-D32E-F3A9736B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0E9DD82-C1E5-8902-2777-6B8EE5EA6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043" y="5279861"/>
            <a:ext cx="5987114" cy="49692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337A88AF-2AAB-D3DB-B144-DAD0BB8DBF0F}"/>
              </a:ext>
            </a:extLst>
          </p:cNvPr>
          <p:cNvSpPr/>
          <p:nvPr/>
        </p:nvSpPr>
        <p:spPr>
          <a:xfrm>
            <a:off x="1251930" y="2608188"/>
            <a:ext cx="7358670" cy="533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8CE65CD-E918-99CF-A7C6-A68C016A31AC}"/>
              </a:ext>
            </a:extLst>
          </p:cNvPr>
          <p:cNvSpPr/>
          <p:nvPr/>
        </p:nvSpPr>
        <p:spPr>
          <a:xfrm>
            <a:off x="838200" y="3792643"/>
            <a:ext cx="6200839" cy="9076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6C9498-99A4-F6E6-BED2-6952CF2CEF1F}"/>
              </a:ext>
            </a:extLst>
          </p:cNvPr>
          <p:cNvSpPr txBox="1"/>
          <p:nvPr/>
        </p:nvSpPr>
        <p:spPr>
          <a:xfrm>
            <a:off x="7204736" y="3798779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Which</a:t>
            </a:r>
            <a:r>
              <a:rPr lang="it-IT" b="1" dirty="0">
                <a:solidFill>
                  <a:srgbClr val="00B050"/>
                </a:solidFill>
              </a:rPr>
              <a:t> scoring </a:t>
            </a:r>
            <a:r>
              <a:rPr lang="it-IT" b="1" dirty="0" err="1">
                <a:solidFill>
                  <a:srgbClr val="00B050"/>
                </a:solidFill>
              </a:rPr>
              <a:t>function</a:t>
            </a:r>
            <a:r>
              <a:rPr lang="it-IT" b="1" dirty="0">
                <a:solidFill>
                  <a:srgbClr val="00B05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44287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5989-997E-9070-B87D-DE7217E4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94B011-7A29-6039-4D3C-7997C244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9B3D4C9-30FA-6407-0382-CB13F35C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2976BEA-AD90-FC31-7FD8-F0FC41D8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51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4CF1C8B-AFEF-332C-15B4-9635AD966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3E49814-BB9D-EDE4-94A6-0940EC706765}"/>
              </a:ext>
            </a:extLst>
          </p:cNvPr>
          <p:cNvSpPr/>
          <p:nvPr/>
        </p:nvSpPr>
        <p:spPr>
          <a:xfrm>
            <a:off x="838200" y="3792643"/>
            <a:ext cx="6200839" cy="9076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1F94569-32C2-B5B7-972F-768BD98A8453}"/>
              </a:ext>
            </a:extLst>
          </p:cNvPr>
          <p:cNvSpPr txBox="1"/>
          <p:nvPr/>
        </p:nvSpPr>
        <p:spPr>
          <a:xfrm>
            <a:off x="7204736" y="3798779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Which</a:t>
            </a:r>
            <a:r>
              <a:rPr lang="it-IT" b="1" dirty="0">
                <a:solidFill>
                  <a:srgbClr val="00B050"/>
                </a:solidFill>
              </a:rPr>
              <a:t> scoring </a:t>
            </a:r>
            <a:r>
              <a:rPr lang="it-IT" b="1" dirty="0" err="1">
                <a:solidFill>
                  <a:srgbClr val="00B050"/>
                </a:solidFill>
              </a:rPr>
              <a:t>function</a:t>
            </a:r>
            <a:r>
              <a:rPr lang="it-IT" b="1" dirty="0">
                <a:solidFill>
                  <a:srgbClr val="00B050"/>
                </a:solidFill>
              </a:rPr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54AF813-D6DE-A519-2C81-0CF3C5213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29" y="5436844"/>
            <a:ext cx="5169731" cy="56810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B6B506-F22A-3B10-EACA-60326B5E77FD}"/>
              </a:ext>
            </a:extLst>
          </p:cNvPr>
          <p:cNvSpPr txBox="1"/>
          <p:nvPr/>
        </p:nvSpPr>
        <p:spPr>
          <a:xfrm>
            <a:off x="6172750" y="5052947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Maximum A Posteriori (MAP)</a:t>
            </a:r>
          </a:p>
        </p:txBody>
      </p:sp>
    </p:spTree>
    <p:extLst>
      <p:ext uri="{BB962C8B-B14F-4D97-AF65-F5344CB8AC3E}">
        <p14:creationId xmlns:p14="http://schemas.microsoft.com/office/powerpoint/2010/main" val="35844094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5558-5ADC-C606-92D4-55D01BDD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03C6E5-6943-BF30-D1F4-967406AA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6CAD60-0AF9-3FEF-1938-CB56FA97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C8D4916-1114-573E-AAAF-2C066CB8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52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74A9A22-9AB3-1332-5067-29E5AF611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593BAB61-7FE2-5AA4-3AF8-80376811603D}"/>
              </a:ext>
            </a:extLst>
          </p:cNvPr>
          <p:cNvSpPr/>
          <p:nvPr/>
        </p:nvSpPr>
        <p:spPr>
          <a:xfrm>
            <a:off x="838200" y="3792643"/>
            <a:ext cx="6200839" cy="9076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2C87257-CB0D-F540-98C9-3E7DD6784819}"/>
              </a:ext>
            </a:extLst>
          </p:cNvPr>
          <p:cNvSpPr txBox="1"/>
          <p:nvPr/>
        </p:nvSpPr>
        <p:spPr>
          <a:xfrm>
            <a:off x="7204736" y="3798779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Which</a:t>
            </a:r>
            <a:r>
              <a:rPr lang="it-IT" b="1" dirty="0">
                <a:solidFill>
                  <a:srgbClr val="00B050"/>
                </a:solidFill>
              </a:rPr>
              <a:t> scoring </a:t>
            </a:r>
            <a:r>
              <a:rPr lang="it-IT" b="1" dirty="0" err="1">
                <a:solidFill>
                  <a:srgbClr val="00B050"/>
                </a:solidFill>
              </a:rPr>
              <a:t>function</a:t>
            </a:r>
            <a:r>
              <a:rPr lang="it-IT" b="1" dirty="0">
                <a:solidFill>
                  <a:srgbClr val="00B050"/>
                </a:solidFill>
              </a:rPr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181214A-EDC6-BB2B-E5A7-40336209C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29" y="5436844"/>
            <a:ext cx="5169731" cy="56810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969C6B-E551-CDD2-1747-1D129897B6F7}"/>
              </a:ext>
            </a:extLst>
          </p:cNvPr>
          <p:cNvSpPr txBox="1"/>
          <p:nvPr/>
        </p:nvSpPr>
        <p:spPr>
          <a:xfrm>
            <a:off x="6172750" y="5052947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Maximum A Posteriori (MAP)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11F83DF-D4BB-996E-6E8B-5AEE543A4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502" y="5488304"/>
            <a:ext cx="2458814" cy="46518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E7E82D5-58C9-4E29-7120-FD28ED13FEBD}"/>
              </a:ext>
            </a:extLst>
          </p:cNvPr>
          <p:cNvSpPr txBox="1"/>
          <p:nvPr/>
        </p:nvSpPr>
        <p:spPr>
          <a:xfrm>
            <a:off x="1219238" y="5051697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Maximum </a:t>
            </a:r>
            <a:r>
              <a:rPr lang="it-IT" b="1" dirty="0" err="1"/>
              <a:t>Likelihood</a:t>
            </a:r>
            <a:r>
              <a:rPr lang="it-IT" b="1" dirty="0"/>
              <a:t> (ML)</a:t>
            </a:r>
          </a:p>
        </p:txBody>
      </p:sp>
      <p:sp>
        <p:nvSpPr>
          <p:cNvPr id="13" name="Freccia a sinistra 12">
            <a:extLst>
              <a:ext uri="{FF2B5EF4-FFF2-40B4-BE49-F238E27FC236}">
                <a16:creationId xmlns:a16="http://schemas.microsoft.com/office/drawing/2014/main" id="{1F719B4C-4B8E-304B-52B6-44125BF81608}"/>
              </a:ext>
            </a:extLst>
          </p:cNvPr>
          <p:cNvSpPr/>
          <p:nvPr/>
        </p:nvSpPr>
        <p:spPr>
          <a:xfrm>
            <a:off x="4357208" y="5539492"/>
            <a:ext cx="1362395" cy="29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70CC895-B0FF-6D3D-1FC3-0F370D3FFA96}"/>
              </a:ext>
            </a:extLst>
          </p:cNvPr>
          <p:cNvSpPr txBox="1"/>
          <p:nvPr/>
        </p:nvSpPr>
        <p:spPr>
          <a:xfrm>
            <a:off x="4012045" y="5813875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 </a:t>
            </a:r>
            <a:r>
              <a:rPr lang="it-IT" dirty="0" err="1"/>
              <a:t>hypothesis</a:t>
            </a:r>
            <a:r>
              <a:rPr lang="it-IT" dirty="0"/>
              <a:t> </a:t>
            </a:r>
            <a:r>
              <a:rPr lang="it-IT" dirty="0" err="1"/>
              <a:t>prior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631500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1F43-4AB0-7542-582A-62B04222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ADEC94-0EED-CE43-4B8E-0D83D59D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8EE662-D755-F95D-FEC8-30A070B6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F4CF23-D77C-13DF-682E-E72C09A7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53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20597B6-AC53-0993-B9CB-8900CC662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7801302" cy="2983725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E9FC886-8B6E-9B1F-F06E-1575FB249054}"/>
              </a:ext>
            </a:extLst>
          </p:cNvPr>
          <p:cNvSpPr/>
          <p:nvPr/>
        </p:nvSpPr>
        <p:spPr>
          <a:xfrm>
            <a:off x="838200" y="3792643"/>
            <a:ext cx="6200839" cy="9076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C55DA6-1A80-ED16-62ED-46A35884D49E}"/>
              </a:ext>
            </a:extLst>
          </p:cNvPr>
          <p:cNvSpPr txBox="1"/>
          <p:nvPr/>
        </p:nvSpPr>
        <p:spPr>
          <a:xfrm>
            <a:off x="7204736" y="3798779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Which</a:t>
            </a:r>
            <a:r>
              <a:rPr lang="it-IT" b="1" dirty="0">
                <a:solidFill>
                  <a:srgbClr val="00B050"/>
                </a:solidFill>
              </a:rPr>
              <a:t> scoring </a:t>
            </a:r>
            <a:r>
              <a:rPr lang="it-IT" b="1" dirty="0" err="1">
                <a:solidFill>
                  <a:srgbClr val="00B050"/>
                </a:solidFill>
              </a:rPr>
              <a:t>function</a:t>
            </a:r>
            <a:r>
              <a:rPr lang="it-IT" b="1" dirty="0">
                <a:solidFill>
                  <a:srgbClr val="00B050"/>
                </a:solidFill>
              </a:rPr>
              <a:t>?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1B8829F-F857-46D2-CD04-F0111EDE0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502" y="5488304"/>
            <a:ext cx="2458814" cy="465181"/>
          </a:xfrm>
          <a:prstGeom prst="rect">
            <a:avLst/>
          </a:prstGeom>
          <a:ln w="38100">
            <a:noFill/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C3DCC0F-3314-EF8D-879D-553B12715B89}"/>
              </a:ext>
            </a:extLst>
          </p:cNvPr>
          <p:cNvSpPr txBox="1"/>
          <p:nvPr/>
        </p:nvSpPr>
        <p:spPr>
          <a:xfrm>
            <a:off x="1219238" y="5051697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Maximum </a:t>
            </a:r>
            <a:r>
              <a:rPr lang="it-IT" b="1" dirty="0" err="1"/>
              <a:t>Likelihood</a:t>
            </a:r>
            <a:r>
              <a:rPr lang="it-IT" b="1" dirty="0"/>
              <a:t> (ML)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B4E0135E-DF1E-DA2C-19AA-0E4A49C86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025" y="5488304"/>
            <a:ext cx="2890650" cy="587766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6" name="Freccia a sinistra 15">
            <a:extLst>
              <a:ext uri="{FF2B5EF4-FFF2-40B4-BE49-F238E27FC236}">
                <a16:creationId xmlns:a16="http://schemas.microsoft.com/office/drawing/2014/main" id="{3BC9AF2F-EC8E-D130-6911-F8D17F999FC9}"/>
              </a:ext>
            </a:extLst>
          </p:cNvPr>
          <p:cNvSpPr/>
          <p:nvPr/>
        </p:nvSpPr>
        <p:spPr>
          <a:xfrm rot="10800000">
            <a:off x="4357208" y="5539492"/>
            <a:ext cx="1362395" cy="2985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4DFD7A5-3D5C-A41E-555D-1CDC0232F5A0}"/>
              </a:ext>
            </a:extLst>
          </p:cNvPr>
          <p:cNvSpPr txBox="1"/>
          <p:nvPr/>
        </p:nvSpPr>
        <p:spPr>
          <a:xfrm>
            <a:off x="4324949" y="5891404"/>
            <a:ext cx="308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iid</a:t>
            </a:r>
            <a:r>
              <a:rPr lang="it-IT" dirty="0"/>
              <a:t> </a:t>
            </a:r>
            <a:r>
              <a:rPr lang="it-IT" dirty="0" err="1"/>
              <a:t>examples</a:t>
            </a:r>
            <a:endParaRPr lang="it-IT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6CE28B7C-68C9-01E3-A56C-5387AA118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180" y="4983039"/>
            <a:ext cx="350520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42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933FB-E1AA-AC4E-C0FA-D4176BD6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FC0032-1DA2-4B34-8905-7278B0AB0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Full </a:t>
            </a:r>
            <a:r>
              <a:rPr lang="it-IT" dirty="0" err="1"/>
              <a:t>observability</a:t>
            </a:r>
            <a:endParaRPr lang="it-IT" dirty="0"/>
          </a:p>
          <a:p>
            <a:pPr lvl="1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observe</a:t>
            </a:r>
            <a:r>
              <a:rPr lang="it-IT" dirty="0"/>
              <a:t> the </a:t>
            </a:r>
            <a:r>
              <a:rPr lang="it-IT" dirty="0" err="1"/>
              <a:t>realizations</a:t>
            </a:r>
            <a:r>
              <a:rPr lang="it-IT" dirty="0"/>
              <a:t> of </a:t>
            </a:r>
            <a:r>
              <a:rPr lang="it-IT" dirty="0" err="1"/>
              <a:t>all</a:t>
            </a:r>
            <a:r>
              <a:rPr lang="it-IT" dirty="0"/>
              <a:t> random </a:t>
            </a:r>
            <a:r>
              <a:rPr lang="it-IT" dirty="0" err="1"/>
              <a:t>variables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A30DC4-F5F1-895C-97FE-F03F80FC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0114E9-6B97-4C67-0324-96B30243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54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30C39D1-0124-539F-14FE-170EF1451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71B5994-59A1-A053-A891-0C88B2DE9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49" y="4516130"/>
            <a:ext cx="1959644" cy="33816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25781BD-2A95-2814-FAF9-9B9A919C0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73165"/>
            <a:ext cx="3123043" cy="14805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D0094E8-C639-0463-157A-30F62B9704A2}"/>
              </a:ext>
            </a:extLst>
          </p:cNvPr>
          <p:cNvSpPr txBox="1"/>
          <p:nvPr/>
        </p:nvSpPr>
        <p:spPr>
          <a:xfrm>
            <a:off x="8013531" y="1658974"/>
            <a:ext cx="141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/>
              <a:t>E</a:t>
            </a:r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3E92661-4610-4147-D762-8379B2CC9566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3E92661-4610-4147-D762-8379B2CC9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5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3204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920C49-8B62-C406-8890-3E198CE7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564644-39F4-821B-E10B-D2CD71EA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C966E1-780E-A7A6-1C8F-46737F06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Full </a:t>
            </a:r>
            <a:r>
              <a:rPr lang="it-IT" dirty="0" err="1"/>
              <a:t>observability</a:t>
            </a:r>
            <a:endParaRPr lang="it-IT" dirty="0"/>
          </a:p>
          <a:p>
            <a:pPr lvl="1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observe</a:t>
            </a:r>
            <a:r>
              <a:rPr lang="it-IT" dirty="0"/>
              <a:t> the </a:t>
            </a:r>
            <a:r>
              <a:rPr lang="it-IT" dirty="0" err="1"/>
              <a:t>realizations</a:t>
            </a:r>
            <a:r>
              <a:rPr lang="it-IT" dirty="0"/>
              <a:t> of </a:t>
            </a:r>
            <a:r>
              <a:rPr lang="it-IT" dirty="0" err="1"/>
              <a:t>all</a:t>
            </a:r>
            <a:r>
              <a:rPr lang="it-IT" dirty="0"/>
              <a:t> random </a:t>
            </a:r>
            <a:r>
              <a:rPr lang="it-IT" dirty="0" err="1"/>
              <a:t>variables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9668148-066D-8A98-08EC-E958E3A7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DC3D31-6282-4743-0F8E-2F90A5EA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55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BF8A737-2B6A-FBD9-081F-C32123CF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7A330EA-7C0A-A400-798A-A3B78DA2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49" y="4516130"/>
            <a:ext cx="1959644" cy="33816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DF052B6-04C8-EA48-7779-589E1F99F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73165"/>
            <a:ext cx="3123043" cy="14805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3C48BCA-F19A-6AB8-F086-48A1CB191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36" y="2681065"/>
            <a:ext cx="6279169" cy="111771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82530C8-1591-F8BF-5738-D349F91C7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36" y="5169733"/>
            <a:ext cx="5298697" cy="1096924"/>
          </a:xfrm>
          <a:prstGeom prst="rect">
            <a:avLst/>
          </a:prstGeom>
        </p:spPr>
      </p:pic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0614D7CA-69F4-D03B-DB2C-DF39D0C9C325}"/>
              </a:ext>
            </a:extLst>
          </p:cNvPr>
          <p:cNvSpPr/>
          <p:nvPr/>
        </p:nvSpPr>
        <p:spPr>
          <a:xfrm>
            <a:off x="3134684" y="3853981"/>
            <a:ext cx="357219" cy="13157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8B83AF1-81CA-ADE6-B1D6-21F54BEF5751}"/>
              </a:ext>
            </a:extLst>
          </p:cNvPr>
          <p:cNvSpPr txBox="1"/>
          <p:nvPr/>
        </p:nvSpPr>
        <p:spPr>
          <a:xfrm>
            <a:off x="7183768" y="708540"/>
            <a:ext cx="285366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|x| = #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satisying</a:t>
            </a:r>
            <a:r>
              <a:rPr lang="it-IT" dirty="0"/>
              <a:t> x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7012D24-03AA-2B01-6E26-E81CA23C2C8E}"/>
              </a:ext>
            </a:extLst>
          </p:cNvPr>
          <p:cNvSpPr txBox="1"/>
          <p:nvPr/>
        </p:nvSpPr>
        <p:spPr>
          <a:xfrm>
            <a:off x="8013531" y="1658974"/>
            <a:ext cx="141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/>
              <a:t>E</a:t>
            </a:r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EAA98DC-903B-EAF2-F740-6CB944A2654E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EAA98DC-903B-EAF2-F740-6CB944A26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7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3991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F3E8E7-2448-2C2A-B239-729CF02AB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BF880-43FC-0D7E-AF50-681AE50E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F45533-5EDC-DC3D-059E-EA67EEA1D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Full </a:t>
            </a:r>
            <a:r>
              <a:rPr lang="it-IT" dirty="0" err="1"/>
              <a:t>observability</a:t>
            </a:r>
            <a:endParaRPr lang="it-IT" dirty="0"/>
          </a:p>
          <a:p>
            <a:pPr lvl="1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observe</a:t>
            </a:r>
            <a:r>
              <a:rPr lang="it-IT" dirty="0"/>
              <a:t> the </a:t>
            </a:r>
            <a:r>
              <a:rPr lang="it-IT" dirty="0" err="1"/>
              <a:t>realizations</a:t>
            </a:r>
            <a:r>
              <a:rPr lang="it-IT" dirty="0"/>
              <a:t> of </a:t>
            </a:r>
            <a:r>
              <a:rPr lang="it-IT" dirty="0" err="1"/>
              <a:t>all</a:t>
            </a:r>
            <a:r>
              <a:rPr lang="it-IT" dirty="0"/>
              <a:t> random </a:t>
            </a:r>
            <a:r>
              <a:rPr lang="it-IT" dirty="0" err="1"/>
              <a:t>variables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C9FE5DD-D26E-24C5-DFED-3376747B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D75A667-8291-9546-AD59-EC0703B6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56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43E28DF-7345-5C99-E90D-DB75B644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E6E7AAD-DEA9-147A-DF4D-8A151A8CF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49" y="4516130"/>
            <a:ext cx="1959644" cy="33816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F6758A7-61E8-43D0-AE36-E0B6B8172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73165"/>
            <a:ext cx="3123043" cy="14805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43E65EE-CB68-4C37-0AB7-EEBC487B7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36" y="5169733"/>
            <a:ext cx="5298697" cy="1096924"/>
          </a:xfrm>
          <a:prstGeom prst="rect">
            <a:avLst/>
          </a:prstGeom>
        </p:spPr>
      </p:pic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EC69E348-0B0B-9AF5-B6E5-6B5FEC34A99E}"/>
              </a:ext>
            </a:extLst>
          </p:cNvPr>
          <p:cNvSpPr/>
          <p:nvPr/>
        </p:nvSpPr>
        <p:spPr>
          <a:xfrm rot="10800000">
            <a:off x="1896304" y="4516130"/>
            <a:ext cx="294572" cy="5486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F29ECF0-6004-B32C-8ABC-D27E79D48BBC}"/>
              </a:ext>
            </a:extLst>
          </p:cNvPr>
          <p:cNvSpPr txBox="1"/>
          <p:nvPr/>
        </p:nvSpPr>
        <p:spPr>
          <a:xfrm>
            <a:off x="7183768" y="708540"/>
            <a:ext cx="285366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|x| = #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satisying</a:t>
            </a:r>
            <a:r>
              <a:rPr lang="it-IT" dirty="0"/>
              <a:t> x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8107AC9-88E3-BBD5-A466-F110AABC0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22" y="2718528"/>
            <a:ext cx="2434009" cy="170128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8B80FD7-4EDB-08D3-42DC-2C2437A628DA}"/>
              </a:ext>
            </a:extLst>
          </p:cNvPr>
          <p:cNvSpPr txBox="1"/>
          <p:nvPr/>
        </p:nvSpPr>
        <p:spPr>
          <a:xfrm>
            <a:off x="2274446" y="4480491"/>
            <a:ext cx="1417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derivatives</a:t>
            </a:r>
            <a:endParaRPr lang="it-IT" dirty="0"/>
          </a:p>
        </p:txBody>
      </p:sp>
      <p:sp>
        <p:nvSpPr>
          <p:cNvPr id="16" name="Freccia in giù 15">
            <a:extLst>
              <a:ext uri="{FF2B5EF4-FFF2-40B4-BE49-F238E27FC236}">
                <a16:creationId xmlns:a16="http://schemas.microsoft.com/office/drawing/2014/main" id="{9A1FCD9A-871D-2A9F-A0CC-467E601076B4}"/>
              </a:ext>
            </a:extLst>
          </p:cNvPr>
          <p:cNvSpPr/>
          <p:nvPr/>
        </p:nvSpPr>
        <p:spPr>
          <a:xfrm rot="16200000">
            <a:off x="3919976" y="2919659"/>
            <a:ext cx="278676" cy="12831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5427FEF-ED1C-E24B-5F7E-CE7A932C7B88}"/>
              </a:ext>
            </a:extLst>
          </p:cNvPr>
          <p:cNvSpPr txBox="1"/>
          <p:nvPr/>
        </p:nvSpPr>
        <p:spPr>
          <a:xfrm>
            <a:off x="3350500" y="2793893"/>
            <a:ext cx="1417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Maximum</a:t>
            </a:r>
            <a:br>
              <a:rPr lang="it-IT" dirty="0"/>
            </a:br>
            <a:r>
              <a:rPr lang="it-IT" dirty="0"/>
              <a:t>(=0)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F35CC649-7B2B-242F-532D-396CBA210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494" y="2690912"/>
            <a:ext cx="2273222" cy="17729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FC3AF52-6DEC-7CE6-F56C-2FEAD3D9D2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745" t="85050" r="31345" b="1044"/>
          <a:stretch/>
        </p:blipFill>
        <p:spPr>
          <a:xfrm>
            <a:off x="4692981" y="4579320"/>
            <a:ext cx="3113447" cy="414903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B4C249B-53FA-CDFF-B965-D4C114F55923}"/>
              </a:ext>
            </a:extLst>
          </p:cNvPr>
          <p:cNvSpPr txBox="1"/>
          <p:nvPr/>
        </p:nvSpPr>
        <p:spPr>
          <a:xfrm>
            <a:off x="8013531" y="1658974"/>
            <a:ext cx="141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/>
              <a:t>E</a:t>
            </a:r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F4F8696-6B46-B462-BA5A-A0FC4E353242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F4F8696-6B46-B462-BA5A-A0FC4E353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9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272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F6DDF1-4BF1-C517-4CC2-80C12825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DE191-4534-2F7E-35B9-B879F3A6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BE60D9-4849-C36A-8921-BF4754902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Full </a:t>
            </a:r>
            <a:r>
              <a:rPr lang="it-IT" dirty="0" err="1"/>
              <a:t>observability</a:t>
            </a:r>
            <a:r>
              <a:rPr lang="it-IT" dirty="0"/>
              <a:t> </a:t>
            </a:r>
            <a:r>
              <a:rPr lang="it-IT" b="1" dirty="0"/>
              <a:t>(resorts to frequency </a:t>
            </a:r>
            <a:r>
              <a:rPr lang="it-IT" b="1" dirty="0" err="1"/>
              <a:t>counting</a:t>
            </a:r>
            <a:r>
              <a:rPr lang="it-IT" b="1" dirty="0"/>
              <a:t>)</a:t>
            </a:r>
          </a:p>
          <a:p>
            <a:pPr lvl="1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observe</a:t>
            </a:r>
            <a:r>
              <a:rPr lang="it-IT" dirty="0"/>
              <a:t> the </a:t>
            </a:r>
            <a:r>
              <a:rPr lang="it-IT" dirty="0" err="1"/>
              <a:t>realizations</a:t>
            </a:r>
            <a:r>
              <a:rPr lang="it-IT" dirty="0"/>
              <a:t> of </a:t>
            </a:r>
            <a:r>
              <a:rPr lang="it-IT" dirty="0" err="1"/>
              <a:t>all</a:t>
            </a:r>
            <a:r>
              <a:rPr lang="it-IT" dirty="0"/>
              <a:t> random </a:t>
            </a:r>
            <a:r>
              <a:rPr lang="it-IT" dirty="0" err="1"/>
              <a:t>variables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327CCC9-EB74-E707-71FD-683A9246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939341-94C5-A9E5-690A-487232F7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57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1F22BCD-F4DD-A6B6-4952-B6A56DF99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5790882-01DF-57C3-EDCE-DD0BA40E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49" y="4516130"/>
            <a:ext cx="1959644" cy="33816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2EF8A7E-A656-53BA-43D5-716B74F26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73165"/>
            <a:ext cx="3123043" cy="14805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0468FD8-49A4-926A-0B83-2D7FDF9D9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36" y="5169733"/>
            <a:ext cx="5298697" cy="1096924"/>
          </a:xfrm>
          <a:prstGeom prst="rect">
            <a:avLst/>
          </a:prstGeom>
        </p:spPr>
      </p:pic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5A1D52A1-C4C6-02EB-3A5E-DCED5D070FAA}"/>
              </a:ext>
            </a:extLst>
          </p:cNvPr>
          <p:cNvSpPr/>
          <p:nvPr/>
        </p:nvSpPr>
        <p:spPr>
          <a:xfrm rot="10800000">
            <a:off x="1896304" y="4516130"/>
            <a:ext cx="294572" cy="5486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6812478-5377-C6D2-D9BE-16EB740D69ED}"/>
              </a:ext>
            </a:extLst>
          </p:cNvPr>
          <p:cNvSpPr txBox="1"/>
          <p:nvPr/>
        </p:nvSpPr>
        <p:spPr>
          <a:xfrm>
            <a:off x="7183768" y="708540"/>
            <a:ext cx="285366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|x| = #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satisying</a:t>
            </a:r>
            <a:r>
              <a:rPr lang="it-IT" dirty="0"/>
              <a:t> x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DBD1DFA-1C74-D2CB-D7AB-5DDFFBC1B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22" y="2718528"/>
            <a:ext cx="2434009" cy="170128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353A98D-0915-3880-6850-3F60D2EA5524}"/>
              </a:ext>
            </a:extLst>
          </p:cNvPr>
          <p:cNvSpPr txBox="1"/>
          <p:nvPr/>
        </p:nvSpPr>
        <p:spPr>
          <a:xfrm>
            <a:off x="2274446" y="4480491"/>
            <a:ext cx="1417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derivatives</a:t>
            </a:r>
            <a:endParaRPr lang="it-IT" dirty="0"/>
          </a:p>
        </p:txBody>
      </p:sp>
      <p:sp>
        <p:nvSpPr>
          <p:cNvPr id="16" name="Freccia in giù 15">
            <a:extLst>
              <a:ext uri="{FF2B5EF4-FFF2-40B4-BE49-F238E27FC236}">
                <a16:creationId xmlns:a16="http://schemas.microsoft.com/office/drawing/2014/main" id="{2D4BE63F-8072-4CE2-73AE-24A6452F8703}"/>
              </a:ext>
            </a:extLst>
          </p:cNvPr>
          <p:cNvSpPr/>
          <p:nvPr/>
        </p:nvSpPr>
        <p:spPr>
          <a:xfrm rot="16200000">
            <a:off x="3919976" y="2919659"/>
            <a:ext cx="278676" cy="12831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8179093-3C19-CAC1-355A-84C10D1C7289}"/>
              </a:ext>
            </a:extLst>
          </p:cNvPr>
          <p:cNvSpPr txBox="1"/>
          <p:nvPr/>
        </p:nvSpPr>
        <p:spPr>
          <a:xfrm>
            <a:off x="3350500" y="2793893"/>
            <a:ext cx="1417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Maximum</a:t>
            </a:r>
            <a:br>
              <a:rPr lang="it-IT" dirty="0"/>
            </a:br>
            <a:r>
              <a:rPr lang="it-IT" dirty="0"/>
              <a:t>(=0)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DDF1F462-01CC-B891-68D4-A9500320DA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494" y="2690912"/>
            <a:ext cx="2273222" cy="17729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9FDD8D68-A8EF-9858-71AF-E6FE183EDD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745" t="85050" r="31345" b="1044"/>
          <a:stretch/>
        </p:blipFill>
        <p:spPr>
          <a:xfrm>
            <a:off x="4692981" y="4579320"/>
            <a:ext cx="3113447" cy="414903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CB91A23-A805-C76B-E9DE-2A55EF3176D0}"/>
              </a:ext>
            </a:extLst>
          </p:cNvPr>
          <p:cNvSpPr txBox="1"/>
          <p:nvPr/>
        </p:nvSpPr>
        <p:spPr>
          <a:xfrm>
            <a:off x="8013531" y="1658974"/>
            <a:ext cx="141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/>
              <a:t>E</a:t>
            </a:r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7786BC3-C539-E059-98EF-698AED649487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C7786BC3-C539-E059-98EF-698AED649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9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977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D391E7D-005E-C98E-1227-8C91B654E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63BB3CF-40EA-E201-F777-1D6321D5D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1273EFB-1B19-08AF-E8E4-D3A41074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4CC3BA2-1D86-32EF-EB8C-8754B6AD9B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lvl="1"/>
                <a:r>
                  <a:rPr lang="it-IT" dirty="0" err="1"/>
                  <a:t>Worst</a:t>
                </a:r>
                <a:r>
                  <a:rPr lang="it-IT" dirty="0"/>
                  <a:t> case: </a:t>
                </a:r>
                <a:r>
                  <a:rPr lang="it-IT" dirty="0" err="1"/>
                  <a:t>completely</a:t>
                </a:r>
                <a:r>
                  <a:rPr lang="it-IT" dirty="0"/>
                  <a:t> </a:t>
                </a:r>
                <a:r>
                  <a:rPr lang="it-IT" dirty="0" err="1"/>
                  <a:t>missing</a:t>
                </a:r>
                <a:r>
                  <a:rPr lang="it-IT" dirty="0"/>
                  <a:t> </a:t>
                </a:r>
                <a:r>
                  <a:rPr lang="it-IT" dirty="0" err="1"/>
                  <a:t>observations</a:t>
                </a:r>
                <a:endParaRPr lang="it-IT" dirty="0"/>
              </a:p>
              <a:p>
                <a:pPr lvl="2"/>
                <a:r>
                  <a:rPr lang="it-IT" dirty="0" err="1"/>
                  <a:t>Latent</a:t>
                </a:r>
                <a:r>
                  <a:rPr lang="it-IT" dirty="0"/>
                  <a:t> </a:t>
                </a:r>
                <a:r>
                  <a:rPr lang="it-IT" dirty="0" err="1"/>
                  <a:t>variables</a:t>
                </a:r>
                <a:r>
                  <a:rPr lang="it-IT" dirty="0"/>
                  <a:t> (like </a:t>
                </a:r>
                <a:r>
                  <a:rPr lang="it-IT" dirty="0" err="1"/>
                  <a:t>causal</a:t>
                </a:r>
                <a:r>
                  <a:rPr lang="it-IT" dirty="0"/>
                  <a:t> </a:t>
                </a:r>
                <a:r>
                  <a:rPr lang="it-IT" dirty="0" err="1"/>
                  <a:t>confounders</a:t>
                </a:r>
                <a:r>
                  <a:rPr lang="it-IT" dirty="0"/>
                  <a:t>)</a:t>
                </a:r>
              </a:p>
              <a:p>
                <a:pPr lvl="2"/>
                <a:r>
                  <a:rPr lang="it-IT" dirty="0" err="1"/>
                  <a:t>Hidden</a:t>
                </a:r>
                <a:r>
                  <a:rPr lang="it-IT" dirty="0"/>
                  <a:t> Markov models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4CC3BA2-1D86-32EF-EB8C-8754B6AD9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8EEEC6-C93C-8D65-5E83-19F55B0E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F8FA6E-DBE8-E898-33B6-1F763AAF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5F56F9D-78F3-71E7-255A-4E46C0534E3E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5F56F9D-78F3-71E7-255A-4E46C053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5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FB316619-BF61-DEF0-DC8A-C5319ADBB21A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FB316619-BF61-DEF0-DC8A-C5319ADBB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PT - Hidden Markov Models PowerPoint Presentation, free download - ID ...">
            <a:extLst>
              <a:ext uri="{FF2B5EF4-FFF2-40B4-BE49-F238E27FC236}">
                <a16:creationId xmlns:a16="http://schemas.microsoft.com/office/drawing/2014/main" id="{341795D2-FBB3-720E-5AE5-88B8B2841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9" t="21029" r="11344" b="7315"/>
          <a:stretch/>
        </p:blipFill>
        <p:spPr bwMode="auto">
          <a:xfrm>
            <a:off x="434398" y="4040423"/>
            <a:ext cx="3601645" cy="231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2B0A4FB-07C0-C319-1C48-572DE50A3B2A}"/>
              </a:ext>
            </a:extLst>
          </p:cNvPr>
          <p:cNvSpPr txBox="1"/>
          <p:nvPr/>
        </p:nvSpPr>
        <p:spPr>
          <a:xfrm>
            <a:off x="4092144" y="4040875"/>
            <a:ext cx="230762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Mor, B., Garhwal, S., &amp; Kumar, A. (2021). A systematic review of hidden Markov models and their applications.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Archives of computational methods in engineering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28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1429-1448.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30431285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D4A10B-EF7D-B823-90D5-3940DB59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C1EEBF6-6DC5-14A8-B46B-A0DAAB833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1E58C0F-0CDC-26DE-8E9B-52BD08052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9DEC02D-0D1B-3D38-84F3-77FDDB3B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2A679A2-24AA-0F62-BA66-AE6C99BE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2A679A2-24AA-0F62-BA66-AE6C99BE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053B78-FE2E-B352-74E7-4B2F61EB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25CCEC-5324-9E3B-57D5-713A52F5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59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7344D6D-BDFA-7DB2-B3B7-2D81C8CE97B3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7344D6D-BDFA-7DB2-B3B7-2D81C8CE9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5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DE131FB-1BF2-B191-78F0-32161F7F9B07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DE131FB-1BF2-B191-78F0-32161F7F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6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>
            <a:extLst>
              <a:ext uri="{FF2B5EF4-FFF2-40B4-BE49-F238E27FC236}">
                <a16:creationId xmlns:a16="http://schemas.microsoft.com/office/drawing/2014/main" id="{FFABF5F7-FCE6-C6BE-2333-713A8A0420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54" y="2888953"/>
            <a:ext cx="3773194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060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E3CE14-1D16-ADE2-E488-80E2623B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3E134CC0-2C37-4C33-2C4F-2602B7FD4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4163B8F-6498-25B2-489D-47C358687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E469710-F52A-B013-6C80-4788B7A9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95D730F-3B19-0992-C696-2AF72354A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95D730F-3B19-0992-C696-2AF72354A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F1842F3-A8E8-E14A-1DC3-03134C05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768895B-B4F6-6A00-BF9A-66A291F0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0C5D5C1-9EB5-7592-DF8F-769B83E73254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0C5D5C1-9EB5-7592-DF8F-769B83E73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5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59AA98C-47F7-28DC-BA46-5DA2C60D5B48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59AA98C-47F7-28DC-BA46-5DA2C60D5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6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73606B33-49A6-0F49-A281-A9464DC95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54" y="2888953"/>
            <a:ext cx="3773194" cy="205739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E84A9C4-8AEF-6152-690E-C4E346D4C3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5842" y="3121009"/>
            <a:ext cx="1797142" cy="615982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E468F2BD-3834-8983-B601-D03DD8491F2D}"/>
              </a:ext>
            </a:extLst>
          </p:cNvPr>
          <p:cNvSpPr/>
          <p:nvPr/>
        </p:nvSpPr>
        <p:spPr>
          <a:xfrm>
            <a:off x="1138904" y="3917652"/>
            <a:ext cx="3327543" cy="1028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F9822B9-EEA8-2AF5-A1AA-7AED5D220874}"/>
              </a:ext>
            </a:extLst>
          </p:cNvPr>
          <p:cNvSpPr/>
          <p:nvPr/>
        </p:nvSpPr>
        <p:spPr>
          <a:xfrm>
            <a:off x="4666607" y="3132685"/>
            <a:ext cx="1924438" cy="628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0B7AD9F-46C0-688F-C8F0-0D9F20B90FD2}"/>
                  </a:ext>
                </a:extLst>
              </p:cNvPr>
              <p:cNvSpPr txBox="1"/>
              <p:nvPr/>
            </p:nvSpPr>
            <p:spPr>
              <a:xfrm>
                <a:off x="1018728" y="5290019"/>
                <a:ext cx="3909213" cy="94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Maximize the </a:t>
                </a:r>
                <a:r>
                  <a:rPr lang="it-IT" dirty="0" err="1"/>
                  <a:t>expectation</a:t>
                </a:r>
                <a:r>
                  <a:rPr lang="it-IT" dirty="0"/>
                  <a:t> of P(E|M), </a:t>
                </a:r>
              </a:p>
              <a:p>
                <a:r>
                  <a:rPr lang="it-IT" b="1" dirty="0" err="1"/>
                  <a:t>given</a:t>
                </a:r>
                <a:r>
                  <a:rPr lang="it-IT" b="1" dirty="0"/>
                  <a:t> the </a:t>
                </a:r>
                <a:r>
                  <a:rPr lang="it-IT" b="1" dirty="0" err="1"/>
                  <a:t>prior</a:t>
                </a:r>
                <a:r>
                  <a:rPr lang="it-IT" b="1" dirty="0"/>
                  <a:t> </a:t>
                </a:r>
                <a:r>
                  <a:rPr lang="it-IT" b="1" dirty="0" err="1"/>
                  <a:t>distribution</a:t>
                </a:r>
                <a:r>
                  <a:rPr lang="it-IT" b="1" dirty="0"/>
                  <a:t> over </a:t>
                </a:r>
                <a:r>
                  <a:rPr lang="it-IT" b="1" dirty="0" err="1"/>
                  <a:t>latent</a:t>
                </a:r>
                <a:r>
                  <a:rPr lang="it-IT" b="1" dirty="0"/>
                  <a:t> </a:t>
                </a:r>
                <a:r>
                  <a:rPr lang="it-IT" b="1" dirty="0" err="1"/>
                  <a:t>variables</a:t>
                </a:r>
                <a:r>
                  <a:rPr lang="it-IT" b="1" dirty="0"/>
                  <a:t> P(</a:t>
                </a:r>
                <a:r>
                  <a:rPr lang="it-IT" b="1" dirty="0" err="1"/>
                  <a:t>y|x,M</a:t>
                </a:r>
                <a:r>
                  <a:rPr lang="it-IT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it-IT" b="1" dirty="0"/>
                  <a:t>))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0B7AD9F-46C0-688F-C8F0-0D9F20B90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28" y="5290019"/>
                <a:ext cx="3909213" cy="949619"/>
              </a:xfrm>
              <a:prstGeom prst="rect">
                <a:avLst/>
              </a:prstGeom>
              <a:blipFill>
                <a:blip r:embed="rId9"/>
                <a:stretch>
                  <a:fillRect l="-1248" t="-3846" b="-70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5573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ED0696-85B2-E771-7DBE-B66CBD17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C24B204C-C687-3F34-749F-AFB982064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3BE7B7C-83E7-ECFB-D0FE-58D5D1E1A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752480E-C92B-A1EC-661D-4A7E3C59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C0B418B-21FE-D139-C9C0-1D422C94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C8C4F48-1D09-76B4-4637-8C83BFDF4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C8C4F48-1D09-76B4-4637-8C83BFDF4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9FE742C-2F81-4EBE-E482-4218ACBD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117F73-A8C0-7B61-FE70-D4E44363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61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834F0F6-8B27-FA08-87C1-5834567F761B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834F0F6-8B27-FA08-87C1-5834567F7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D3C86C0-1364-33CD-C30B-A615CFD11DB3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D3C86C0-1364-33CD-C30B-A615CFD1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EDA66F8D-8659-0DB8-D8D1-DBA55DA2A7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54" y="2888953"/>
            <a:ext cx="3773194" cy="2057399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D968721E-38FF-81A6-8250-F2FF47C6C0CA}"/>
              </a:ext>
            </a:extLst>
          </p:cNvPr>
          <p:cNvSpPr/>
          <p:nvPr/>
        </p:nvSpPr>
        <p:spPr>
          <a:xfrm>
            <a:off x="1092370" y="4460656"/>
            <a:ext cx="3374077" cy="485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53A1DD0-6009-186B-4549-C40BC7674A47}"/>
              </a:ext>
            </a:extLst>
          </p:cNvPr>
          <p:cNvSpPr/>
          <p:nvPr/>
        </p:nvSpPr>
        <p:spPr>
          <a:xfrm>
            <a:off x="3024474" y="6032359"/>
            <a:ext cx="2468063" cy="279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A877EBB-48A6-E401-7C58-8A19E2AE68B6}"/>
                  </a:ext>
                </a:extLst>
              </p:cNvPr>
              <p:cNvSpPr txBox="1"/>
              <p:nvPr/>
            </p:nvSpPr>
            <p:spPr>
              <a:xfrm>
                <a:off x="3816341" y="2670307"/>
                <a:ext cx="3909213" cy="1825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Maximize the </a:t>
                </a:r>
                <a:r>
                  <a:rPr lang="it-IT" dirty="0" err="1"/>
                  <a:t>expectation</a:t>
                </a:r>
                <a:r>
                  <a:rPr lang="it-IT" dirty="0"/>
                  <a:t> of P(E|M), </a:t>
                </a:r>
              </a:p>
              <a:p>
                <a:r>
                  <a:rPr lang="it-IT" b="1" dirty="0" err="1"/>
                  <a:t>given</a:t>
                </a:r>
                <a:r>
                  <a:rPr lang="it-IT" b="1" dirty="0"/>
                  <a:t> the </a:t>
                </a:r>
                <a:r>
                  <a:rPr lang="it-IT" b="1" dirty="0" err="1"/>
                  <a:t>prior</a:t>
                </a:r>
                <a:r>
                  <a:rPr lang="it-IT" b="1" dirty="0"/>
                  <a:t> </a:t>
                </a:r>
                <a:r>
                  <a:rPr lang="it-IT" b="1" dirty="0" err="1"/>
                  <a:t>distribution</a:t>
                </a:r>
                <a:r>
                  <a:rPr lang="it-IT" b="1" dirty="0"/>
                  <a:t> over </a:t>
                </a:r>
                <a:r>
                  <a:rPr lang="it-IT" b="1" dirty="0" err="1"/>
                  <a:t>latent</a:t>
                </a:r>
                <a:r>
                  <a:rPr lang="it-IT" b="1" dirty="0"/>
                  <a:t> </a:t>
                </a:r>
                <a:r>
                  <a:rPr lang="it-IT" b="1" dirty="0" err="1"/>
                  <a:t>variables</a:t>
                </a:r>
                <a:r>
                  <a:rPr lang="it-IT" b="1" dirty="0"/>
                  <a:t> P(</a:t>
                </a:r>
                <a:r>
                  <a:rPr lang="it-IT" b="1" dirty="0" err="1"/>
                  <a:t>y|x,M</a:t>
                </a:r>
                <a:r>
                  <a:rPr lang="it-IT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it-IT" b="1" dirty="0"/>
                  <a:t>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Fix P(</a:t>
                </a:r>
                <a:r>
                  <a:rPr lang="it-IT" dirty="0" err="1"/>
                  <a:t>y|x,M</a:t>
                </a:r>
                <a:r>
                  <a:rPr lang="it-IT" dirty="0"/>
                  <a:t>(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it-IT" dirty="0"/>
                  <a:t>)) = P(</a:t>
                </a:r>
                <a:r>
                  <a:rPr lang="it-IT" dirty="0" err="1"/>
                  <a:t>y|x,M</a:t>
                </a:r>
                <a:r>
                  <a:rPr lang="it-IT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dirty="0"/>
                  <a:t>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P(</a:t>
                </a:r>
                <a:r>
                  <a:rPr lang="it-IT" dirty="0" err="1"/>
                  <a:t>x,y|M</a:t>
                </a:r>
                <a:r>
                  <a:rPr lang="it-IT" dirty="0"/>
                  <a:t>) = P(</a:t>
                </a:r>
                <a:r>
                  <a:rPr lang="it-IT" dirty="0" err="1"/>
                  <a:t>x|M</a:t>
                </a:r>
                <a:r>
                  <a:rPr lang="it-IT" dirty="0"/>
                  <a:t>) </a:t>
                </a:r>
                <a:r>
                  <a:rPr lang="it-IT" dirty="0">
                    <a:solidFill>
                      <a:srgbClr val="00B0F0"/>
                    </a:solidFill>
                  </a:rPr>
                  <a:t>P(</a:t>
                </a:r>
                <a:r>
                  <a:rPr lang="it-IT" dirty="0" err="1">
                    <a:solidFill>
                      <a:srgbClr val="00B0F0"/>
                    </a:solidFill>
                  </a:rPr>
                  <a:t>y|x,M</a:t>
                </a:r>
                <a:r>
                  <a:rPr lang="it-IT" dirty="0">
                    <a:solidFill>
                      <a:srgbClr val="00B0F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rgbClr val="00B0F0"/>
                    </a:solidFill>
                  </a:rPr>
                  <a:t>))</a:t>
                </a: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A877EBB-48A6-E401-7C58-8A19E2AE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341" y="2670307"/>
                <a:ext cx="3909213" cy="1825243"/>
              </a:xfrm>
              <a:prstGeom prst="rect">
                <a:avLst/>
              </a:prstGeom>
              <a:blipFill>
                <a:blip r:embed="rId9"/>
                <a:stretch>
                  <a:fillRect l="-1248" t="-16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5CB690B-FF7F-5B32-2F28-B751F5D18EBE}"/>
              </a:ext>
            </a:extLst>
          </p:cNvPr>
          <p:cNvSpPr txBox="1"/>
          <p:nvPr/>
        </p:nvSpPr>
        <p:spPr>
          <a:xfrm>
            <a:off x="5997824" y="4091324"/>
            <a:ext cx="138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B0F0"/>
                </a:solidFill>
              </a:rPr>
              <a:t>constant</a:t>
            </a:r>
            <a:endParaRPr lang="it-IT" dirty="0">
              <a:solidFill>
                <a:srgbClr val="00B0F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7FB79B2-E1D8-439A-D6D4-A9D9958D9FB2}"/>
              </a:ext>
            </a:extLst>
          </p:cNvPr>
          <p:cNvSpPr txBox="1"/>
          <p:nvPr/>
        </p:nvSpPr>
        <p:spPr>
          <a:xfrm>
            <a:off x="6740733" y="6037929"/>
            <a:ext cx="37397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Dempster, A. P., Laird, N. M., &amp; Rubin, D. B. (1977). Maximum likelihood from incomplete data via the EM algorithm.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the royal statistical society: series B (methodological)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39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1-22.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534530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B93E7C-656F-7115-5E52-9B2634B8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0B4EE336-9682-6161-01F6-9CB9FB9E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3E0172D-8A22-BA44-735F-E574D08B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569C5EA-1908-75C9-EC46-71C1B6FBA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C150C02-A940-4C61-9A9D-294042E8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F7965-2356-F7CE-0CFD-DB752D4515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F7965-2356-F7CE-0CFD-DB752D4515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9F0AE9-0BAA-78FD-0AEF-F8D558C5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FB62D2-0B19-AA6C-2078-52A88193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2870FC3-AFE8-910E-9B25-D664648DFC51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2870FC3-AFE8-910E-9B25-D664648D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4C666EF-0B22-720D-8B7E-CCA6144EC835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4C666EF-0B22-720D-8B7E-CCA6144E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DE6DBA0B-1D2C-A163-B6AB-7E919E6DF2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54" y="2888953"/>
            <a:ext cx="3773194" cy="2057399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E8C9D9BE-2C2D-A96B-89B1-DD454E64B738}"/>
              </a:ext>
            </a:extLst>
          </p:cNvPr>
          <p:cNvSpPr/>
          <p:nvPr/>
        </p:nvSpPr>
        <p:spPr>
          <a:xfrm>
            <a:off x="1570537" y="5847345"/>
            <a:ext cx="1761807" cy="2281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5D6D0F2-80FD-3DED-4D6C-F404C4B73107}"/>
              </a:ext>
            </a:extLst>
          </p:cNvPr>
          <p:cNvSpPr txBox="1"/>
          <p:nvPr/>
        </p:nvSpPr>
        <p:spPr>
          <a:xfrm>
            <a:off x="3816341" y="2670307"/>
            <a:ext cx="3909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Expectation</a:t>
            </a:r>
            <a:r>
              <a:rPr lang="it-IT" b="1" dirty="0"/>
              <a:t> </a:t>
            </a:r>
            <a:r>
              <a:rPr lang="it-IT" b="1" dirty="0" err="1"/>
              <a:t>Maximization</a:t>
            </a:r>
            <a:r>
              <a:rPr lang="it-IT" b="1" dirty="0"/>
              <a:t> (EM)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FF0000"/>
                </a:solidFill>
              </a:rPr>
              <a:t>Expectation</a:t>
            </a:r>
            <a:r>
              <a:rPr lang="it-IT" b="1" dirty="0">
                <a:solidFill>
                  <a:srgbClr val="FF0000"/>
                </a:solidFill>
              </a:rPr>
              <a:t> (</a:t>
            </a:r>
            <a:r>
              <a:rPr lang="it-IT" b="1" dirty="0" err="1">
                <a:solidFill>
                  <a:srgbClr val="FF0000"/>
                </a:solidFill>
              </a:rPr>
              <a:t>estimation</a:t>
            </a:r>
            <a:r>
              <a:rPr lang="it-IT" b="1" dirty="0">
                <a:solidFill>
                  <a:srgbClr val="FF0000"/>
                </a:solidFill>
              </a:rPr>
              <a:t>) step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Compute the </a:t>
            </a:r>
            <a:r>
              <a:rPr lang="it-IT" dirty="0" err="1">
                <a:solidFill>
                  <a:srgbClr val="FF0000"/>
                </a:solidFill>
              </a:rPr>
              <a:t>prior</a:t>
            </a:r>
            <a:r>
              <a:rPr lang="it-IT" dirty="0">
                <a:solidFill>
                  <a:srgbClr val="FF0000"/>
                </a:solidFill>
              </a:rPr>
              <a:t> on </a:t>
            </a:r>
            <a:r>
              <a:rPr lang="it-IT" dirty="0" err="1">
                <a:solidFill>
                  <a:srgbClr val="FF0000"/>
                </a:solidFill>
              </a:rPr>
              <a:t>latent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variables</a:t>
            </a:r>
            <a:r>
              <a:rPr lang="it-IT" dirty="0">
                <a:solidFill>
                  <a:srgbClr val="FF0000"/>
                </a:solidFill>
              </a:rPr>
              <a:t> (from a </a:t>
            </a:r>
            <a:r>
              <a:rPr lang="it-IT" dirty="0" err="1">
                <a:solidFill>
                  <a:srgbClr val="FF0000"/>
                </a:solidFill>
              </a:rPr>
              <a:t>given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distribution</a:t>
            </a:r>
            <a:r>
              <a:rPr lang="it-IT" dirty="0">
                <a:solidFill>
                  <a:srgbClr val="FF0000"/>
                </a:solidFill>
              </a:rPr>
              <a:t>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3604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1727E4-E5A5-350B-3540-24996363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A60ADF02-C4E3-C8E4-EFE4-4BA78C424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C101BFF-D8B0-1208-5F47-1D2BD0D6F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A3ABF7D-CA03-6576-68A2-DB3605E5E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744BA2E-631C-4750-7878-165C39AB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661BF00-D9B7-48B6-5679-0461A42673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661BF00-D9B7-48B6-5679-0461A4267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6BB613-FCE5-24F9-1BAB-92335BDC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2796DC3-35FC-E016-DC24-D3C6CCA1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855795-8BF1-407D-AC77-15064AD34BB3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1855795-8BF1-407D-AC77-15064AD34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BEAB2A4-DD3B-53CD-1E62-321823DDAAFB}"/>
                  </a:ext>
                </a:extLst>
              </p:cNvPr>
              <p:cNvSpPr txBox="1"/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BEAB2A4-DD3B-53CD-1E62-321823DDA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69" y="1188770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2017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160CE093-3B89-E949-FFDA-26DAF4D176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54" y="2888953"/>
            <a:ext cx="3773194" cy="2057399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83C36E10-65BA-5451-3CFD-BAF23B88E8A8}"/>
              </a:ext>
            </a:extLst>
          </p:cNvPr>
          <p:cNvSpPr/>
          <p:nvPr/>
        </p:nvSpPr>
        <p:spPr>
          <a:xfrm>
            <a:off x="2399020" y="6038457"/>
            <a:ext cx="3099654" cy="27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97A0FD6-16CD-BE60-967E-27291BC617AF}"/>
              </a:ext>
            </a:extLst>
          </p:cNvPr>
          <p:cNvSpPr txBox="1"/>
          <p:nvPr/>
        </p:nvSpPr>
        <p:spPr>
          <a:xfrm>
            <a:off x="3816341" y="2670307"/>
            <a:ext cx="3909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Expectation</a:t>
            </a:r>
            <a:r>
              <a:rPr lang="it-IT" b="1" dirty="0"/>
              <a:t> </a:t>
            </a:r>
            <a:r>
              <a:rPr lang="it-IT" b="1" dirty="0" err="1"/>
              <a:t>Maximization</a:t>
            </a:r>
            <a:r>
              <a:rPr lang="it-IT" b="1" dirty="0"/>
              <a:t> (EM)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Expectation</a:t>
            </a:r>
            <a:r>
              <a:rPr lang="it-IT" dirty="0"/>
              <a:t> (</a:t>
            </a:r>
            <a:r>
              <a:rPr lang="it-IT" dirty="0" err="1"/>
              <a:t>estimation</a:t>
            </a:r>
            <a:r>
              <a:rPr lang="it-IT" dirty="0"/>
              <a:t>)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FF0000"/>
                </a:solidFill>
              </a:rPr>
              <a:t>Maximization</a:t>
            </a:r>
            <a:r>
              <a:rPr lang="it-IT" b="1" dirty="0">
                <a:solidFill>
                  <a:srgbClr val="FF0000"/>
                </a:solidFill>
              </a:rPr>
              <a:t> step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 err="1">
                <a:solidFill>
                  <a:srgbClr val="FF0000"/>
                </a:solidFill>
              </a:rPr>
              <a:t>Optimize</a:t>
            </a:r>
            <a:r>
              <a:rPr lang="it-IT" dirty="0">
                <a:solidFill>
                  <a:srgbClr val="FF0000"/>
                </a:solidFill>
              </a:rPr>
              <a:t> P(E|M) </a:t>
            </a:r>
            <a:r>
              <a:rPr lang="it-IT" dirty="0" err="1">
                <a:solidFill>
                  <a:srgbClr val="FF0000"/>
                </a:solidFill>
              </a:rPr>
              <a:t>parameters</a:t>
            </a:r>
            <a:endParaRPr lang="it-IT" dirty="0">
              <a:solidFill>
                <a:srgbClr val="FF0000"/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4126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16FC75-655D-850F-9DE2-4BF9C7DD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45B566B8-A154-8A8B-DAE1-0C348D99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A7623B9-25EA-137C-BB06-BA516211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47FB3C9-9A73-2E61-82D1-E4447852C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EDE507F-0CF3-1BFD-6164-1F68042A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A5196D-E3F1-0EAD-EC9E-91656350E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r>
                  <a:rPr lang="it-IT" dirty="0" err="1"/>
                  <a:t>Example</a:t>
                </a:r>
                <a:endParaRPr lang="it-IT" dirty="0"/>
              </a:p>
              <a:p>
                <a:pPr lvl="1"/>
                <a:r>
                  <a:rPr lang="it-IT" dirty="0"/>
                  <a:t>E-step: complete the dataset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it-IT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br>
                  <a:rPr lang="it-IT" dirty="0"/>
                </a:b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A5196D-E3F1-0EAD-EC9E-91656350E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9762855-105A-94F7-0FFA-E88381F1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F873F9B-5D8B-278D-CB3D-729F0EAC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FBB01D3-387C-B4EB-2B7A-2262533EC6E7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FBB01D3-387C-B4EB-2B7A-2262533EC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FC058D7-2979-60AC-2ADB-3355788C3618}"/>
                  </a:ext>
                </a:extLst>
              </p:cNvPr>
              <p:cNvSpPr txBox="1"/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FC058D7-2979-60AC-2ADB-3355788C3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1729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2A6D9F8B-ADA0-CB2F-9636-427D99090BA8}"/>
              </a:ext>
            </a:extLst>
          </p:cNvPr>
          <p:cNvSpPr/>
          <p:nvPr/>
        </p:nvSpPr>
        <p:spPr>
          <a:xfrm>
            <a:off x="1570537" y="5847345"/>
            <a:ext cx="1761807" cy="2281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ccia a sinistra 7">
            <a:extLst>
              <a:ext uri="{FF2B5EF4-FFF2-40B4-BE49-F238E27FC236}">
                <a16:creationId xmlns:a16="http://schemas.microsoft.com/office/drawing/2014/main" id="{EA553D19-ED95-1166-D424-8CD2422DFE2E}"/>
              </a:ext>
            </a:extLst>
          </p:cNvPr>
          <p:cNvSpPr/>
          <p:nvPr/>
        </p:nvSpPr>
        <p:spPr>
          <a:xfrm>
            <a:off x="10899157" y="1790761"/>
            <a:ext cx="650513" cy="1669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a sinistra 9">
            <a:extLst>
              <a:ext uri="{FF2B5EF4-FFF2-40B4-BE49-F238E27FC236}">
                <a16:creationId xmlns:a16="http://schemas.microsoft.com/office/drawing/2014/main" id="{949083CC-A806-64C8-44F3-184CD1B24F93}"/>
              </a:ext>
            </a:extLst>
          </p:cNvPr>
          <p:cNvSpPr/>
          <p:nvPr/>
        </p:nvSpPr>
        <p:spPr>
          <a:xfrm>
            <a:off x="10899157" y="2216589"/>
            <a:ext cx="650513" cy="1669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4826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A54914-6EEE-D8EF-A946-F1848753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1A7DE128-B663-F061-1DA7-483F945DF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3E60AC8-A6FA-BDAC-283C-4E6B4DB12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329F7AB-9C71-6FEE-CA26-7BBD513CF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1E86862-7D37-DF39-3672-C46575B8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C921C4-A7AC-D493-62F7-D693E8845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r>
                  <a:rPr lang="it-IT" dirty="0" err="1"/>
                  <a:t>Example</a:t>
                </a:r>
                <a:endParaRPr lang="it-IT" dirty="0"/>
              </a:p>
              <a:p>
                <a:pPr lvl="1"/>
                <a:r>
                  <a:rPr lang="it-IT" dirty="0"/>
                  <a:t>M-step: update </a:t>
                </a:r>
                <a:r>
                  <a:rPr lang="it-IT" dirty="0" err="1"/>
                  <a:t>parameters</a:t>
                </a:r>
                <a:r>
                  <a:rPr lang="it-IT" dirty="0"/>
                  <a:t> </a:t>
                </a:r>
              </a:p>
              <a:p>
                <a:pPr marL="914400" lvl="2" indent="0">
                  <a:buNone/>
                </a:pPr>
                <a:br>
                  <a:rPr lang="it-IT" dirty="0"/>
                </a:b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C921C4-A7AC-D493-62F7-D693E8845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E27D119-CB82-52ED-302B-42121C9F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3DE2D8A-E300-950E-D5B4-08EFC8BF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4DAEE62-D404-43D5-BD92-15695343EE2D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4DAEE62-D404-43D5-BD92-15695343E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213CBFB-DFA8-1C27-18C4-1120C42BC4A1}"/>
                  </a:ext>
                </a:extLst>
              </p:cNvPr>
              <p:cNvSpPr txBox="1"/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213CBFB-DFA8-1C27-18C4-1120C42BC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1729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ccia a sinistra 7">
            <a:extLst>
              <a:ext uri="{FF2B5EF4-FFF2-40B4-BE49-F238E27FC236}">
                <a16:creationId xmlns:a16="http://schemas.microsoft.com/office/drawing/2014/main" id="{53AA8B20-58FF-CCB2-509A-07D476B38CF4}"/>
              </a:ext>
            </a:extLst>
          </p:cNvPr>
          <p:cNvSpPr/>
          <p:nvPr/>
        </p:nvSpPr>
        <p:spPr>
          <a:xfrm>
            <a:off x="10899157" y="1790761"/>
            <a:ext cx="650513" cy="1669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454EEA3-7824-4693-CDC7-C14373EC9445}"/>
              </a:ext>
            </a:extLst>
          </p:cNvPr>
          <p:cNvSpPr/>
          <p:nvPr/>
        </p:nvSpPr>
        <p:spPr>
          <a:xfrm>
            <a:off x="4369482" y="6038457"/>
            <a:ext cx="1129192" cy="27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9ED539BF-4048-5EF3-292A-57FFCB8ED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01" y="3609644"/>
            <a:ext cx="1854295" cy="50167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B5F9DEA-BA1C-C88F-E5ED-ADAEDD7644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701" y="4273324"/>
            <a:ext cx="3372023" cy="596931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41B1635-570B-E441-FFCC-96B5D846C8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482" y="3592222"/>
            <a:ext cx="2559182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533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21C78D-341C-0464-A235-FA0C8E1E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936D277B-842A-3512-8263-6E0FDC68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" y="5005168"/>
            <a:ext cx="5750365" cy="17163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C975248-0D08-C35F-775F-276D8B314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7" y="3145117"/>
            <a:ext cx="5512487" cy="28533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5FF4A49-15D1-AAB0-521B-58B5E7880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331710"/>
            <a:ext cx="3193612" cy="1389221"/>
          </a:xfrm>
          <a:prstGeom prst="rect">
            <a:avLst/>
          </a:prstGeom>
          <a:ln w="28575">
            <a:noFill/>
          </a:ln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52FC98A-AC26-EA6F-0E42-58AC1CBF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FA7CFE-787A-275D-0B6C-8A1A38E629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Partial </a:t>
                </a:r>
                <a:r>
                  <a:rPr lang="it-IT" dirty="0" err="1"/>
                  <a:t>observability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r>
                  <a:rPr lang="it-IT" dirty="0" err="1"/>
                  <a:t>Example</a:t>
                </a:r>
                <a:endParaRPr lang="it-IT" dirty="0"/>
              </a:p>
              <a:p>
                <a:pPr lvl="1"/>
                <a:r>
                  <a:rPr lang="it-IT" dirty="0"/>
                  <a:t>M-step: update </a:t>
                </a:r>
                <a:r>
                  <a:rPr lang="it-IT" dirty="0" err="1"/>
                  <a:t>parameters</a:t>
                </a:r>
                <a:r>
                  <a:rPr lang="it-IT" dirty="0"/>
                  <a:t> </a:t>
                </a:r>
              </a:p>
              <a:p>
                <a:pPr marL="914400" lvl="2" indent="0">
                  <a:buNone/>
                </a:pPr>
                <a:br>
                  <a:rPr lang="it-IT" dirty="0"/>
                </a:b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FA7CFE-787A-275D-0B6C-8A1A38E62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63C8F63-6ACD-3A07-40A0-C58C2379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B926A8D-D9B7-FE4E-42B3-263D0A8A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16C4C95-F1FE-E0F5-5216-431E70B799C2}"/>
                  </a:ext>
                </a:extLst>
              </p:cNvPr>
              <p:cNvSpPr txBox="1"/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3200" b="1" dirty="0"/>
                  <a:t>?</a:t>
                </a:r>
                <a:endParaRPr lang="it-IT" b="1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16C4C95-F1FE-E0F5-5216-431E70B79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119" y="3818933"/>
                <a:ext cx="1417627" cy="584775"/>
              </a:xfrm>
              <a:prstGeom prst="rect">
                <a:avLst/>
              </a:prstGeom>
              <a:blipFill>
                <a:blip r:embed="rId6"/>
                <a:stretch>
                  <a:fillRect t="-12500" r="-5603" b="-3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4E5D94D-33DA-6792-9A6E-53E13A5046A3}"/>
                  </a:ext>
                </a:extLst>
              </p:cNvPr>
              <p:cNvSpPr txBox="1"/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200" b="1" dirty="0"/>
                  <a:t>E = </a:t>
                </a:r>
                <a14:m>
                  <m:oMath xmlns:m="http://schemas.openxmlformats.org/officeDocument/2006/math"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32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x = </a:t>
                </a:r>
                <a:r>
                  <a:rPr lang="it-IT" b="1" dirty="0" err="1"/>
                  <a:t>observed</a:t>
                </a:r>
                <a:endParaRPr lang="it-IT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/>
                  <a:t>y = </a:t>
                </a:r>
                <a:r>
                  <a:rPr lang="it-IT" b="1" dirty="0" err="1"/>
                  <a:t>unobserved</a:t>
                </a:r>
                <a:endParaRPr lang="it-IT" b="1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4E5D94D-33DA-6792-9A6E-53E13A504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177" y="1193116"/>
                <a:ext cx="2115958" cy="1138773"/>
              </a:xfrm>
              <a:prstGeom prst="rect">
                <a:avLst/>
              </a:prstGeom>
              <a:blipFill>
                <a:blip r:embed="rId7"/>
                <a:stretch>
                  <a:fillRect l="-1729" t="-6417" b="-74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ccia a sinistra 7">
            <a:extLst>
              <a:ext uri="{FF2B5EF4-FFF2-40B4-BE49-F238E27FC236}">
                <a16:creationId xmlns:a16="http://schemas.microsoft.com/office/drawing/2014/main" id="{6D513094-7AE3-2677-A907-F9BC9EEB1852}"/>
              </a:ext>
            </a:extLst>
          </p:cNvPr>
          <p:cNvSpPr/>
          <p:nvPr/>
        </p:nvSpPr>
        <p:spPr>
          <a:xfrm>
            <a:off x="10899157" y="1790761"/>
            <a:ext cx="650513" cy="1669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F6B8A88-6B15-B757-D861-D60C7D75F9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01" y="3609644"/>
            <a:ext cx="1854295" cy="50167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D854BC07-AE06-ADEA-7D73-BAE81F222B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701" y="4273324"/>
            <a:ext cx="3372023" cy="596931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C53F82F1-291A-9732-E5F4-E3EDBD2476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482" y="3592222"/>
            <a:ext cx="2559182" cy="139072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0D98578-D8F0-18FD-0FFE-3050028B3F20}"/>
              </a:ext>
            </a:extLst>
          </p:cNvPr>
          <p:cNvSpPr txBox="1"/>
          <p:nvPr/>
        </p:nvSpPr>
        <p:spPr>
          <a:xfrm>
            <a:off x="3688285" y="5392126"/>
            <a:ext cx="2004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Gradient-based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solutions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available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3113A12-CB51-3F72-5233-FBF45C85D34E}"/>
              </a:ext>
            </a:extLst>
          </p:cNvPr>
          <p:cNvSpPr/>
          <p:nvPr/>
        </p:nvSpPr>
        <p:spPr>
          <a:xfrm>
            <a:off x="2399020" y="6038457"/>
            <a:ext cx="3099654" cy="27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86853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F307-B37C-BBD4-FC1A-DDBDEB3B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271DF0BF-5682-17FB-83E0-2E3CFC60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969" y="1943885"/>
            <a:ext cx="5512487" cy="285334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64955B1-F86B-B140-84E0-5D3A253D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C9040B0-A8DD-4430-F90E-112C93EF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01C838-737A-8B97-CAD9-1584D3E8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67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B90F09B-D232-789B-AFCB-4AFF9C8B0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33" y="1844109"/>
            <a:ext cx="6440179" cy="246314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4378D94-C8AA-6DE5-BB34-9F664EF85CB3}"/>
              </a:ext>
            </a:extLst>
          </p:cNvPr>
          <p:cNvSpPr txBox="1"/>
          <p:nvPr/>
        </p:nvSpPr>
        <p:spPr>
          <a:xfrm>
            <a:off x="744613" y="4916302"/>
            <a:ext cx="5228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Who </a:t>
            </a:r>
            <a:r>
              <a:rPr lang="it-IT" sz="2400" dirty="0" err="1"/>
              <a:t>defines</a:t>
            </a:r>
            <a:r>
              <a:rPr lang="it-IT" sz="2400" dirty="0"/>
              <a:t> the </a:t>
            </a:r>
            <a:r>
              <a:rPr lang="it-IT" sz="2400" dirty="0" err="1"/>
              <a:t>structure</a:t>
            </a:r>
            <a:r>
              <a:rPr lang="it-IT" sz="2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Only</a:t>
            </a:r>
            <a:r>
              <a:rPr lang="it-IT" sz="2400" dirty="0"/>
              <a:t> </a:t>
            </a:r>
            <a:r>
              <a:rPr lang="it-IT" sz="2400" dirty="0" err="1"/>
              <a:t>propositional</a:t>
            </a:r>
            <a:r>
              <a:rPr lang="it-IT" sz="2400" dirty="0"/>
              <a:t> </a:t>
            </a:r>
            <a:r>
              <a:rPr lang="it-IT" sz="2400" dirty="0" err="1"/>
              <a:t>variables</a:t>
            </a:r>
            <a:r>
              <a:rPr lang="it-IT" sz="2400" dirty="0"/>
              <a:t>?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8740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8C26F7-D612-92AC-2088-54B804F9D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EC158BB-31AF-D043-768E-B2DDB1321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969" y="1943885"/>
            <a:ext cx="5512487" cy="285334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40805B3-B146-E06A-91F8-F57FE7C1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F49D9F-F000-247A-E89A-EAD6F886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7627CD-FB39-69FD-D9E0-3236CC3C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68</a:t>
            </a:fld>
            <a:endParaRPr lang="de-DE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9C84A9-B1F7-BFC8-FE3E-195D1B1ACF45}"/>
              </a:ext>
            </a:extLst>
          </p:cNvPr>
          <p:cNvSpPr txBox="1"/>
          <p:nvPr/>
        </p:nvSpPr>
        <p:spPr>
          <a:xfrm>
            <a:off x="744613" y="4916302"/>
            <a:ext cx="52286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FF0000"/>
                </a:solidFill>
              </a:rPr>
              <a:t>Who </a:t>
            </a:r>
            <a:r>
              <a:rPr lang="it-IT" sz="2400" b="1" dirty="0" err="1">
                <a:solidFill>
                  <a:srgbClr val="FF0000"/>
                </a:solidFill>
              </a:rPr>
              <a:t>defines</a:t>
            </a:r>
            <a:r>
              <a:rPr lang="it-IT" sz="2400" b="1" dirty="0">
                <a:solidFill>
                  <a:srgbClr val="FF0000"/>
                </a:solidFill>
              </a:rPr>
              <a:t> the </a:t>
            </a:r>
            <a:r>
              <a:rPr lang="it-IT" sz="2400" b="1" dirty="0" err="1">
                <a:solidFill>
                  <a:srgbClr val="FF0000"/>
                </a:solidFill>
              </a:rPr>
              <a:t>structure</a:t>
            </a:r>
            <a:r>
              <a:rPr lang="it-IT" sz="2400" b="1" dirty="0">
                <a:solidFill>
                  <a:srgbClr val="FF0000"/>
                </a:solidFill>
              </a:rPr>
              <a:t>?</a:t>
            </a:r>
            <a:br>
              <a:rPr lang="it-IT" sz="24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Friedman, N. (1998, July). The Bayesian structural EM algorithm. In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Fourteenth conference on Uncertainty in artificial intelligence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129-138).</a:t>
            </a:r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Only</a:t>
            </a:r>
            <a:r>
              <a:rPr lang="it-IT" sz="2400" dirty="0"/>
              <a:t> </a:t>
            </a:r>
            <a:r>
              <a:rPr lang="it-IT" sz="2400" dirty="0" err="1"/>
              <a:t>propositional</a:t>
            </a:r>
            <a:r>
              <a:rPr lang="it-IT" sz="2400" dirty="0"/>
              <a:t> </a:t>
            </a:r>
            <a:r>
              <a:rPr lang="it-IT" sz="2400" dirty="0" err="1"/>
              <a:t>variables</a:t>
            </a:r>
            <a:r>
              <a:rPr lang="it-IT" sz="2400" dirty="0"/>
              <a:t>?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86B8A88-5C80-5F92-6A22-CABC3DCB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32" y="1642908"/>
            <a:ext cx="6397334" cy="2726574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11CCC2D6-7FB3-3E09-406E-3DA2C1A8CA4E}"/>
              </a:ext>
            </a:extLst>
          </p:cNvPr>
          <p:cNvSpPr/>
          <p:nvPr/>
        </p:nvSpPr>
        <p:spPr>
          <a:xfrm>
            <a:off x="938945" y="3602103"/>
            <a:ext cx="5470023" cy="767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7325B12-77F7-EA6F-A99E-1EB1237A3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795" y="4797232"/>
            <a:ext cx="3134834" cy="1514284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F57E431C-0BB2-8B3B-9EDE-535FE98507AC}"/>
              </a:ext>
            </a:extLst>
          </p:cNvPr>
          <p:cNvSpPr/>
          <p:nvPr/>
        </p:nvSpPr>
        <p:spPr>
          <a:xfrm>
            <a:off x="9825198" y="5897207"/>
            <a:ext cx="907431" cy="331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89440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EF5957-B7F6-E1A2-F144-80AA73CD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E0382-9F96-9252-BB94-3619C05F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Probabilistic</a:t>
            </a:r>
            <a:r>
              <a:rPr lang="it-IT" dirty="0"/>
              <a:t> learning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3038BE-BE1D-AC41-0BB0-9323C8CA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94E8DF-F712-5DCA-8635-9107038B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69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073BA21-021E-993D-1ECA-666CC8A9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033" y="1844109"/>
            <a:ext cx="6440179" cy="246314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16F8E24-9763-3BF0-2BDB-1C09C046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703" y="4223669"/>
            <a:ext cx="6750397" cy="221626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5C6536-8D82-0D6C-1B0C-E3220DA147DF}"/>
              </a:ext>
            </a:extLst>
          </p:cNvPr>
          <p:cNvSpPr txBox="1"/>
          <p:nvPr/>
        </p:nvSpPr>
        <p:spPr>
          <a:xfrm>
            <a:off x="744613" y="4916302"/>
            <a:ext cx="52286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Who </a:t>
            </a:r>
            <a:r>
              <a:rPr lang="it-IT" sz="2400" dirty="0" err="1"/>
              <a:t>defines</a:t>
            </a:r>
            <a:r>
              <a:rPr lang="it-IT" sz="2400" dirty="0"/>
              <a:t> the </a:t>
            </a:r>
            <a:r>
              <a:rPr lang="it-IT" sz="2400" dirty="0" err="1"/>
              <a:t>structure</a:t>
            </a:r>
            <a:r>
              <a:rPr lang="it-IT" sz="2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>
                <a:solidFill>
                  <a:srgbClr val="FF0000"/>
                </a:solidFill>
              </a:rPr>
              <a:t>Only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propositional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variables</a:t>
            </a:r>
            <a:r>
              <a:rPr lang="it-IT" sz="2400" b="1" dirty="0">
                <a:solidFill>
                  <a:srgbClr val="FF0000"/>
                </a:solidFill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</a:rPr>
              <a:t>Can </a:t>
            </a:r>
            <a:r>
              <a:rPr lang="it-IT" dirty="0" err="1">
                <a:solidFill>
                  <a:srgbClr val="FF0000"/>
                </a:solidFill>
              </a:rPr>
              <a:t>we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learn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probabilistic</a:t>
            </a:r>
            <a:r>
              <a:rPr lang="it-IT" dirty="0">
                <a:solidFill>
                  <a:srgbClr val="FF0000"/>
                </a:solidFill>
              </a:rPr>
              <a:t> relations over </a:t>
            </a:r>
            <a:r>
              <a:rPr lang="it-IT" b="1" dirty="0" err="1">
                <a:solidFill>
                  <a:srgbClr val="FF0000"/>
                </a:solidFill>
              </a:rPr>
              <a:t>ungrounded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predicates</a:t>
            </a:r>
            <a:r>
              <a:rPr lang="it-IT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40794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97F12E-B9AF-691D-68AB-B1F243ED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probabilistic</a:t>
            </a:r>
            <a:r>
              <a:rPr lang="it-IT" dirty="0"/>
              <a:t> (FO)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programs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B15E72-4E47-FF7F-E2A0-326E1C24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Our</a:t>
            </a:r>
            <a:r>
              <a:rPr lang="it-IT" dirty="0"/>
              <a:t> target: a </a:t>
            </a:r>
            <a:r>
              <a:rPr lang="it-IT" dirty="0" err="1"/>
              <a:t>relational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) Markov model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F67C62-1E4C-A07E-56B7-1A5CE9CD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2A6CDD7-81D6-E621-82FD-5CEFA45A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70</a:t>
            </a:fld>
            <a:endParaRPr lang="de-DE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D251593-7495-7C1A-B421-B0FA0E1A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329" y="2583530"/>
            <a:ext cx="3747268" cy="255324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CD3C005-C68A-4465-B039-9C2FF6B79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648" y="2603647"/>
            <a:ext cx="3949903" cy="200670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8584D13-0F76-1D53-4274-DDEE84E9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1" t="38730" r="79061" b="49969"/>
          <a:stretch/>
        </p:blipFill>
        <p:spPr>
          <a:xfrm>
            <a:off x="8014411" y="3108961"/>
            <a:ext cx="277977" cy="2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897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36E185-DBF2-CB36-9155-2D9D8D22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D8A960-4A7F-D6B1-A96C-341B96BF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probabilistic</a:t>
            </a:r>
            <a:r>
              <a:rPr lang="it-IT" dirty="0"/>
              <a:t> (FO)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programs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FFEB7-4DBA-06C7-A087-08BB9376D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Learning from </a:t>
            </a:r>
            <a:r>
              <a:rPr lang="it-IT" dirty="0" err="1"/>
              <a:t>interpretations</a:t>
            </a:r>
            <a:endParaRPr lang="it-IT" dirty="0"/>
          </a:p>
          <a:p>
            <a:r>
              <a:rPr lang="it-IT" dirty="0"/>
              <a:t>Learning from </a:t>
            </a:r>
            <a:r>
              <a:rPr lang="it-IT" dirty="0" err="1"/>
              <a:t>entailment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0BAC37-8B16-DE35-9DE2-6C5BADC4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2754DE9-885D-9A57-7AD3-7BD91768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10214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03EDE9-FE44-4A11-32D0-1CF3B643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3BAFF3-D5F4-05BD-90BF-F7E4A2BF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probabilistic</a:t>
            </a:r>
            <a:r>
              <a:rPr lang="it-IT" dirty="0"/>
              <a:t> (FO)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programs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95E193-3BDE-DC7C-23F0-713E7BDB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Learning from </a:t>
            </a:r>
            <a:r>
              <a:rPr lang="it-IT" b="1" dirty="0" err="1"/>
              <a:t>interpretations</a:t>
            </a:r>
            <a:endParaRPr lang="it-IT" b="1" dirty="0"/>
          </a:p>
          <a:p>
            <a:pPr lvl="1"/>
            <a:r>
              <a:rPr lang="it-IT" b="1" dirty="0" err="1"/>
              <a:t>Examples</a:t>
            </a:r>
            <a:r>
              <a:rPr lang="it-IT" dirty="0"/>
              <a:t>: </a:t>
            </a:r>
            <a:r>
              <a:rPr lang="it-IT" dirty="0" err="1"/>
              <a:t>interpretations</a:t>
            </a:r>
            <a:endParaRPr lang="it-IT" dirty="0"/>
          </a:p>
          <a:p>
            <a:pPr lvl="1"/>
            <a:r>
              <a:rPr lang="it-IT" b="1" dirty="0" err="1"/>
              <a:t>Parameter</a:t>
            </a:r>
            <a:r>
              <a:rPr lang="it-IT" dirty="0"/>
              <a:t> learning </a:t>
            </a:r>
            <a:br>
              <a:rPr lang="it-IT" dirty="0"/>
            </a:br>
            <a:r>
              <a:rPr lang="it-IT" dirty="0"/>
              <a:t>P(h=v | b=w) = p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pPr lvl="1"/>
            <a:endParaRPr lang="it-IT" dirty="0"/>
          </a:p>
          <a:p>
            <a:pPr lvl="1"/>
            <a:r>
              <a:rPr lang="it-IT" b="1" dirty="0" err="1"/>
              <a:t>Structure</a:t>
            </a:r>
            <a:r>
              <a:rPr lang="it-IT" dirty="0"/>
              <a:t> learning: </a:t>
            </a:r>
            <a:r>
              <a:rPr lang="it-IT" dirty="0" err="1"/>
              <a:t>generalization</a:t>
            </a:r>
            <a:r>
              <a:rPr lang="it-IT" dirty="0"/>
              <a:t>/</a:t>
            </a:r>
            <a:r>
              <a:rPr lang="it-IT" dirty="0" err="1"/>
              <a:t>specialization</a:t>
            </a:r>
            <a:r>
              <a:rPr lang="it-IT" dirty="0"/>
              <a:t> </a:t>
            </a:r>
            <a:r>
              <a:rPr lang="it-IT" dirty="0" err="1"/>
              <a:t>operators</a:t>
            </a:r>
            <a:endParaRPr lang="it-IT" dirty="0"/>
          </a:p>
          <a:p>
            <a:r>
              <a:rPr lang="it-IT" dirty="0"/>
              <a:t>Learning from </a:t>
            </a:r>
            <a:r>
              <a:rPr lang="it-IT" dirty="0" err="1"/>
              <a:t>entailment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F7EF972-154D-1CA0-E625-EFDC2A06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354D1D-E188-371D-A746-A4325118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72</a:t>
            </a:fld>
            <a:endParaRPr lang="de-DE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39956F4-00F0-9F81-DAAA-3CFFCF72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714" y="1920521"/>
            <a:ext cx="5495163" cy="892071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FBF70D5-19E4-FD4B-B3E0-33E2FD9ECA78}"/>
              </a:ext>
            </a:extLst>
          </p:cNvPr>
          <p:cNvSpPr/>
          <p:nvPr/>
        </p:nvSpPr>
        <p:spPr>
          <a:xfrm>
            <a:off x="5948714" y="2381122"/>
            <a:ext cx="1341938" cy="23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2B386E2-DBE4-DF27-C3E3-0DA3832B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18" y="3457874"/>
            <a:ext cx="4042232" cy="1298235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FFD81918-31FE-66F0-3D11-E532B199EB67}"/>
              </a:ext>
            </a:extLst>
          </p:cNvPr>
          <p:cNvSpPr/>
          <p:nvPr/>
        </p:nvSpPr>
        <p:spPr>
          <a:xfrm>
            <a:off x="2860824" y="3429000"/>
            <a:ext cx="778365" cy="922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79589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34E158-E3E5-2702-3A6F-936C2FCB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83555D-1449-6475-5B0C-1AA49247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probabilistic</a:t>
            </a:r>
            <a:r>
              <a:rPr lang="it-IT" dirty="0"/>
              <a:t> (FO)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programs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AE49EE-0EDB-6207-5472-886AF4EE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Learning from </a:t>
            </a:r>
            <a:r>
              <a:rPr lang="it-IT" dirty="0" err="1"/>
              <a:t>interpretations</a:t>
            </a:r>
            <a:endParaRPr lang="it-IT" dirty="0"/>
          </a:p>
          <a:p>
            <a:r>
              <a:rPr lang="it-IT" b="1" dirty="0"/>
              <a:t>Learning from </a:t>
            </a:r>
            <a:r>
              <a:rPr lang="it-IT" b="1" dirty="0" err="1"/>
              <a:t>entailment</a:t>
            </a:r>
            <a:endParaRPr lang="it-IT" dirty="0"/>
          </a:p>
          <a:p>
            <a:pPr lvl="1"/>
            <a:r>
              <a:rPr lang="it-IT" dirty="0" err="1"/>
              <a:t>Examples</a:t>
            </a:r>
            <a:r>
              <a:rPr lang="it-IT" dirty="0"/>
              <a:t> are rules</a:t>
            </a:r>
          </a:p>
          <a:p>
            <a:pPr lvl="2"/>
            <a:r>
              <a:rPr lang="it-IT" dirty="0" err="1"/>
              <a:t>Structure</a:t>
            </a:r>
            <a:r>
              <a:rPr lang="it-IT" dirty="0"/>
              <a:t> learning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probabilistic</a:t>
            </a:r>
            <a:r>
              <a:rPr lang="it-IT" dirty="0"/>
              <a:t> and </a:t>
            </a:r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1"/>
            <a:r>
              <a:rPr lang="it-IT" dirty="0"/>
              <a:t>Hard and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largely</a:t>
            </a:r>
            <a:r>
              <a:rPr lang="it-IT" dirty="0"/>
              <a:t> </a:t>
            </a:r>
            <a:r>
              <a:rPr lang="it-IT" dirty="0" err="1"/>
              <a:t>unsolved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DD97CBB-1A5D-8276-5C85-C0AAEC7C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C0C717F-E4E3-1216-EFCE-157D6997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0984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621B84-D35F-5443-4D3D-9E5633A9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Relational</a:t>
            </a:r>
            <a:r>
              <a:rPr lang="it-IT" dirty="0"/>
              <a:t> </a:t>
            </a:r>
            <a:r>
              <a:rPr lang="it-IT" dirty="0" err="1"/>
              <a:t>Reinforcement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BA372F-2DC9-7B56-A923-111FB87B6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learn</a:t>
            </a:r>
            <a:r>
              <a:rPr lang="it-IT" dirty="0"/>
              <a:t> a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program</a:t>
            </a:r>
            <a:r>
              <a:rPr lang="it-IT" dirty="0"/>
              <a:t>, can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online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42D00D7-D39B-92BC-4A61-3C0B361D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AE065A-FC2D-383F-377E-3A7DAC47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74</a:t>
            </a:fld>
            <a:endParaRPr lang="de-DE"/>
          </a:p>
        </p:txBody>
      </p:sp>
      <p:pic>
        <p:nvPicPr>
          <p:cNvPr id="6" name="Immagine 5" descr="Deep Reinforcement Learning: Artificial Intelligence, Machine Learning and Deep  Learning — Introduction, Overview and Contrast for Beginners | by Vishnu  Vijayan PV | Medium">
            <a:extLst>
              <a:ext uri="{FF2B5EF4-FFF2-40B4-BE49-F238E27FC236}">
                <a16:creationId xmlns:a16="http://schemas.microsoft.com/office/drawing/2014/main" id="{7B571F4E-7EE5-6AD9-C4E2-25469937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700" y="3194171"/>
            <a:ext cx="3535818" cy="161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955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276154-8525-8DD7-1C64-2DB9A850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Relational</a:t>
            </a:r>
            <a:r>
              <a:rPr lang="it-IT" dirty="0"/>
              <a:t> </a:t>
            </a:r>
            <a:r>
              <a:rPr lang="it-IT" dirty="0" err="1"/>
              <a:t>Reinforcement</a:t>
            </a:r>
            <a:r>
              <a:rPr lang="it-IT" dirty="0"/>
              <a:t>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9ADC2F-E74A-E03A-17FC-E877308B8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Relational</a:t>
            </a:r>
            <a:r>
              <a:rPr lang="it-IT" dirty="0"/>
              <a:t> Markov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 dirty="0"/>
              <a:t> (RMDP)</a:t>
            </a:r>
          </a:p>
          <a:p>
            <a:pPr lvl="1"/>
            <a:r>
              <a:rPr lang="it-IT" dirty="0" err="1"/>
              <a:t>Relational</a:t>
            </a:r>
            <a:r>
              <a:rPr lang="it-IT" dirty="0"/>
              <a:t> </a:t>
            </a:r>
            <a:r>
              <a:rPr lang="it-IT" dirty="0" err="1"/>
              <a:t>states</a:t>
            </a:r>
            <a:r>
              <a:rPr lang="it-IT" dirty="0"/>
              <a:t> and actions: </a:t>
            </a: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predicates</a:t>
            </a:r>
            <a:r>
              <a:rPr lang="it-IT" dirty="0"/>
              <a:t> in a </a:t>
            </a:r>
            <a:r>
              <a:rPr lang="it-IT" dirty="0" err="1"/>
              <a:t>sorted</a:t>
            </a:r>
            <a:r>
              <a:rPr lang="it-IT" dirty="0"/>
              <a:t> signature</a:t>
            </a:r>
          </a:p>
          <a:p>
            <a:pPr lvl="1"/>
            <a:r>
              <a:rPr lang="it-IT" dirty="0" err="1"/>
              <a:t>Relational</a:t>
            </a:r>
            <a:r>
              <a:rPr lang="it-IT" dirty="0"/>
              <a:t> </a:t>
            </a:r>
            <a:r>
              <a:rPr lang="it-IT" dirty="0" err="1"/>
              <a:t>transition</a:t>
            </a:r>
            <a:r>
              <a:rPr lang="it-IT" dirty="0"/>
              <a:t> and </a:t>
            </a:r>
            <a:r>
              <a:rPr lang="it-IT" dirty="0" err="1"/>
              <a:t>reward</a:t>
            </a:r>
            <a:r>
              <a:rPr lang="it-IT" dirty="0"/>
              <a:t> </a:t>
            </a:r>
            <a:r>
              <a:rPr lang="it-IT" dirty="0" err="1"/>
              <a:t>maps</a:t>
            </a:r>
            <a:br>
              <a:rPr lang="it-IT" dirty="0"/>
            </a:br>
            <a:r>
              <a:rPr lang="it-IT" dirty="0" err="1"/>
              <a:t>move</a:t>
            </a:r>
            <a:r>
              <a:rPr lang="it-IT" dirty="0"/>
              <a:t>(X,Y,Z) := </a:t>
            </a:r>
            <a:r>
              <a:rPr lang="it-IT" dirty="0" err="1"/>
              <a:t>move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X from Z to Y, e.g., in Tower of Hanoi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9F354A-E2D8-327D-4EFC-CFD64EC0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F4CBD5A-50D8-810A-BD3E-F45BA3A7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75</a:t>
            </a:fld>
            <a:endParaRPr lang="de-DE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6792C9D-3BEE-4E3E-28D4-3E30CF845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304" y="3518669"/>
            <a:ext cx="5493032" cy="4826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185478D-399D-9F80-D5C3-CB9BE4EAC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304" y="4136231"/>
            <a:ext cx="1587582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952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D9D8-0F47-99B6-CC3A-1823077C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approach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A6894B-7571-54D2-1586-65ECF8DD1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How to plan and </a:t>
            </a:r>
            <a:r>
              <a:rPr lang="it-IT" dirty="0" err="1"/>
              <a:t>learn</a:t>
            </a:r>
            <a:r>
              <a:rPr lang="it-IT" dirty="0"/>
              <a:t> with </a:t>
            </a:r>
            <a:r>
              <a:rPr lang="it-IT" dirty="0" err="1"/>
              <a:t>RMDPs</a:t>
            </a:r>
            <a:r>
              <a:rPr lang="it-IT" dirty="0"/>
              <a:t>?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66568C-F69B-CCFA-FFA4-1EBA2DF8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9DB86CF-1EEC-766F-73A5-736DB193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76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5C08E7-CA42-F722-2D1A-1EA0C7BB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4025"/>
            <a:ext cx="6157848" cy="343556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66D92E-C0A2-05AB-C6DC-53C12EAA08D0}"/>
              </a:ext>
            </a:extLst>
          </p:cNvPr>
          <p:cNvSpPr txBox="1"/>
          <p:nvPr/>
        </p:nvSpPr>
        <p:spPr>
          <a:xfrm>
            <a:off x="889571" y="1250390"/>
            <a:ext cx="858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>
                <a:ea typeface="+mn-lt"/>
                <a:cs typeface="+mn-lt"/>
              </a:rPr>
              <a:t>Hazra</a:t>
            </a:r>
            <a:r>
              <a:rPr lang="it-IT" sz="1200" dirty="0">
                <a:ea typeface="+mn-lt"/>
                <a:cs typeface="+mn-lt"/>
              </a:rPr>
              <a:t>, R., &amp; De </a:t>
            </a:r>
            <a:r>
              <a:rPr lang="it-IT" sz="1200" dirty="0" err="1">
                <a:ea typeface="+mn-lt"/>
                <a:cs typeface="+mn-lt"/>
              </a:rPr>
              <a:t>Raedt</a:t>
            </a:r>
            <a:r>
              <a:rPr lang="it-IT" sz="1200" dirty="0">
                <a:ea typeface="+mn-lt"/>
                <a:cs typeface="+mn-lt"/>
              </a:rPr>
              <a:t>, L. (2023, </a:t>
            </a:r>
            <a:r>
              <a:rPr lang="it-IT" sz="1200" dirty="0" err="1">
                <a:ea typeface="+mn-lt"/>
                <a:cs typeface="+mn-lt"/>
              </a:rPr>
              <a:t>September</a:t>
            </a:r>
            <a:r>
              <a:rPr lang="it-IT" sz="1200" dirty="0">
                <a:ea typeface="+mn-lt"/>
                <a:cs typeface="+mn-lt"/>
              </a:rPr>
              <a:t>). Deep </a:t>
            </a:r>
            <a:r>
              <a:rPr lang="it-IT" sz="1200" dirty="0" err="1">
                <a:ea typeface="+mn-lt"/>
                <a:cs typeface="+mn-lt"/>
              </a:rPr>
              <a:t>explainable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relational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reinforcement</a:t>
            </a:r>
            <a:r>
              <a:rPr lang="it-IT" sz="1200" dirty="0">
                <a:ea typeface="+mn-lt"/>
                <a:cs typeface="+mn-lt"/>
              </a:rPr>
              <a:t> learning: a neuro-</a:t>
            </a:r>
            <a:r>
              <a:rPr lang="it-IT" sz="1200" dirty="0" err="1">
                <a:ea typeface="+mn-lt"/>
                <a:cs typeface="+mn-lt"/>
              </a:rPr>
              <a:t>symbolic</a:t>
            </a:r>
            <a:r>
              <a:rPr lang="it-IT" sz="1200" dirty="0">
                <a:ea typeface="+mn-lt"/>
                <a:cs typeface="+mn-lt"/>
              </a:rPr>
              <a:t> approach. In Joint </a:t>
            </a:r>
            <a:r>
              <a:rPr lang="it-IT" sz="1200" dirty="0" err="1">
                <a:ea typeface="+mn-lt"/>
                <a:cs typeface="+mn-lt"/>
              </a:rPr>
              <a:t>European</a:t>
            </a:r>
            <a:r>
              <a:rPr lang="it-IT" sz="1200" dirty="0">
                <a:ea typeface="+mn-lt"/>
                <a:cs typeface="+mn-lt"/>
              </a:rPr>
              <a:t> Conference on Machine Learning and Knowledge Discovery in Databases (pp. 213-229). Cham: Springer Nature </a:t>
            </a:r>
            <a:r>
              <a:rPr lang="it-IT" sz="1200" dirty="0" err="1">
                <a:ea typeface="+mn-lt"/>
                <a:cs typeface="+mn-lt"/>
              </a:rPr>
              <a:t>Switzerland</a:t>
            </a:r>
            <a:r>
              <a:rPr lang="it-IT" sz="1200" dirty="0">
                <a:ea typeface="+mn-lt"/>
                <a:cs typeface="+mn-lt"/>
              </a:rPr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C897D3F-AA59-2B52-D2FE-53E91A75D7C2}"/>
              </a:ext>
            </a:extLst>
          </p:cNvPr>
          <p:cNvSpPr txBox="1"/>
          <p:nvPr/>
        </p:nvSpPr>
        <p:spPr>
          <a:xfrm>
            <a:off x="6762995" y="3751429"/>
            <a:ext cx="3431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Map</a:t>
            </a:r>
            <a:r>
              <a:rPr lang="it-IT" sz="1400" b="1" dirty="0"/>
              <a:t> state -&gt; </a:t>
            </a:r>
            <a:r>
              <a:rPr lang="it-IT" sz="1400" b="1" dirty="0" err="1"/>
              <a:t>logical</a:t>
            </a:r>
            <a:r>
              <a:rPr lang="it-IT" sz="1400" b="1" dirty="0"/>
              <a:t> </a:t>
            </a:r>
            <a:r>
              <a:rPr lang="it-IT" sz="1400" b="1" dirty="0" err="1"/>
              <a:t>predicates</a:t>
            </a:r>
            <a:endParaRPr lang="it-IT" sz="14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32312AD-54AE-E1C3-0623-362913D8BDD9}"/>
              </a:ext>
            </a:extLst>
          </p:cNvPr>
          <p:cNvSpPr txBox="1"/>
          <p:nvPr/>
        </p:nvSpPr>
        <p:spPr>
          <a:xfrm>
            <a:off x="6762995" y="4489323"/>
            <a:ext cx="3431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Logical </a:t>
            </a:r>
            <a:r>
              <a:rPr lang="it-IT" sz="1400" b="1" dirty="0" err="1"/>
              <a:t>reasoning</a:t>
            </a:r>
            <a:endParaRPr lang="it-IT" sz="1400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A1DA983-EE7A-8364-DD6A-E630243448D2}"/>
              </a:ext>
            </a:extLst>
          </p:cNvPr>
          <p:cNvSpPr txBox="1"/>
          <p:nvPr/>
        </p:nvSpPr>
        <p:spPr>
          <a:xfrm>
            <a:off x="6762995" y="4120376"/>
            <a:ext cx="3431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Pick actions with </a:t>
            </a:r>
            <a:r>
              <a:rPr lang="it-IT" sz="1400" b="1" dirty="0" err="1"/>
              <a:t>probabilistic</a:t>
            </a:r>
            <a:r>
              <a:rPr lang="it-IT" sz="1400" b="1" dirty="0"/>
              <a:t> weights</a:t>
            </a:r>
          </a:p>
        </p:txBody>
      </p:sp>
    </p:spTree>
    <p:extLst>
      <p:ext uri="{BB962C8B-B14F-4D97-AF65-F5344CB8AC3E}">
        <p14:creationId xmlns:p14="http://schemas.microsoft.com/office/powerpoint/2010/main" val="14442316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4C9E-152F-9656-1391-703D49A7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2DD3F-5FF0-2DB7-E3A8-B3AE8DC3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approach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34058D-E1DC-8960-5258-9BDD286B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How to plan and </a:t>
            </a:r>
            <a:r>
              <a:rPr lang="it-IT" dirty="0" err="1"/>
              <a:t>learn</a:t>
            </a:r>
            <a:r>
              <a:rPr lang="it-IT" dirty="0"/>
              <a:t> with </a:t>
            </a:r>
            <a:r>
              <a:rPr lang="it-IT" dirty="0" err="1"/>
              <a:t>RMDPs</a:t>
            </a:r>
            <a:r>
              <a:rPr lang="it-IT" dirty="0"/>
              <a:t>?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49E8CC0-D676-1ED1-2752-C7FFFB1F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EA901C4-401E-A3DD-4F86-3679EBF0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77</a:t>
            </a:fld>
            <a:endParaRPr lang="de-DE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5026CC8-97CD-93C0-DD02-56B225A70F3C}"/>
              </a:ext>
            </a:extLst>
          </p:cNvPr>
          <p:cNvSpPr txBox="1"/>
          <p:nvPr/>
        </p:nvSpPr>
        <p:spPr>
          <a:xfrm>
            <a:off x="889571" y="1250390"/>
            <a:ext cx="858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>
                <a:ea typeface="+mn-lt"/>
                <a:cs typeface="+mn-lt"/>
              </a:rPr>
              <a:t>Hazra</a:t>
            </a:r>
            <a:r>
              <a:rPr lang="it-IT" sz="1200" dirty="0">
                <a:ea typeface="+mn-lt"/>
                <a:cs typeface="+mn-lt"/>
              </a:rPr>
              <a:t>, R., &amp; De </a:t>
            </a:r>
            <a:r>
              <a:rPr lang="it-IT" sz="1200" dirty="0" err="1">
                <a:ea typeface="+mn-lt"/>
                <a:cs typeface="+mn-lt"/>
              </a:rPr>
              <a:t>Raedt</a:t>
            </a:r>
            <a:r>
              <a:rPr lang="it-IT" sz="1200" dirty="0">
                <a:ea typeface="+mn-lt"/>
                <a:cs typeface="+mn-lt"/>
              </a:rPr>
              <a:t>, L. (2023, </a:t>
            </a:r>
            <a:r>
              <a:rPr lang="it-IT" sz="1200" dirty="0" err="1">
                <a:ea typeface="+mn-lt"/>
                <a:cs typeface="+mn-lt"/>
              </a:rPr>
              <a:t>September</a:t>
            </a:r>
            <a:r>
              <a:rPr lang="it-IT" sz="1200" dirty="0">
                <a:ea typeface="+mn-lt"/>
                <a:cs typeface="+mn-lt"/>
              </a:rPr>
              <a:t>). Deep </a:t>
            </a:r>
            <a:r>
              <a:rPr lang="it-IT" sz="1200" dirty="0" err="1">
                <a:ea typeface="+mn-lt"/>
                <a:cs typeface="+mn-lt"/>
              </a:rPr>
              <a:t>explainable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relational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reinforcement</a:t>
            </a:r>
            <a:r>
              <a:rPr lang="it-IT" sz="1200" dirty="0">
                <a:ea typeface="+mn-lt"/>
                <a:cs typeface="+mn-lt"/>
              </a:rPr>
              <a:t> learning: a neuro-</a:t>
            </a:r>
            <a:r>
              <a:rPr lang="it-IT" sz="1200" dirty="0" err="1">
                <a:ea typeface="+mn-lt"/>
                <a:cs typeface="+mn-lt"/>
              </a:rPr>
              <a:t>symbolic</a:t>
            </a:r>
            <a:r>
              <a:rPr lang="it-IT" sz="1200" dirty="0">
                <a:ea typeface="+mn-lt"/>
                <a:cs typeface="+mn-lt"/>
              </a:rPr>
              <a:t> approach. In Joint </a:t>
            </a:r>
            <a:r>
              <a:rPr lang="it-IT" sz="1200" dirty="0" err="1">
                <a:ea typeface="+mn-lt"/>
                <a:cs typeface="+mn-lt"/>
              </a:rPr>
              <a:t>European</a:t>
            </a:r>
            <a:r>
              <a:rPr lang="it-IT" sz="1200" dirty="0">
                <a:ea typeface="+mn-lt"/>
                <a:cs typeface="+mn-lt"/>
              </a:rPr>
              <a:t> Conference on Machine Learning and Knowledge Discovery in Databases (pp. 213-229). Cham: Springer Nature </a:t>
            </a:r>
            <a:r>
              <a:rPr lang="it-IT" sz="1200" dirty="0" err="1">
                <a:ea typeface="+mn-lt"/>
                <a:cs typeface="+mn-lt"/>
              </a:rPr>
              <a:t>Switzerland</a:t>
            </a:r>
            <a:r>
              <a:rPr lang="it-IT" sz="1200" dirty="0">
                <a:ea typeface="+mn-lt"/>
                <a:cs typeface="+mn-lt"/>
              </a:rPr>
              <a:t>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029347C-2A8B-CBB7-20B0-118F3424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2" y="2426148"/>
            <a:ext cx="2940201" cy="311166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D31F3F7-7C24-81AF-1ADC-38BDF22D8247}"/>
              </a:ext>
            </a:extLst>
          </p:cNvPr>
          <p:cNvSpPr txBox="1"/>
          <p:nvPr/>
        </p:nvSpPr>
        <p:spPr>
          <a:xfrm>
            <a:off x="1584662" y="5495848"/>
            <a:ext cx="216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Learned</a:t>
            </a:r>
            <a:r>
              <a:rPr lang="it-IT" dirty="0"/>
              <a:t> policy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2B646AA-F5F0-7748-F1AF-2757217B0761}"/>
              </a:ext>
            </a:extLst>
          </p:cNvPr>
          <p:cNvSpPr txBox="1"/>
          <p:nvPr/>
        </p:nvSpPr>
        <p:spPr>
          <a:xfrm>
            <a:off x="5344156" y="5265015"/>
            <a:ext cx="4053936" cy="923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Higher</a:t>
            </a:r>
            <a:r>
              <a:rPr lang="it-IT" b="1" dirty="0"/>
              <a:t> </a:t>
            </a:r>
            <a:r>
              <a:rPr lang="it-IT" b="1" dirty="0" err="1"/>
              <a:t>return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Logical</a:t>
            </a:r>
            <a:r>
              <a:rPr lang="it-IT" b="1" dirty="0"/>
              <a:t> (</a:t>
            </a:r>
            <a:r>
              <a:rPr lang="it-IT" b="1" dirty="0" err="1"/>
              <a:t>relational</a:t>
            </a:r>
            <a:r>
              <a:rPr lang="it-IT" b="1" dirty="0"/>
              <a:t>) </a:t>
            </a:r>
            <a:r>
              <a:rPr lang="it-IT" b="1" dirty="0" err="1"/>
              <a:t>robustness</a:t>
            </a:r>
            <a:r>
              <a:rPr lang="it-IT" b="1" dirty="0"/>
              <a:t> and </a:t>
            </a:r>
            <a:r>
              <a:rPr lang="it-IT" b="1" dirty="0" err="1"/>
              <a:t>generality</a:t>
            </a:r>
            <a:endParaRPr lang="it-IT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E7B5F4B-DA85-D163-A19D-DD9FF3AE1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715" y="3028405"/>
            <a:ext cx="6674193" cy="118116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C2172F8-B19F-C53F-B2C5-478612D86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922" y="2650839"/>
            <a:ext cx="6883754" cy="419122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0F5A0196-37A8-9069-166D-8AF83BB2CDE6}"/>
              </a:ext>
            </a:extLst>
          </p:cNvPr>
          <p:cNvSpPr/>
          <p:nvPr/>
        </p:nvSpPr>
        <p:spPr>
          <a:xfrm>
            <a:off x="7558615" y="2650839"/>
            <a:ext cx="1468783" cy="16081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09AB45F-8158-52B7-8745-286CC55101EB}"/>
              </a:ext>
            </a:extLst>
          </p:cNvPr>
          <p:cNvSpPr/>
          <p:nvPr/>
        </p:nvSpPr>
        <p:spPr>
          <a:xfrm>
            <a:off x="9199729" y="2650839"/>
            <a:ext cx="1294392" cy="16081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0C28B64-1BAE-52A4-32D6-356F53D690B0}"/>
              </a:ext>
            </a:extLst>
          </p:cNvPr>
          <p:cNvSpPr txBox="1"/>
          <p:nvPr/>
        </p:nvSpPr>
        <p:spPr>
          <a:xfrm>
            <a:off x="7947799" y="2235261"/>
            <a:ext cx="157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F0"/>
                </a:solidFill>
              </a:rPr>
              <a:t>NeSy</a:t>
            </a:r>
            <a:endParaRPr lang="it-IT" b="1" dirty="0">
              <a:solidFill>
                <a:srgbClr val="00B0F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56FC581-A2A3-A8B5-2726-516C4D7B2E27}"/>
              </a:ext>
            </a:extLst>
          </p:cNvPr>
          <p:cNvSpPr txBox="1"/>
          <p:nvPr/>
        </p:nvSpPr>
        <p:spPr>
          <a:xfrm>
            <a:off x="9472291" y="2236441"/>
            <a:ext cx="157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Neural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8561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5040-C765-3E2C-3919-87795657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90F73E-6E7B-DC89-DBF9-B49061B6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approach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61ECAB-30C0-1A0D-5D72-15021A852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683" cy="4351338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Some </a:t>
            </a:r>
            <a:r>
              <a:rPr lang="it-IT" b="1" dirty="0" err="1"/>
              <a:t>limitations</a:t>
            </a:r>
            <a:endParaRPr lang="it-IT" b="1" dirty="0"/>
          </a:p>
          <a:p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/ </a:t>
            </a:r>
            <a:r>
              <a:rPr lang="it-IT" dirty="0" err="1"/>
              <a:t>observations</a:t>
            </a:r>
            <a:r>
              <a:rPr lang="it-IT" dirty="0"/>
              <a:t> and actions?</a:t>
            </a:r>
          </a:p>
          <a:p>
            <a:r>
              <a:rPr lang="it-IT" dirty="0"/>
              <a:t>Large ground (</a:t>
            </a:r>
            <a:r>
              <a:rPr lang="it-IT" dirty="0" err="1"/>
              <a:t>Herbrand</a:t>
            </a:r>
            <a:r>
              <a:rPr lang="it-IT" dirty="0"/>
              <a:t>) </a:t>
            </a:r>
            <a:r>
              <a:rPr lang="it-IT" dirty="0" err="1"/>
              <a:t>space</a:t>
            </a:r>
            <a:endParaRPr lang="it-IT" dirty="0"/>
          </a:p>
          <a:p>
            <a:r>
              <a:rPr lang="it-IT" dirty="0" err="1"/>
              <a:t>Structural</a:t>
            </a:r>
            <a:r>
              <a:rPr lang="it-IT" dirty="0"/>
              <a:t> and </a:t>
            </a:r>
            <a:r>
              <a:rPr lang="it-IT" dirty="0" err="1"/>
              <a:t>parameter</a:t>
            </a:r>
            <a:r>
              <a:rPr lang="it-IT" dirty="0"/>
              <a:t> learning </a:t>
            </a:r>
            <a:r>
              <a:rPr lang="it-IT" dirty="0" err="1"/>
              <a:t>is</a:t>
            </a:r>
            <a:r>
              <a:rPr lang="it-IT" dirty="0"/>
              <a:t> hard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081CA3-4E17-4129-2455-2865D80E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1EFA572-C089-26DC-5860-729A30D5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78</a:t>
            </a:fld>
            <a:endParaRPr lang="de-DE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B576BE7-FAEC-ED81-EE13-C71E7E46FF5E}"/>
              </a:ext>
            </a:extLst>
          </p:cNvPr>
          <p:cNvSpPr txBox="1"/>
          <p:nvPr/>
        </p:nvSpPr>
        <p:spPr>
          <a:xfrm>
            <a:off x="889571" y="1250390"/>
            <a:ext cx="858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>
                <a:ea typeface="+mn-lt"/>
                <a:cs typeface="+mn-lt"/>
              </a:rPr>
              <a:t>Hazra</a:t>
            </a:r>
            <a:r>
              <a:rPr lang="it-IT" sz="1200" dirty="0">
                <a:ea typeface="+mn-lt"/>
                <a:cs typeface="+mn-lt"/>
              </a:rPr>
              <a:t>, R., &amp; De </a:t>
            </a:r>
            <a:r>
              <a:rPr lang="it-IT" sz="1200" dirty="0" err="1">
                <a:ea typeface="+mn-lt"/>
                <a:cs typeface="+mn-lt"/>
              </a:rPr>
              <a:t>Raedt</a:t>
            </a:r>
            <a:r>
              <a:rPr lang="it-IT" sz="1200" dirty="0">
                <a:ea typeface="+mn-lt"/>
                <a:cs typeface="+mn-lt"/>
              </a:rPr>
              <a:t>, L. (2023, </a:t>
            </a:r>
            <a:r>
              <a:rPr lang="it-IT" sz="1200" dirty="0" err="1">
                <a:ea typeface="+mn-lt"/>
                <a:cs typeface="+mn-lt"/>
              </a:rPr>
              <a:t>September</a:t>
            </a:r>
            <a:r>
              <a:rPr lang="it-IT" sz="1200" dirty="0">
                <a:ea typeface="+mn-lt"/>
                <a:cs typeface="+mn-lt"/>
              </a:rPr>
              <a:t>). Deep </a:t>
            </a:r>
            <a:r>
              <a:rPr lang="it-IT" sz="1200" dirty="0" err="1">
                <a:ea typeface="+mn-lt"/>
                <a:cs typeface="+mn-lt"/>
              </a:rPr>
              <a:t>explainable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relational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reinforcement</a:t>
            </a:r>
            <a:r>
              <a:rPr lang="it-IT" sz="1200" dirty="0">
                <a:ea typeface="+mn-lt"/>
                <a:cs typeface="+mn-lt"/>
              </a:rPr>
              <a:t> learning: a neuro-</a:t>
            </a:r>
            <a:r>
              <a:rPr lang="it-IT" sz="1200" dirty="0" err="1">
                <a:ea typeface="+mn-lt"/>
                <a:cs typeface="+mn-lt"/>
              </a:rPr>
              <a:t>symbolic</a:t>
            </a:r>
            <a:r>
              <a:rPr lang="it-IT" sz="1200" dirty="0">
                <a:ea typeface="+mn-lt"/>
                <a:cs typeface="+mn-lt"/>
              </a:rPr>
              <a:t> approach. In Joint </a:t>
            </a:r>
            <a:r>
              <a:rPr lang="it-IT" sz="1200" dirty="0" err="1">
                <a:ea typeface="+mn-lt"/>
                <a:cs typeface="+mn-lt"/>
              </a:rPr>
              <a:t>European</a:t>
            </a:r>
            <a:r>
              <a:rPr lang="it-IT" sz="1200" dirty="0">
                <a:ea typeface="+mn-lt"/>
                <a:cs typeface="+mn-lt"/>
              </a:rPr>
              <a:t> Conference on Machine Learning and Knowledge Discovery in Databases (pp. 213-229). Cham: Springer Nature </a:t>
            </a:r>
            <a:r>
              <a:rPr lang="it-IT" sz="1200" dirty="0" err="1">
                <a:ea typeface="+mn-lt"/>
                <a:cs typeface="+mn-lt"/>
              </a:rPr>
              <a:t>Switzerland</a:t>
            </a:r>
            <a:r>
              <a:rPr lang="it-IT" sz="1200" dirty="0">
                <a:ea typeface="+mn-lt"/>
                <a:cs typeface="+mn-lt"/>
              </a:rPr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DE24888-FB8A-DE04-C274-32EAF5CC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89" y="1891442"/>
            <a:ext cx="5279857" cy="294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491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F5D2-F687-D1FD-637B-895A4A09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B3E3DB-D709-3C11-843B-F5991337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neuro_{</a:t>
            </a:r>
            <a:r>
              <a:rPr lang="it-IT" dirty="0" err="1"/>
              <a:t>symbolic</a:t>
            </a:r>
            <a:r>
              <a:rPr lang="it-IT" dirty="0"/>
              <a:t>} </a:t>
            </a:r>
            <a:r>
              <a:rPr lang="it-IT" dirty="0" err="1"/>
              <a:t>approach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A80B5E-FDF7-6336-E773-45062C685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683" cy="4351338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Some </a:t>
            </a:r>
            <a:r>
              <a:rPr lang="it-IT" b="1" dirty="0" err="1"/>
              <a:t>limitations</a:t>
            </a:r>
            <a:endParaRPr lang="it-IT" b="1" dirty="0"/>
          </a:p>
          <a:p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/ </a:t>
            </a:r>
            <a:r>
              <a:rPr lang="it-IT" dirty="0" err="1"/>
              <a:t>observations</a:t>
            </a:r>
            <a:r>
              <a:rPr lang="it-IT" dirty="0"/>
              <a:t> and actions?</a:t>
            </a:r>
          </a:p>
          <a:p>
            <a:r>
              <a:rPr lang="it-IT" dirty="0"/>
              <a:t>Large ground (</a:t>
            </a:r>
            <a:r>
              <a:rPr lang="it-IT" dirty="0" err="1"/>
              <a:t>Herbrand</a:t>
            </a:r>
            <a:r>
              <a:rPr lang="it-IT" dirty="0"/>
              <a:t>) </a:t>
            </a:r>
            <a:r>
              <a:rPr lang="it-IT" dirty="0" err="1"/>
              <a:t>space</a:t>
            </a:r>
            <a:endParaRPr lang="it-IT" dirty="0"/>
          </a:p>
          <a:p>
            <a:r>
              <a:rPr lang="it-IT" dirty="0" err="1"/>
              <a:t>Structural</a:t>
            </a:r>
            <a:r>
              <a:rPr lang="it-IT" dirty="0"/>
              <a:t> and </a:t>
            </a:r>
            <a:r>
              <a:rPr lang="it-IT" dirty="0" err="1"/>
              <a:t>parameter</a:t>
            </a:r>
            <a:r>
              <a:rPr lang="it-IT" dirty="0"/>
              <a:t> learning </a:t>
            </a:r>
            <a:r>
              <a:rPr lang="it-IT" dirty="0" err="1"/>
              <a:t>is</a:t>
            </a:r>
            <a:r>
              <a:rPr lang="it-IT" dirty="0"/>
              <a:t> hard</a:t>
            </a:r>
          </a:p>
          <a:p>
            <a:r>
              <a:rPr lang="it-IT" b="1" dirty="0" err="1"/>
              <a:t>Humans</a:t>
            </a:r>
            <a:r>
              <a:rPr lang="it-IT" b="1" dirty="0"/>
              <a:t> are </a:t>
            </a:r>
            <a:r>
              <a:rPr lang="it-IT" b="1" dirty="0" err="1"/>
              <a:t>mostly</a:t>
            </a:r>
            <a:r>
              <a:rPr lang="it-IT" b="1" dirty="0"/>
              <a:t> associative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C43D8DA-74D2-8531-4EF3-4C32ABF4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435633-7C3F-9032-03DC-334F2515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79</a:t>
            </a:fld>
            <a:endParaRPr lang="de-DE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5410B0-A86D-02EC-A0DB-CD5D8E39C12F}"/>
              </a:ext>
            </a:extLst>
          </p:cNvPr>
          <p:cNvSpPr txBox="1"/>
          <p:nvPr/>
        </p:nvSpPr>
        <p:spPr>
          <a:xfrm>
            <a:off x="889571" y="1250390"/>
            <a:ext cx="858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>
                <a:ea typeface="+mn-lt"/>
                <a:cs typeface="+mn-lt"/>
              </a:rPr>
              <a:t>Hazra</a:t>
            </a:r>
            <a:r>
              <a:rPr lang="it-IT" sz="1200" dirty="0">
                <a:ea typeface="+mn-lt"/>
                <a:cs typeface="+mn-lt"/>
              </a:rPr>
              <a:t>, R., &amp; De </a:t>
            </a:r>
            <a:r>
              <a:rPr lang="it-IT" sz="1200" dirty="0" err="1">
                <a:ea typeface="+mn-lt"/>
                <a:cs typeface="+mn-lt"/>
              </a:rPr>
              <a:t>Raedt</a:t>
            </a:r>
            <a:r>
              <a:rPr lang="it-IT" sz="1200" dirty="0">
                <a:ea typeface="+mn-lt"/>
                <a:cs typeface="+mn-lt"/>
              </a:rPr>
              <a:t>, L. (2023, </a:t>
            </a:r>
            <a:r>
              <a:rPr lang="it-IT" sz="1200" dirty="0" err="1">
                <a:ea typeface="+mn-lt"/>
                <a:cs typeface="+mn-lt"/>
              </a:rPr>
              <a:t>September</a:t>
            </a:r>
            <a:r>
              <a:rPr lang="it-IT" sz="1200" dirty="0">
                <a:ea typeface="+mn-lt"/>
                <a:cs typeface="+mn-lt"/>
              </a:rPr>
              <a:t>). Deep </a:t>
            </a:r>
            <a:r>
              <a:rPr lang="it-IT" sz="1200" dirty="0" err="1">
                <a:ea typeface="+mn-lt"/>
                <a:cs typeface="+mn-lt"/>
              </a:rPr>
              <a:t>explainable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relational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reinforcement</a:t>
            </a:r>
            <a:r>
              <a:rPr lang="it-IT" sz="1200" dirty="0">
                <a:ea typeface="+mn-lt"/>
                <a:cs typeface="+mn-lt"/>
              </a:rPr>
              <a:t> learning: a neuro-</a:t>
            </a:r>
            <a:r>
              <a:rPr lang="it-IT" sz="1200" dirty="0" err="1">
                <a:ea typeface="+mn-lt"/>
                <a:cs typeface="+mn-lt"/>
              </a:rPr>
              <a:t>symbolic</a:t>
            </a:r>
            <a:r>
              <a:rPr lang="it-IT" sz="1200" dirty="0">
                <a:ea typeface="+mn-lt"/>
                <a:cs typeface="+mn-lt"/>
              </a:rPr>
              <a:t> approach. In Joint </a:t>
            </a:r>
            <a:r>
              <a:rPr lang="it-IT" sz="1200" dirty="0" err="1">
                <a:ea typeface="+mn-lt"/>
                <a:cs typeface="+mn-lt"/>
              </a:rPr>
              <a:t>European</a:t>
            </a:r>
            <a:r>
              <a:rPr lang="it-IT" sz="1200" dirty="0">
                <a:ea typeface="+mn-lt"/>
                <a:cs typeface="+mn-lt"/>
              </a:rPr>
              <a:t> Conference on Machine Learning and Knowledge Discovery in Databases (pp. 213-229). Cham: Springer Nature </a:t>
            </a:r>
            <a:r>
              <a:rPr lang="it-IT" sz="1200" dirty="0" err="1">
                <a:ea typeface="+mn-lt"/>
                <a:cs typeface="+mn-lt"/>
              </a:rPr>
              <a:t>Switzerland</a:t>
            </a:r>
            <a:r>
              <a:rPr lang="it-IT" sz="1200" dirty="0">
                <a:ea typeface="+mn-lt"/>
                <a:cs typeface="+mn-lt"/>
              </a:rPr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6F9A257-5A48-D85A-A566-3FF46E649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89" y="1891442"/>
            <a:ext cx="5279857" cy="2945718"/>
          </a:xfrm>
          <a:prstGeom prst="rect">
            <a:avLst/>
          </a:prstGeom>
        </p:spPr>
      </p:pic>
      <p:pic>
        <p:nvPicPr>
          <p:cNvPr id="8" name="Picture 2" descr="System 1 and 2 Thinking | Customer Camp">
            <a:extLst>
              <a:ext uri="{FF2B5EF4-FFF2-40B4-BE49-F238E27FC236}">
                <a16:creationId xmlns:a16="http://schemas.microsoft.com/office/drawing/2014/main" id="{77293642-CF1F-2848-EE82-D9D0A74AF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389" y="1912809"/>
            <a:ext cx="5130421" cy="288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4681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CED2-DB01-CC44-2C78-B6B16DBC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C380A7-EA7C-2DDB-DB96-0C57A8AAE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XAI</a:t>
            </a:r>
            <a:endParaRPr lang="de-DE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E2482E-395F-630D-7BEB-908BFDE2D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cs typeface="Calibri"/>
              </a:rPr>
              <a:t>Neuro</a:t>
            </a:r>
            <a:r>
              <a:rPr lang="de-DE" dirty="0">
                <a:cs typeface="Calibri"/>
              </a:rPr>
              <a:t>[</a:t>
            </a:r>
            <a:r>
              <a:rPr lang="de-DE" dirty="0" err="1">
                <a:cs typeface="Calibri"/>
              </a:rPr>
              <a:t>Symbolic</a:t>
            </a:r>
            <a:r>
              <a:rPr lang="de-DE" dirty="0">
                <a:cs typeface="Calibri"/>
              </a:rPr>
              <a:t>] AI: </a:t>
            </a:r>
            <a:r>
              <a:rPr lang="de-DE" dirty="0" err="1">
                <a:cs typeface="Calibri"/>
              </a:rPr>
              <a:t>association</a:t>
            </a:r>
            <a:r>
              <a:rPr lang="de-DE" dirty="0">
                <a:cs typeface="Calibri"/>
              </a:rPr>
              <a:t> </a:t>
            </a:r>
            <a:r>
              <a:rPr lang="de-DE" dirty="0" err="1">
                <a:cs typeface="Calibri"/>
              </a:rPr>
              <a:t>invokes</a:t>
            </a:r>
            <a:r>
              <a:rPr lang="de-DE" dirty="0">
                <a:cs typeface="Calibri"/>
              </a:rPr>
              <a:t> </a:t>
            </a:r>
            <a:r>
              <a:rPr lang="de-DE" dirty="0" err="1">
                <a:cs typeface="Calibri"/>
              </a:rPr>
              <a:t>reasoning</a:t>
            </a:r>
            <a:endParaRPr lang="it-IT" dirty="0" err="1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851FDC3-FE5D-7F49-EA87-6EBE4BC9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0B42E93-86CE-85CA-CCA8-D52DF67B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6555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6603-FAE2-7416-8CEE-7BD55A7F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D96F23-72BC-D33A-737F-58C19351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Logics</a:t>
            </a:r>
            <a:r>
              <a:rPr lang="it-IT" dirty="0"/>
              <a:t> for (RL) planning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91224D-FA45-CDBD-8456-8F3881159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 for </a:t>
            </a:r>
            <a:r>
              <a:rPr lang="it-IT" dirty="0" err="1"/>
              <a:t>explainable</a:t>
            </a:r>
            <a:r>
              <a:rPr lang="it-IT" dirty="0"/>
              <a:t> planning and learning</a:t>
            </a:r>
          </a:p>
          <a:p>
            <a:pPr lvl="1"/>
            <a:r>
              <a:rPr lang="it-IT" dirty="0" err="1"/>
              <a:t>Explaining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  <a:p>
            <a:pPr lvl="1"/>
            <a:r>
              <a:rPr lang="it-IT" dirty="0" err="1"/>
              <a:t>Maybe</a:t>
            </a:r>
            <a:r>
              <a:rPr lang="it-IT" dirty="0"/>
              <a:t> planning </a:t>
            </a:r>
            <a:r>
              <a:rPr lang="it-IT" dirty="0" err="1"/>
              <a:t>better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68A52AD-2B67-7CFD-5E54-56AB613B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3041C0-EFA6-9FB5-B58E-984BA351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81</a:t>
            </a:fld>
            <a:endParaRPr lang="de-DE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F869C78-F86B-77ED-88EB-22C3CED86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1" y="3545175"/>
            <a:ext cx="4677723" cy="285885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E9CB258-79EB-D98C-4446-2F878285A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08" y="3612973"/>
            <a:ext cx="4677723" cy="27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302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48CDE-4344-22B9-5B99-8480A027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210522-631B-24C0-BB67-1927477F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Logics</a:t>
            </a:r>
            <a:r>
              <a:rPr lang="it-IT" dirty="0"/>
              <a:t> for (RL) planning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667FB7-4DE0-38A4-656D-374E730C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 for </a:t>
            </a:r>
            <a:r>
              <a:rPr lang="it-IT" dirty="0" err="1"/>
              <a:t>explainable</a:t>
            </a:r>
            <a:r>
              <a:rPr lang="it-IT" dirty="0"/>
              <a:t> planning and learning</a:t>
            </a:r>
          </a:p>
          <a:p>
            <a:pPr lvl="1"/>
            <a:r>
              <a:rPr lang="it-IT" dirty="0" err="1"/>
              <a:t>Explaining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  <a:p>
            <a:pPr lvl="1"/>
            <a:r>
              <a:rPr lang="it-IT" b="1" dirty="0" err="1"/>
              <a:t>Maybe</a:t>
            </a:r>
            <a:r>
              <a:rPr lang="it-IT" b="1" dirty="0"/>
              <a:t> planning </a:t>
            </a:r>
            <a:r>
              <a:rPr lang="it-IT" b="1" dirty="0" err="1"/>
              <a:t>better</a:t>
            </a:r>
            <a:r>
              <a:rPr lang="it-IT" b="1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026135-89C8-0380-123A-74B51A0E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F0C2DD1-D819-AECA-0B5C-556DDD08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82</a:t>
            </a:fld>
            <a:endParaRPr lang="de-DE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D7A4E9F-9192-9DE2-926B-B6C8BD1BA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427719"/>
              </p:ext>
            </p:extLst>
          </p:nvPr>
        </p:nvGraphicFramePr>
        <p:xfrm>
          <a:off x="1450358" y="3778239"/>
          <a:ext cx="1976085" cy="187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695">
                  <a:extLst>
                    <a:ext uri="{9D8B030D-6E8A-4147-A177-3AD203B41FA5}">
                      <a16:colId xmlns:a16="http://schemas.microsoft.com/office/drawing/2014/main" val="2026206861"/>
                    </a:ext>
                  </a:extLst>
                </a:gridCol>
                <a:gridCol w="658695">
                  <a:extLst>
                    <a:ext uri="{9D8B030D-6E8A-4147-A177-3AD203B41FA5}">
                      <a16:colId xmlns:a16="http://schemas.microsoft.com/office/drawing/2014/main" val="2015202095"/>
                    </a:ext>
                  </a:extLst>
                </a:gridCol>
                <a:gridCol w="658695">
                  <a:extLst>
                    <a:ext uri="{9D8B030D-6E8A-4147-A177-3AD203B41FA5}">
                      <a16:colId xmlns:a16="http://schemas.microsoft.com/office/drawing/2014/main" val="350336657"/>
                    </a:ext>
                  </a:extLst>
                </a:gridCol>
              </a:tblGrid>
              <a:tr h="62392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80158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62811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15848"/>
                  </a:ext>
                </a:extLst>
              </a:tr>
            </a:tbl>
          </a:graphicData>
        </a:graphic>
      </p:graphicFrame>
      <p:pic>
        <p:nvPicPr>
          <p:cNvPr id="9" name="Elemento grafico 8" descr="Robot con riempimento a tinta unita">
            <a:extLst>
              <a:ext uri="{FF2B5EF4-FFF2-40B4-BE49-F238E27FC236}">
                <a16:creationId xmlns:a16="http://schemas.microsoft.com/office/drawing/2014/main" id="{B2D33818-816C-9C89-740B-37BA8F89B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6961" y="5099039"/>
            <a:ext cx="457200" cy="457200"/>
          </a:xfrm>
          <a:prstGeom prst="rect">
            <a:avLst/>
          </a:prstGeom>
        </p:spPr>
      </p:pic>
      <p:pic>
        <p:nvPicPr>
          <p:cNvPr id="10" name="Elemento grafico 9" descr="Muro di mattoni con riempimento a tinta unita">
            <a:extLst>
              <a:ext uri="{FF2B5EF4-FFF2-40B4-BE49-F238E27FC236}">
                <a16:creationId xmlns:a16="http://schemas.microsoft.com/office/drawing/2014/main" id="{C84786E3-F23B-F523-7F28-BEC59CED9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5568" y="4464126"/>
            <a:ext cx="499986" cy="499986"/>
          </a:xfrm>
          <a:prstGeom prst="rect">
            <a:avLst/>
          </a:prstGeom>
        </p:spPr>
      </p:pic>
      <p:pic>
        <p:nvPicPr>
          <p:cNvPr id="11" name="Elemento grafico 10" descr="Muro di mattoni con riempimento a tinta unita">
            <a:extLst>
              <a:ext uri="{FF2B5EF4-FFF2-40B4-BE49-F238E27FC236}">
                <a16:creationId xmlns:a16="http://schemas.microsoft.com/office/drawing/2014/main" id="{138BF0A2-1E86-F437-2B7E-26C92BFE9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8407" y="4464126"/>
            <a:ext cx="499986" cy="499986"/>
          </a:xfrm>
          <a:prstGeom prst="rect">
            <a:avLst/>
          </a:prstGeom>
        </p:spPr>
      </p:pic>
      <p:pic>
        <p:nvPicPr>
          <p:cNvPr id="12" name="Elemento grafico 11" descr="Tiro a segno con riempimento a tinta unita">
            <a:extLst>
              <a:ext uri="{FF2B5EF4-FFF2-40B4-BE49-F238E27FC236}">
                <a16:creationId xmlns:a16="http://schemas.microsoft.com/office/drawing/2014/main" id="{AE787856-6058-72FD-7F89-7A6DC86D02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8407" y="3857810"/>
            <a:ext cx="499986" cy="49998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6708ED0-5E3B-E8DE-06C3-A81DA060A2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7523" y="3614524"/>
            <a:ext cx="4035768" cy="263333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4640EF0-4015-9569-90DE-F3370160D6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4468" y="2109078"/>
            <a:ext cx="2174921" cy="1326059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C00DF90-03FE-3896-9793-4443B5080269}"/>
              </a:ext>
            </a:extLst>
          </p:cNvPr>
          <p:cNvSpPr txBox="1"/>
          <p:nvPr/>
        </p:nvSpPr>
        <p:spPr>
          <a:xfrm>
            <a:off x="4038600" y="4791968"/>
            <a:ext cx="36746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/>
              <a:t>Amir, G., Corsi, D., </a:t>
            </a:r>
            <a:r>
              <a:rPr lang="it-IT" sz="1100" dirty="0" err="1"/>
              <a:t>Yerushalmi</a:t>
            </a:r>
            <a:r>
              <a:rPr lang="it-IT" sz="1100" dirty="0"/>
              <a:t>, R., Marzari, L., Harel, D., Farinelli, A., &amp; Katz, G. (2023, April). </a:t>
            </a:r>
            <a:r>
              <a:rPr lang="it-IT" sz="1100" dirty="0" err="1"/>
              <a:t>Verifying</a:t>
            </a:r>
            <a:r>
              <a:rPr lang="it-IT" sz="1100" dirty="0"/>
              <a:t> learning-</a:t>
            </a:r>
            <a:r>
              <a:rPr lang="it-IT" sz="1100" dirty="0" err="1"/>
              <a:t>based</a:t>
            </a:r>
            <a:r>
              <a:rPr lang="it-IT" sz="1100" dirty="0"/>
              <a:t> </a:t>
            </a:r>
            <a:r>
              <a:rPr lang="it-IT" sz="1100" dirty="0" err="1"/>
              <a:t>robotic</a:t>
            </a:r>
            <a:r>
              <a:rPr lang="it-IT" sz="1100" dirty="0"/>
              <a:t> </a:t>
            </a:r>
            <a:r>
              <a:rPr lang="it-IT" sz="1100" dirty="0" err="1"/>
              <a:t>navigation</a:t>
            </a:r>
            <a:r>
              <a:rPr lang="it-IT" sz="1100" dirty="0"/>
              <a:t> systems. In International Conference on Tools and </a:t>
            </a:r>
            <a:r>
              <a:rPr lang="it-IT" sz="1100" dirty="0" err="1"/>
              <a:t>Algorithms</a:t>
            </a:r>
            <a:r>
              <a:rPr lang="it-IT" sz="1100" dirty="0"/>
              <a:t> for the Construction and Analysis of Systems (pp. 607-627). Cham: Springer Nature </a:t>
            </a:r>
            <a:r>
              <a:rPr lang="it-IT" sz="1100" dirty="0" err="1"/>
              <a:t>Switzerland</a:t>
            </a:r>
            <a:r>
              <a:rPr lang="it-IT" sz="1100" dirty="0"/>
              <a:t>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E72CB8E-EADD-52FE-E820-42EFF71CF2F8}"/>
              </a:ext>
            </a:extLst>
          </p:cNvPr>
          <p:cNvSpPr txBox="1"/>
          <p:nvPr/>
        </p:nvSpPr>
        <p:spPr>
          <a:xfrm>
            <a:off x="4355833" y="3880081"/>
            <a:ext cx="2817548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b="1" dirty="0" err="1"/>
              <a:t>Cannot</a:t>
            </a:r>
            <a:r>
              <a:rPr lang="it-IT" b="1" dirty="0"/>
              <a:t> </a:t>
            </a:r>
            <a:r>
              <a:rPr lang="it-IT" b="1" dirty="0" err="1"/>
              <a:t>safely</a:t>
            </a:r>
            <a:r>
              <a:rPr lang="it-IT" b="1" dirty="0"/>
              <a:t> </a:t>
            </a:r>
            <a:r>
              <a:rPr lang="it-IT" b="1" dirty="0" err="1"/>
              <a:t>execute</a:t>
            </a:r>
            <a:r>
              <a:rPr lang="it-IT" b="1" dirty="0"/>
              <a:t> a </a:t>
            </a:r>
            <a:r>
              <a:rPr lang="it-IT" b="1" dirty="0" err="1"/>
              <a:t>trained</a:t>
            </a:r>
            <a:r>
              <a:rPr lang="it-IT" b="1" dirty="0"/>
              <a:t> policy</a:t>
            </a:r>
          </a:p>
        </p:txBody>
      </p:sp>
    </p:spTree>
    <p:extLst>
      <p:ext uri="{BB962C8B-B14F-4D97-AF65-F5344CB8AC3E}">
        <p14:creationId xmlns:p14="http://schemas.microsoft.com/office/powerpoint/2010/main" val="39614728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7902-E90E-B501-8883-770E7AC7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63E90-6301-934F-8700-7AD59FE4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Logics</a:t>
            </a:r>
            <a:r>
              <a:rPr lang="it-IT" dirty="0"/>
              <a:t> for (RL) planning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2A063-38F9-4BF5-91CB-E3D2BC3E1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Neurosymbolic</a:t>
            </a:r>
            <a:r>
              <a:rPr lang="it-IT" dirty="0"/>
              <a:t> AI for </a:t>
            </a:r>
            <a:r>
              <a:rPr lang="it-IT" dirty="0" err="1"/>
              <a:t>explainable</a:t>
            </a:r>
            <a:r>
              <a:rPr lang="it-IT" dirty="0"/>
              <a:t> planning and learning</a:t>
            </a:r>
          </a:p>
          <a:p>
            <a:pPr lvl="1"/>
            <a:r>
              <a:rPr lang="it-IT" dirty="0" err="1"/>
              <a:t>Explaining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acting</a:t>
            </a:r>
            <a:endParaRPr lang="it-IT" dirty="0"/>
          </a:p>
          <a:p>
            <a:pPr lvl="1"/>
            <a:r>
              <a:rPr lang="it-IT" dirty="0" err="1"/>
              <a:t>Maybe</a:t>
            </a:r>
            <a:r>
              <a:rPr lang="it-IT" dirty="0"/>
              <a:t> planning </a:t>
            </a:r>
            <a:r>
              <a:rPr lang="it-IT" dirty="0" err="1"/>
              <a:t>better</a:t>
            </a:r>
            <a:r>
              <a:rPr lang="it-IT" dirty="0"/>
              <a:t>?</a:t>
            </a:r>
          </a:p>
          <a:p>
            <a:pPr lvl="1"/>
            <a:r>
              <a:rPr lang="it-IT" b="1" dirty="0"/>
              <a:t>How to do </a:t>
            </a:r>
            <a:r>
              <a:rPr lang="it-IT" b="1" dirty="0" err="1"/>
              <a:t>this</a:t>
            </a:r>
            <a:r>
              <a:rPr lang="it-IT" b="1" dirty="0"/>
              <a:t> in a neuro[</a:t>
            </a:r>
            <a:r>
              <a:rPr lang="it-IT" b="1" dirty="0" err="1"/>
              <a:t>symbolic</a:t>
            </a:r>
            <a:r>
              <a:rPr lang="it-IT" b="1" dirty="0"/>
              <a:t>] way?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076F26F-4397-C850-2E0D-61004812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E34C475-775C-0B9B-9176-49EEA4F6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83</a:t>
            </a:fld>
            <a:endParaRPr lang="de-DE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03D8D1E-8B7A-D62A-0914-8D1FCAE9F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1" y="3545175"/>
            <a:ext cx="4677723" cy="285885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0BB7325-7C92-DA79-60EB-31FACC17A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08" y="3612973"/>
            <a:ext cx="4677723" cy="27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676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7160CF-5CD7-302A-3DDB-F930F9C9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6B20CC-65E2-0496-DF6F-FF5498A2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4E9218-6C80-DF23-0AAE-0115E973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7B12BA-F6ED-0187-E06D-6C3361F9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84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9BC03A7-5A58-40DE-7601-7D86DE7D0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68" y="2590042"/>
            <a:ext cx="4772282" cy="1950497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BD527351-198A-B94C-EAF7-BCC9C8D8E78F}"/>
              </a:ext>
            </a:extLst>
          </p:cNvPr>
          <p:cNvSpPr/>
          <p:nvPr/>
        </p:nvSpPr>
        <p:spPr>
          <a:xfrm>
            <a:off x="971868" y="3951864"/>
            <a:ext cx="4821378" cy="307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55218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7926-DAC5-1EF7-DDF5-F1CD6288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F01704-E30A-751B-2D3D-606157A0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6097F9-F8B1-33AA-4B31-06DB06743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How?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5E62DF-1C68-8B13-5BD5-EEF348A9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47139A-43EF-9E4E-6E61-3978704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85</a:t>
            </a:fld>
            <a:endParaRPr lang="de-DE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4E1CEF9-B061-4CFE-C2D7-B284C2825FC9}"/>
              </a:ext>
            </a:extLst>
          </p:cNvPr>
          <p:cNvSpPr/>
          <p:nvPr/>
        </p:nvSpPr>
        <p:spPr>
          <a:xfrm>
            <a:off x="3009518" y="2952051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B50F768-3FFC-775A-7095-9D773D587DD1}"/>
              </a:ext>
            </a:extLst>
          </p:cNvPr>
          <p:cNvSpPr/>
          <p:nvPr/>
        </p:nvSpPr>
        <p:spPr>
          <a:xfrm>
            <a:off x="7521132" y="2957864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F19E576-A430-7BEF-E84E-1BB1AB27A107}"/>
              </a:ext>
            </a:extLst>
          </p:cNvPr>
          <p:cNvSpPr/>
          <p:nvPr/>
        </p:nvSpPr>
        <p:spPr>
          <a:xfrm>
            <a:off x="5046403" y="4601097"/>
            <a:ext cx="1630661" cy="8675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</a:t>
            </a:r>
            <a:endParaRPr lang="it-IT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E61DFDE-DD5F-2775-683B-084DC514A79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589067" y="5034851"/>
            <a:ext cx="1457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0619344F-F5DF-C151-D188-3F8B93D3C47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365568" y="3825372"/>
            <a:ext cx="16468" cy="12192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A1C2C19-1D4F-6CFB-AB86-FD211F6D41F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589068" y="3819559"/>
            <a:ext cx="0" cy="1215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1F73DB5-C515-583D-470A-206ECC92760B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6677064" y="5034851"/>
            <a:ext cx="1688504" cy="97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AD18F4AA-66A6-B4D3-02C3-02AD1F1755B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168617" y="3385805"/>
            <a:ext cx="3352515" cy="5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AC7AA09-3457-7672-4DAF-67C704DDC75F}"/>
              </a:ext>
            </a:extLst>
          </p:cNvPr>
          <p:cNvSpPr txBox="1"/>
          <p:nvPr/>
        </p:nvSpPr>
        <p:spPr>
          <a:xfrm>
            <a:off x="7011463" y="5232190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88BBEEF-C848-CD58-0B8C-D729152424BF}"/>
              </a:ext>
            </a:extLst>
          </p:cNvPr>
          <p:cNvSpPr txBox="1"/>
          <p:nvPr/>
        </p:nvSpPr>
        <p:spPr>
          <a:xfrm>
            <a:off x="5464017" y="3013551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952ED4C-DA5F-4A3C-3489-2E35A69F701C}"/>
              </a:ext>
            </a:extLst>
          </p:cNvPr>
          <p:cNvSpPr txBox="1"/>
          <p:nvPr/>
        </p:nvSpPr>
        <p:spPr>
          <a:xfrm>
            <a:off x="3684393" y="4633115"/>
            <a:ext cx="172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solidFill>
                  <a:srgbClr val="FF0000"/>
                </a:solidFill>
              </a:rPr>
              <a:t>logical</a:t>
            </a:r>
            <a:r>
              <a:rPr lang="it-IT" sz="1400" b="1" dirty="0">
                <a:solidFill>
                  <a:srgbClr val="FF0000"/>
                </a:solidFill>
              </a:rPr>
              <a:t> reward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AC62FA5D-4278-36A0-F28D-E5B92832CE6C}"/>
              </a:ext>
            </a:extLst>
          </p:cNvPr>
          <p:cNvCxnSpPr>
            <a:cxnSpLocks/>
          </p:cNvCxnSpPr>
          <p:nvPr/>
        </p:nvCxnSpPr>
        <p:spPr>
          <a:xfrm>
            <a:off x="8365568" y="2500713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2F421DEA-B859-7A8F-5C20-B877CC45738B}"/>
              </a:ext>
            </a:extLst>
          </p:cNvPr>
          <p:cNvCxnSpPr>
            <a:cxnSpLocks/>
          </p:cNvCxnSpPr>
          <p:nvPr/>
        </p:nvCxnSpPr>
        <p:spPr>
          <a:xfrm>
            <a:off x="3589067" y="2500713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4843FFF-C855-D175-E8F4-2203CAD426E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589067" y="2500713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523944D-1F4F-5BDE-BEF6-4410CB87C337}"/>
              </a:ext>
            </a:extLst>
          </p:cNvPr>
          <p:cNvSpPr txBox="1"/>
          <p:nvPr/>
        </p:nvSpPr>
        <p:spPr>
          <a:xfrm>
            <a:off x="5464017" y="2113852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reward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8DF8D2CE-835F-B698-7657-202BB7E5AF76}"/>
              </a:ext>
            </a:extLst>
          </p:cNvPr>
          <p:cNvCxnSpPr>
            <a:cxnSpLocks/>
          </p:cNvCxnSpPr>
          <p:nvPr/>
        </p:nvCxnSpPr>
        <p:spPr>
          <a:xfrm>
            <a:off x="8886128" y="3839002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3817A51D-CA7F-C25D-0980-8C3299FAAC99}"/>
              </a:ext>
            </a:extLst>
          </p:cNvPr>
          <p:cNvCxnSpPr>
            <a:cxnSpLocks/>
          </p:cNvCxnSpPr>
          <p:nvPr/>
        </p:nvCxnSpPr>
        <p:spPr>
          <a:xfrm>
            <a:off x="3216443" y="5771452"/>
            <a:ext cx="566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13324A2-81FB-76BB-6D44-8A0EC1620B62}"/>
              </a:ext>
            </a:extLst>
          </p:cNvPr>
          <p:cNvCxnSpPr>
            <a:cxnSpLocks/>
          </p:cNvCxnSpPr>
          <p:nvPr/>
        </p:nvCxnSpPr>
        <p:spPr>
          <a:xfrm flipV="1">
            <a:off x="3216443" y="3839002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5093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4BCC92-5D6A-1631-CB7C-09E50196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F6596C-6EA2-4D40-33A3-EEE8B1F6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624DE11-2E18-AB07-F111-9B103B93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86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ACF42DE-34AD-E562-C212-30D3DBD48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2"/>
          <a:stretch/>
        </p:blipFill>
        <p:spPr>
          <a:xfrm>
            <a:off x="677334" y="1787596"/>
            <a:ext cx="4557492" cy="15646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9918E96-A768-DF9B-66B2-968F17DCD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66" y="1787596"/>
            <a:ext cx="3828291" cy="156467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8106D6-CEA1-ABC3-F480-9D16110AF2B7}"/>
              </a:ext>
            </a:extLst>
          </p:cNvPr>
          <p:cNvSpPr txBox="1"/>
          <p:nvPr/>
        </p:nvSpPr>
        <p:spPr>
          <a:xfrm>
            <a:off x="629545" y="1418264"/>
            <a:ext cx="24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/>
              <a:t>DFA</a:t>
            </a:r>
          </a:p>
        </p:txBody>
      </p:sp>
    </p:spTree>
    <p:extLst>
      <p:ext uri="{BB962C8B-B14F-4D97-AF65-F5344CB8AC3E}">
        <p14:creationId xmlns:p14="http://schemas.microsoft.com/office/powerpoint/2010/main" val="5845150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C2CA-6D54-FAF6-8BF8-7A33808D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A53D96-C9BC-EDCC-421B-FB1A9DA9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5FED46-28E6-FAC4-06BA-8F8139A0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8C43B5D-7E11-6E8E-874E-DF85E1ED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87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652FC7F-CB21-34E8-5BA4-3BCCEC2949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2"/>
          <a:stretch/>
        </p:blipFill>
        <p:spPr>
          <a:xfrm>
            <a:off x="677334" y="1787596"/>
            <a:ext cx="4557492" cy="15646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BCA2663-C4C1-E59E-F11B-7BFBEDA16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66" y="1787596"/>
            <a:ext cx="3828291" cy="156467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2EA3323-08AC-AE3A-047E-3783DA1262A3}"/>
              </a:ext>
            </a:extLst>
          </p:cNvPr>
          <p:cNvSpPr txBox="1"/>
          <p:nvPr/>
        </p:nvSpPr>
        <p:spPr>
          <a:xfrm>
            <a:off x="1296524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Σ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dirty="0" err="1">
                <a:highlight>
                  <a:srgbClr val="FFFF00"/>
                </a:highlight>
              </a:rPr>
              <a:t>n,e,e,s,w,s</a:t>
            </a:r>
            <a:r>
              <a:rPr lang="it-IT" dirty="0">
                <a:highlight>
                  <a:srgbClr val="FFFF00"/>
                </a:highlight>
              </a:rPr>
              <a:t>,…&gt;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66305A-2049-B9C6-5207-4F0F812A8283}"/>
              </a:ext>
            </a:extLst>
          </p:cNvPr>
          <p:cNvSpPr txBox="1"/>
          <p:nvPr/>
        </p:nvSpPr>
        <p:spPr>
          <a:xfrm>
            <a:off x="5847463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A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dirty="0" err="1">
                <a:highlight>
                  <a:srgbClr val="FFFF00"/>
                </a:highlight>
              </a:rPr>
              <a:t>n,e,e,s,w,s</a:t>
            </a:r>
            <a:r>
              <a:rPr lang="it-IT" dirty="0">
                <a:highlight>
                  <a:srgbClr val="FFFF00"/>
                </a:highlight>
              </a:rPr>
              <a:t>,…&gt;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9FAEF10-5271-4FF2-AD27-B7B82CCAE529}"/>
              </a:ext>
            </a:extLst>
          </p:cNvPr>
          <p:cNvSpPr txBox="1"/>
          <p:nvPr/>
        </p:nvSpPr>
        <p:spPr>
          <a:xfrm>
            <a:off x="7787632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&lt;s</a:t>
            </a:r>
            <a:r>
              <a:rPr lang="it-IT" sz="1100" dirty="0"/>
              <a:t>1</a:t>
            </a:r>
            <a:r>
              <a:rPr lang="it-IT" dirty="0"/>
              <a:t>,s</a:t>
            </a:r>
            <a:r>
              <a:rPr lang="it-IT" sz="1100" dirty="0"/>
              <a:t>2</a:t>
            </a:r>
            <a:r>
              <a:rPr lang="it-IT" dirty="0"/>
              <a:t>,…&gt;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FBE2719-4F01-83E4-680E-251BE9736207}"/>
              </a:ext>
            </a:extLst>
          </p:cNvPr>
          <p:cNvSpPr txBox="1"/>
          <p:nvPr/>
        </p:nvSpPr>
        <p:spPr>
          <a:xfrm>
            <a:off x="3294657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</a:t>
            </a:r>
            <a:r>
              <a:rPr lang="it-IT" dirty="0" err="1"/>
              <a:t>q</a:t>
            </a:r>
            <a:r>
              <a:rPr lang="it-IT" sz="1100" dirty="0" err="1"/>
              <a:t>s</a:t>
            </a:r>
            <a:r>
              <a:rPr lang="it-IT" dirty="0" err="1"/>
              <a:t>,q</a:t>
            </a:r>
            <a:r>
              <a:rPr lang="it-IT" sz="1000" dirty="0"/>
              <a:t>,</a:t>
            </a:r>
            <a:r>
              <a:rPr lang="it-IT" dirty="0"/>
              <a:t> q</a:t>
            </a:r>
            <a:r>
              <a:rPr lang="it-IT" sz="1000" dirty="0"/>
              <a:t> ,</a:t>
            </a:r>
            <a:r>
              <a:rPr lang="it-IT" dirty="0"/>
              <a:t> </a:t>
            </a:r>
            <a:r>
              <a:rPr lang="it-IT" dirty="0" err="1"/>
              <a:t>q</a:t>
            </a:r>
            <a:r>
              <a:rPr lang="it-IT" sz="1000" dirty="0" err="1"/>
              <a:t>F</a:t>
            </a:r>
            <a:r>
              <a:rPr lang="it-IT" sz="1000" dirty="0"/>
              <a:t> ,…</a:t>
            </a:r>
            <a:r>
              <a:rPr lang="it-IT" dirty="0"/>
              <a:t>&gt;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D1D2C53A-D9F8-E7AD-8A8C-488F7A9D0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469" y="4203850"/>
            <a:ext cx="2155326" cy="221985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20E4963-5AF1-3263-E9EA-2ECC572073DB}"/>
              </a:ext>
            </a:extLst>
          </p:cNvPr>
          <p:cNvSpPr txBox="1"/>
          <p:nvPr/>
        </p:nvSpPr>
        <p:spPr>
          <a:xfrm>
            <a:off x="629545" y="1418264"/>
            <a:ext cx="24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/>
              <a:t>DFA</a:t>
            </a:r>
          </a:p>
        </p:txBody>
      </p:sp>
    </p:spTree>
    <p:extLst>
      <p:ext uri="{BB962C8B-B14F-4D97-AF65-F5344CB8AC3E}">
        <p14:creationId xmlns:p14="http://schemas.microsoft.com/office/powerpoint/2010/main" val="37471450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3EDB5-98DD-12F1-7719-A2922200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2EEA0B-6DAD-7628-908D-09E50214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E57EE4-4191-5CE9-9045-314E535D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953BA4-17BF-6A4A-EE01-A65310BC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88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6C3BAF1-DD34-2937-C94D-24417507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2"/>
          <a:stretch/>
        </p:blipFill>
        <p:spPr>
          <a:xfrm>
            <a:off x="677334" y="1787596"/>
            <a:ext cx="4557492" cy="15646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EB65F78-195D-2B8B-1B95-053B9734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66" y="1787596"/>
            <a:ext cx="3828291" cy="156467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3C629D-0BB2-C87C-8133-951D1DFE40DC}"/>
              </a:ext>
            </a:extLst>
          </p:cNvPr>
          <p:cNvSpPr txBox="1"/>
          <p:nvPr/>
        </p:nvSpPr>
        <p:spPr>
          <a:xfrm>
            <a:off x="1296524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Σ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b="1" dirty="0" err="1">
                <a:highlight>
                  <a:srgbClr val="FFFF00"/>
                </a:highlight>
              </a:rPr>
              <a:t>s,e,s,e,e,s</a:t>
            </a:r>
            <a:r>
              <a:rPr lang="it-IT" b="1" dirty="0">
                <a:highlight>
                  <a:srgbClr val="FFFF00"/>
                </a:highlight>
              </a:rPr>
              <a:t>,…</a:t>
            </a:r>
            <a:r>
              <a:rPr lang="it-IT" dirty="0">
                <a:highlight>
                  <a:srgbClr val="FFFF00"/>
                </a:highlight>
              </a:rPr>
              <a:t>&gt;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E317304-B996-283B-35C4-6239B1E4B301}"/>
              </a:ext>
            </a:extLst>
          </p:cNvPr>
          <p:cNvSpPr txBox="1"/>
          <p:nvPr/>
        </p:nvSpPr>
        <p:spPr>
          <a:xfrm>
            <a:off x="5847463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A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dirty="0" err="1">
                <a:highlight>
                  <a:srgbClr val="FFFF00"/>
                </a:highlight>
              </a:rPr>
              <a:t>n,e,e,s,w,s</a:t>
            </a:r>
            <a:r>
              <a:rPr lang="it-IT" dirty="0">
                <a:highlight>
                  <a:srgbClr val="FFFF00"/>
                </a:highlight>
              </a:rPr>
              <a:t>,…&gt;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38532A4-815D-8972-DFAA-14AA91B7BB77}"/>
              </a:ext>
            </a:extLst>
          </p:cNvPr>
          <p:cNvSpPr txBox="1"/>
          <p:nvPr/>
        </p:nvSpPr>
        <p:spPr>
          <a:xfrm>
            <a:off x="7787632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&lt;s</a:t>
            </a:r>
            <a:r>
              <a:rPr lang="it-IT" sz="1100" dirty="0"/>
              <a:t>1</a:t>
            </a:r>
            <a:r>
              <a:rPr lang="it-IT" dirty="0"/>
              <a:t>,s</a:t>
            </a:r>
            <a:r>
              <a:rPr lang="it-IT" sz="1100" dirty="0"/>
              <a:t>2</a:t>
            </a:r>
            <a:r>
              <a:rPr lang="it-IT" dirty="0"/>
              <a:t>,…&gt;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7603114-2E57-FCC9-0E51-D1BA9E1C9595}"/>
              </a:ext>
            </a:extLst>
          </p:cNvPr>
          <p:cNvSpPr txBox="1"/>
          <p:nvPr/>
        </p:nvSpPr>
        <p:spPr>
          <a:xfrm>
            <a:off x="3294657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</a:t>
            </a:r>
            <a:r>
              <a:rPr lang="it-IT" dirty="0" err="1"/>
              <a:t>q</a:t>
            </a:r>
            <a:r>
              <a:rPr lang="it-IT" sz="1100" dirty="0" err="1"/>
              <a:t>s</a:t>
            </a:r>
            <a:r>
              <a:rPr lang="it-IT" dirty="0" err="1"/>
              <a:t>,q</a:t>
            </a:r>
            <a:r>
              <a:rPr lang="it-IT" sz="1000" dirty="0"/>
              <a:t>,</a:t>
            </a:r>
            <a:r>
              <a:rPr lang="it-IT" dirty="0"/>
              <a:t> q</a:t>
            </a:r>
            <a:r>
              <a:rPr lang="it-IT" sz="1000" dirty="0"/>
              <a:t> ,</a:t>
            </a:r>
            <a:r>
              <a:rPr lang="it-IT" dirty="0"/>
              <a:t> </a:t>
            </a:r>
            <a:r>
              <a:rPr lang="it-IT" dirty="0" err="1"/>
              <a:t>q</a:t>
            </a:r>
            <a:r>
              <a:rPr lang="it-IT" sz="1000" dirty="0" err="1"/>
              <a:t>F</a:t>
            </a:r>
            <a:r>
              <a:rPr lang="it-IT" sz="1000" dirty="0"/>
              <a:t> ,…</a:t>
            </a:r>
            <a:r>
              <a:rPr lang="it-IT" dirty="0"/>
              <a:t>&gt;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40CA304A-7EE9-76FC-4219-F3393B3D8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469" y="4203850"/>
            <a:ext cx="2155326" cy="221985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88E60A5-ADEA-5A31-87F7-D0D31E69D4C0}"/>
              </a:ext>
            </a:extLst>
          </p:cNvPr>
          <p:cNvSpPr txBox="1"/>
          <p:nvPr/>
        </p:nvSpPr>
        <p:spPr>
          <a:xfrm>
            <a:off x="629545" y="1418264"/>
            <a:ext cx="24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/>
              <a:t>DFA</a:t>
            </a:r>
          </a:p>
        </p:txBody>
      </p:sp>
      <p:pic>
        <p:nvPicPr>
          <p:cNvPr id="3" name="Picture 4" descr="Büchi automaton">
            <a:extLst>
              <a:ext uri="{FF2B5EF4-FFF2-40B4-BE49-F238E27FC236}">
                <a16:creationId xmlns:a16="http://schemas.microsoft.com/office/drawing/2014/main" id="{24A3E50A-2DFB-85B0-873A-413237681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3" y="4305520"/>
            <a:ext cx="1243119" cy="155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EC109B5-1EF6-5432-B912-A8EAB5D3C3FA}"/>
              </a:ext>
            </a:extLst>
          </p:cNvPr>
          <p:cNvSpPr txBox="1"/>
          <p:nvPr/>
        </p:nvSpPr>
        <p:spPr>
          <a:xfrm>
            <a:off x="370772" y="5861155"/>
            <a:ext cx="24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 good LTL </a:t>
            </a:r>
            <a:r>
              <a:rPr lang="it-IT" b="1" dirty="0" err="1"/>
              <a:t>specification</a:t>
            </a:r>
            <a:endParaRPr lang="it-IT" b="1" dirty="0"/>
          </a:p>
          <a:p>
            <a:r>
              <a:rPr lang="it-IT" i="1" dirty="0"/>
              <a:t>G(south v </a:t>
            </a:r>
            <a:r>
              <a:rPr lang="it-IT" i="1" dirty="0" err="1"/>
              <a:t>east</a:t>
            </a:r>
            <a:r>
              <a:rPr lang="it-IT" i="1" dirty="0"/>
              <a:t>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F816B52-238A-17A3-FDC2-9F53B64F1C85}"/>
              </a:ext>
            </a:extLst>
          </p:cNvPr>
          <p:cNvSpPr txBox="1"/>
          <p:nvPr/>
        </p:nvSpPr>
        <p:spPr>
          <a:xfrm>
            <a:off x="4525108" y="4512275"/>
            <a:ext cx="2233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How to match the </a:t>
            </a:r>
            <a:r>
              <a:rPr lang="it-IT" b="1" dirty="0" err="1"/>
              <a:t>two</a:t>
            </a:r>
            <a:r>
              <a:rPr lang="it-IT" b="1" dirty="0"/>
              <a:t> </a:t>
            </a:r>
            <a:r>
              <a:rPr lang="it-IT" b="1" dirty="0" err="1"/>
              <a:t>formalism</a:t>
            </a:r>
            <a:r>
              <a:rPr lang="it-IT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89745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57FE-38FC-6B2E-A2A4-3146EF67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63829C-FEA9-DEC5-EC0A-81D7F902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2322FA2-8153-60CB-1181-8FD148B5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1F4A65-45BF-C950-EB73-634C4522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89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5208FDE-5B4B-BA8D-057E-48D1CAEE75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2"/>
          <a:stretch/>
        </p:blipFill>
        <p:spPr>
          <a:xfrm>
            <a:off x="677334" y="1787596"/>
            <a:ext cx="4557492" cy="15646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0ABFDBF-AC7A-E1FD-20AF-355662F0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66" y="1787596"/>
            <a:ext cx="3828291" cy="156467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9CE1F55-9F39-4B93-0BFF-D8DB769C0A29}"/>
              </a:ext>
            </a:extLst>
          </p:cNvPr>
          <p:cNvSpPr txBox="1"/>
          <p:nvPr/>
        </p:nvSpPr>
        <p:spPr>
          <a:xfrm>
            <a:off x="1296524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Σ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b="1" dirty="0" err="1">
                <a:highlight>
                  <a:srgbClr val="FFFF00"/>
                </a:highlight>
              </a:rPr>
              <a:t>s,e,s,e,e,s</a:t>
            </a:r>
            <a:r>
              <a:rPr lang="it-IT" b="1" dirty="0">
                <a:highlight>
                  <a:srgbClr val="FFFF00"/>
                </a:highlight>
              </a:rPr>
              <a:t>,…</a:t>
            </a:r>
            <a:r>
              <a:rPr lang="it-IT" dirty="0">
                <a:highlight>
                  <a:srgbClr val="FFFF00"/>
                </a:highlight>
              </a:rPr>
              <a:t>&gt;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DC0C3E8-F053-ED52-422A-8848E219A885}"/>
              </a:ext>
            </a:extLst>
          </p:cNvPr>
          <p:cNvSpPr txBox="1"/>
          <p:nvPr/>
        </p:nvSpPr>
        <p:spPr>
          <a:xfrm>
            <a:off x="5847463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A </a:t>
            </a:r>
            <a:r>
              <a:rPr lang="it-IT" dirty="0" err="1">
                <a:highlight>
                  <a:srgbClr val="FFFF00"/>
                </a:highlight>
              </a:rPr>
              <a:t>sequence</a:t>
            </a:r>
            <a:endParaRPr lang="it-IT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&lt;</a:t>
            </a:r>
            <a:r>
              <a:rPr lang="it-IT" dirty="0" err="1">
                <a:highlight>
                  <a:srgbClr val="FFFF00"/>
                </a:highlight>
              </a:rPr>
              <a:t>n,e,e,s,w,s</a:t>
            </a:r>
            <a:r>
              <a:rPr lang="it-IT" dirty="0">
                <a:highlight>
                  <a:srgbClr val="FFFF00"/>
                </a:highlight>
              </a:rPr>
              <a:t>,…&gt;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7A8EFCD-F871-0284-C2F5-8FF68D3EAA1F}"/>
              </a:ext>
            </a:extLst>
          </p:cNvPr>
          <p:cNvSpPr txBox="1"/>
          <p:nvPr/>
        </p:nvSpPr>
        <p:spPr>
          <a:xfrm>
            <a:off x="7787632" y="35462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&lt;s</a:t>
            </a:r>
            <a:r>
              <a:rPr lang="it-IT" sz="1100" dirty="0"/>
              <a:t>1</a:t>
            </a:r>
            <a:r>
              <a:rPr lang="it-IT" dirty="0"/>
              <a:t>,s</a:t>
            </a:r>
            <a:r>
              <a:rPr lang="it-IT" sz="1100" dirty="0"/>
              <a:t>2</a:t>
            </a:r>
            <a:r>
              <a:rPr lang="it-IT" dirty="0"/>
              <a:t>,…&gt;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8117A87-A182-8548-7112-264B399D52C0}"/>
              </a:ext>
            </a:extLst>
          </p:cNvPr>
          <p:cNvSpPr txBox="1"/>
          <p:nvPr/>
        </p:nvSpPr>
        <p:spPr>
          <a:xfrm>
            <a:off x="3294657" y="3505730"/>
            <a:ext cx="194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 </a:t>
            </a:r>
            <a:r>
              <a:rPr lang="it-IT" dirty="0" err="1"/>
              <a:t>sequence</a:t>
            </a:r>
            <a:endParaRPr lang="it-IT" dirty="0"/>
          </a:p>
          <a:p>
            <a:r>
              <a:rPr lang="it-IT" dirty="0"/>
              <a:t>&lt;</a:t>
            </a:r>
            <a:r>
              <a:rPr lang="it-IT" dirty="0" err="1"/>
              <a:t>q</a:t>
            </a:r>
            <a:r>
              <a:rPr lang="it-IT" sz="1100" dirty="0" err="1"/>
              <a:t>s</a:t>
            </a:r>
            <a:r>
              <a:rPr lang="it-IT" dirty="0" err="1"/>
              <a:t>,q</a:t>
            </a:r>
            <a:r>
              <a:rPr lang="it-IT" sz="1000" dirty="0"/>
              <a:t>,</a:t>
            </a:r>
            <a:r>
              <a:rPr lang="it-IT" dirty="0"/>
              <a:t> q</a:t>
            </a:r>
            <a:r>
              <a:rPr lang="it-IT" sz="1000" dirty="0"/>
              <a:t> ,</a:t>
            </a:r>
            <a:r>
              <a:rPr lang="it-IT" dirty="0"/>
              <a:t> </a:t>
            </a:r>
            <a:r>
              <a:rPr lang="it-IT" dirty="0" err="1"/>
              <a:t>q</a:t>
            </a:r>
            <a:r>
              <a:rPr lang="it-IT" sz="1000" dirty="0" err="1"/>
              <a:t>F</a:t>
            </a:r>
            <a:r>
              <a:rPr lang="it-IT" sz="1000" dirty="0"/>
              <a:t> ,…</a:t>
            </a:r>
            <a:r>
              <a:rPr lang="it-IT" dirty="0"/>
              <a:t>&gt;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23086C9-5085-91EC-4982-2984D3865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469" y="4203850"/>
            <a:ext cx="2155326" cy="221985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1B77FF-5CFA-339D-9291-310C0A142153}"/>
              </a:ext>
            </a:extLst>
          </p:cNvPr>
          <p:cNvSpPr txBox="1"/>
          <p:nvPr/>
        </p:nvSpPr>
        <p:spPr>
          <a:xfrm>
            <a:off x="629545" y="1418264"/>
            <a:ext cx="24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/>
              <a:t>DFA</a:t>
            </a:r>
          </a:p>
        </p:txBody>
      </p:sp>
      <p:pic>
        <p:nvPicPr>
          <p:cNvPr id="3" name="Picture 4" descr="Büchi automaton">
            <a:extLst>
              <a:ext uri="{FF2B5EF4-FFF2-40B4-BE49-F238E27FC236}">
                <a16:creationId xmlns:a16="http://schemas.microsoft.com/office/drawing/2014/main" id="{1A15D0EF-9072-01FF-BB71-5C067CC1A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3" y="4305520"/>
            <a:ext cx="1243119" cy="155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F8D34A-8786-8F32-9F4D-5F8003088AB3}"/>
              </a:ext>
            </a:extLst>
          </p:cNvPr>
          <p:cNvSpPr txBox="1"/>
          <p:nvPr/>
        </p:nvSpPr>
        <p:spPr>
          <a:xfrm>
            <a:off x="370772" y="5861155"/>
            <a:ext cx="24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 good LTL </a:t>
            </a:r>
            <a:r>
              <a:rPr lang="it-IT" b="1" dirty="0" err="1"/>
              <a:t>specification</a:t>
            </a:r>
            <a:endParaRPr lang="it-IT" b="1" dirty="0"/>
          </a:p>
          <a:p>
            <a:r>
              <a:rPr lang="it-IT" i="1" dirty="0"/>
              <a:t>G(south v </a:t>
            </a:r>
            <a:r>
              <a:rPr lang="it-IT" i="1" dirty="0" err="1"/>
              <a:t>east</a:t>
            </a:r>
            <a:r>
              <a:rPr lang="it-IT" i="1" dirty="0"/>
              <a:t>)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5BD48F4-03B7-D3A2-7063-80BC21E3E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5023" y="4922107"/>
            <a:ext cx="4959605" cy="1301817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20AAA76-A7DC-EB1B-CF41-CED37B89F617}"/>
              </a:ext>
            </a:extLst>
          </p:cNvPr>
          <p:cNvSpPr txBox="1"/>
          <p:nvPr/>
        </p:nvSpPr>
        <p:spPr>
          <a:xfrm>
            <a:off x="4525108" y="4512275"/>
            <a:ext cx="223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Product MDP</a:t>
            </a:r>
          </a:p>
        </p:txBody>
      </p:sp>
    </p:spTree>
    <p:extLst>
      <p:ext uri="{BB962C8B-B14F-4D97-AF65-F5344CB8AC3E}">
        <p14:creationId xmlns:p14="http://schemas.microsoft.com/office/powerpoint/2010/main" val="19615444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0B5441-2969-F3BD-8F86-6ABFC4A3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00704C-E797-DC8E-C7D3-17CB01C0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EAAF09-10F8-BF2C-5366-A2A854F2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90</a:t>
            </a:fld>
            <a:endParaRPr lang="de-DE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444E65B-E488-58F1-1522-9DE6906F450B}"/>
              </a:ext>
            </a:extLst>
          </p:cNvPr>
          <p:cNvSpPr/>
          <p:nvPr/>
        </p:nvSpPr>
        <p:spPr>
          <a:xfrm>
            <a:off x="2463332" y="2608384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594B5FF-BA77-C20C-6141-59C7B78613EF}"/>
              </a:ext>
            </a:extLst>
          </p:cNvPr>
          <p:cNvSpPr/>
          <p:nvPr/>
        </p:nvSpPr>
        <p:spPr>
          <a:xfrm>
            <a:off x="6974946" y="2614197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899A091-ADDA-E9C2-F295-7182BB235288}"/>
              </a:ext>
            </a:extLst>
          </p:cNvPr>
          <p:cNvSpPr/>
          <p:nvPr/>
        </p:nvSpPr>
        <p:spPr>
          <a:xfrm>
            <a:off x="4500217" y="4257430"/>
            <a:ext cx="1630661" cy="86750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</a:t>
            </a:r>
            <a:endParaRPr lang="it-IT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0C974973-F4E3-A423-E966-8D76AA2A7F1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042881" y="4691184"/>
            <a:ext cx="1457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5F0E6FE-8D74-1017-80F5-B982B9B07F0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819382" y="3481705"/>
            <a:ext cx="16468" cy="12192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1420DD7-0A9F-ECBA-8FAD-25786DA7D050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042882" y="3475892"/>
            <a:ext cx="0" cy="1215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B12E1BD-A532-622C-D279-3A97A21DF557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130878" y="4691184"/>
            <a:ext cx="1688504" cy="97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5AD29B5-38D7-C202-F4F6-4FB38D40F74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622431" y="3042138"/>
            <a:ext cx="3352515" cy="5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BB829CF-E80E-D8FA-66EE-3FFFEB406B9B}"/>
              </a:ext>
            </a:extLst>
          </p:cNvPr>
          <p:cNvSpPr txBox="1"/>
          <p:nvPr/>
        </p:nvSpPr>
        <p:spPr>
          <a:xfrm>
            <a:off x="6465277" y="488852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CF32B7F-69BD-F2B3-9D7D-E04540DB205F}"/>
              </a:ext>
            </a:extLst>
          </p:cNvPr>
          <p:cNvSpPr txBox="1"/>
          <p:nvPr/>
        </p:nvSpPr>
        <p:spPr>
          <a:xfrm>
            <a:off x="4917831" y="2669884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F62C3B77-0431-2065-DCE1-CA6773AD0B53}"/>
              </a:ext>
            </a:extLst>
          </p:cNvPr>
          <p:cNvCxnSpPr>
            <a:cxnSpLocks/>
          </p:cNvCxnSpPr>
          <p:nvPr/>
        </p:nvCxnSpPr>
        <p:spPr>
          <a:xfrm>
            <a:off x="7819382" y="2157046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C23122F8-293D-4C32-8522-C28EA7E8EF6E}"/>
              </a:ext>
            </a:extLst>
          </p:cNvPr>
          <p:cNvCxnSpPr>
            <a:cxnSpLocks/>
          </p:cNvCxnSpPr>
          <p:nvPr/>
        </p:nvCxnSpPr>
        <p:spPr>
          <a:xfrm>
            <a:off x="3042881" y="2157046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DBDA922-4A3E-596E-C2AB-F61C64BFEFE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42881" y="2157046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C7F78B9E-068C-B842-F2D8-344D316731F7}"/>
              </a:ext>
            </a:extLst>
          </p:cNvPr>
          <p:cNvCxnSpPr>
            <a:cxnSpLocks/>
          </p:cNvCxnSpPr>
          <p:nvPr/>
        </p:nvCxnSpPr>
        <p:spPr>
          <a:xfrm>
            <a:off x="8339942" y="3495335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36021D3-6400-EEF7-01C4-8F6147C9DF45}"/>
              </a:ext>
            </a:extLst>
          </p:cNvPr>
          <p:cNvCxnSpPr>
            <a:cxnSpLocks/>
          </p:cNvCxnSpPr>
          <p:nvPr/>
        </p:nvCxnSpPr>
        <p:spPr>
          <a:xfrm>
            <a:off x="2670257" y="5427785"/>
            <a:ext cx="566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C97F8C4-6C3F-E74E-FC1F-658F87D7701A}"/>
              </a:ext>
            </a:extLst>
          </p:cNvPr>
          <p:cNvCxnSpPr>
            <a:cxnSpLocks/>
          </p:cNvCxnSpPr>
          <p:nvPr/>
        </p:nvCxnSpPr>
        <p:spPr>
          <a:xfrm flipV="1">
            <a:off x="2670257" y="3495335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magine 21">
            <a:extLst>
              <a:ext uri="{FF2B5EF4-FFF2-40B4-BE49-F238E27FC236}">
                <a16:creationId xmlns:a16="http://schemas.microsoft.com/office/drawing/2014/main" id="{EAC16018-8B23-3B55-F441-1A0686F4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59" y="5499045"/>
            <a:ext cx="3786248" cy="993830"/>
          </a:xfrm>
          <a:prstGeom prst="rect">
            <a:avLst/>
          </a:prstGeom>
        </p:spPr>
      </p:pic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15B17CA1-1DE5-3A64-FD28-4DD5DF707E68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315548" y="3042138"/>
            <a:ext cx="0" cy="1215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7DE6A5-2035-52C1-B175-BC9A7D048E49}"/>
                  </a:ext>
                </a:extLst>
              </p:cNvPr>
              <p:cNvSpPr txBox="1"/>
              <p:nvPr/>
            </p:nvSpPr>
            <p:spPr>
              <a:xfrm>
                <a:off x="3174350" y="4210231"/>
                <a:ext cx="12534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7DE6A5-2035-52C1-B175-BC9A7D04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350" y="4210231"/>
                <a:ext cx="1253484" cy="276999"/>
              </a:xfrm>
              <a:prstGeom prst="rect">
                <a:avLst/>
              </a:prstGeom>
              <a:blipFill>
                <a:blip r:embed="rId3"/>
                <a:stretch>
                  <a:fillRect l="-4390" t="-4444" r="-6829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4" descr="Büchi automaton">
            <a:extLst>
              <a:ext uri="{FF2B5EF4-FFF2-40B4-BE49-F238E27FC236}">
                <a16:creationId xmlns:a16="http://schemas.microsoft.com/office/drawing/2014/main" id="{C7600BA6-52BF-6686-A9C8-E7569A062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09" y="3943410"/>
            <a:ext cx="1243119" cy="155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D38AFBD0-ABE9-8CF5-45AC-CF402851F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838" y="3776104"/>
            <a:ext cx="2155326" cy="22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1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0262-8F04-2E78-85D1-C066E896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69EE74-9819-7985-B9EB-3D14EF97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EE5C24-280F-26AA-7950-C7F95812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BE672E-E8B2-E289-FD42-D18D1D3B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91</a:t>
            </a:fld>
            <a:endParaRPr lang="de-DE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13A09E6-ECFB-15E6-E2C6-25049E5E230E}"/>
              </a:ext>
            </a:extLst>
          </p:cNvPr>
          <p:cNvSpPr/>
          <p:nvPr/>
        </p:nvSpPr>
        <p:spPr>
          <a:xfrm>
            <a:off x="2463332" y="2608384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3D60250-6639-C951-1538-70D362DC045C}"/>
              </a:ext>
            </a:extLst>
          </p:cNvPr>
          <p:cNvSpPr/>
          <p:nvPr/>
        </p:nvSpPr>
        <p:spPr>
          <a:xfrm>
            <a:off x="6974946" y="2614197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42EDD43-7DA0-0CAB-68CD-61F11AB3CD86}"/>
              </a:ext>
            </a:extLst>
          </p:cNvPr>
          <p:cNvSpPr/>
          <p:nvPr/>
        </p:nvSpPr>
        <p:spPr>
          <a:xfrm>
            <a:off x="4500217" y="4257430"/>
            <a:ext cx="1630661" cy="8675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</a:t>
            </a:r>
            <a:endParaRPr lang="it-IT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D7470A81-C8A2-91F2-E803-BC901234E96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042881" y="4691184"/>
            <a:ext cx="1457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8A51188-EC18-C19A-6302-366D0D0E69B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819382" y="3481705"/>
            <a:ext cx="16468" cy="12192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3EFC2B2-87CA-7CDE-3A65-B2D514F090FA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042882" y="3475892"/>
            <a:ext cx="0" cy="1215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E3B4E48-EDBC-1EC2-2269-B6F9CA295B86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130878" y="4691184"/>
            <a:ext cx="1688504" cy="97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D87748C-FF20-B399-3F72-7588936E8BD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622431" y="3042138"/>
            <a:ext cx="3352515" cy="5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3DD3B4D-796B-FEF9-158F-EFF107A27769}"/>
              </a:ext>
            </a:extLst>
          </p:cNvPr>
          <p:cNvSpPr txBox="1"/>
          <p:nvPr/>
        </p:nvSpPr>
        <p:spPr>
          <a:xfrm>
            <a:off x="6485327" y="4088988"/>
            <a:ext cx="1354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solidFill>
                  <a:srgbClr val="00B0F0"/>
                </a:solidFill>
              </a:rPr>
              <a:t>Interpreted</a:t>
            </a:r>
            <a:r>
              <a:rPr lang="it-IT" sz="1400" b="1" dirty="0">
                <a:solidFill>
                  <a:srgbClr val="00B0F0"/>
                </a:solidFill>
              </a:rPr>
              <a:t> </a:t>
            </a:r>
            <a:r>
              <a:rPr lang="it-IT" sz="1400" b="1" dirty="0" err="1">
                <a:solidFill>
                  <a:srgbClr val="00B0F0"/>
                </a:solidFill>
              </a:rPr>
              <a:t>observations</a:t>
            </a:r>
            <a:endParaRPr lang="it-IT" sz="1400" b="1" dirty="0">
              <a:solidFill>
                <a:srgbClr val="00B0F0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256EA6C-EAE1-2B94-E07E-68444F720B4D}"/>
              </a:ext>
            </a:extLst>
          </p:cNvPr>
          <p:cNvSpPr txBox="1"/>
          <p:nvPr/>
        </p:nvSpPr>
        <p:spPr>
          <a:xfrm>
            <a:off x="4917831" y="2669884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A60AAD69-F791-6F2B-27B0-2669EA3A532D}"/>
              </a:ext>
            </a:extLst>
          </p:cNvPr>
          <p:cNvCxnSpPr>
            <a:cxnSpLocks/>
          </p:cNvCxnSpPr>
          <p:nvPr/>
        </p:nvCxnSpPr>
        <p:spPr>
          <a:xfrm>
            <a:off x="7819382" y="2157046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6B2EF412-171D-1714-BDD4-D87A48EDA192}"/>
              </a:ext>
            </a:extLst>
          </p:cNvPr>
          <p:cNvCxnSpPr>
            <a:cxnSpLocks/>
          </p:cNvCxnSpPr>
          <p:nvPr/>
        </p:nvCxnSpPr>
        <p:spPr>
          <a:xfrm>
            <a:off x="3042881" y="2157046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F18D23B8-F32A-D242-54C8-B28C575849C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42881" y="2157046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42BEE59A-8C31-0FDB-750C-C2AA3303ACD9}"/>
              </a:ext>
            </a:extLst>
          </p:cNvPr>
          <p:cNvCxnSpPr>
            <a:cxnSpLocks/>
          </p:cNvCxnSpPr>
          <p:nvPr/>
        </p:nvCxnSpPr>
        <p:spPr>
          <a:xfrm>
            <a:off x="8339942" y="3495335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6A4BD57A-B976-CADF-F535-D297A392BD7C}"/>
              </a:ext>
            </a:extLst>
          </p:cNvPr>
          <p:cNvCxnSpPr>
            <a:cxnSpLocks/>
          </p:cNvCxnSpPr>
          <p:nvPr/>
        </p:nvCxnSpPr>
        <p:spPr>
          <a:xfrm>
            <a:off x="2670257" y="5427785"/>
            <a:ext cx="5669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038E8FE7-7493-E14D-6F13-2E621B93C3E2}"/>
              </a:ext>
            </a:extLst>
          </p:cNvPr>
          <p:cNvCxnSpPr>
            <a:cxnSpLocks/>
          </p:cNvCxnSpPr>
          <p:nvPr/>
        </p:nvCxnSpPr>
        <p:spPr>
          <a:xfrm flipV="1">
            <a:off x="2670257" y="3495335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magine 21">
            <a:extLst>
              <a:ext uri="{FF2B5EF4-FFF2-40B4-BE49-F238E27FC236}">
                <a16:creationId xmlns:a16="http://schemas.microsoft.com/office/drawing/2014/main" id="{BAFA8E94-6DDC-F9BC-C0D4-264457A7F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59" y="5499045"/>
            <a:ext cx="3786248" cy="993830"/>
          </a:xfrm>
          <a:prstGeom prst="rect">
            <a:avLst/>
          </a:prstGeom>
        </p:spPr>
      </p:pic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3AD288B-63AA-1E29-8FDF-232F4ACB4B3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315548" y="3042138"/>
            <a:ext cx="0" cy="1215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4B532E3-CB9D-502C-BE28-4853AC5A627D}"/>
                  </a:ext>
                </a:extLst>
              </p:cNvPr>
              <p:cNvSpPr txBox="1"/>
              <p:nvPr/>
            </p:nvSpPr>
            <p:spPr>
              <a:xfrm>
                <a:off x="3174350" y="4210231"/>
                <a:ext cx="12534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it-IT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4B532E3-CB9D-502C-BE28-4853AC5A6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350" y="4210231"/>
                <a:ext cx="1253484" cy="276999"/>
              </a:xfrm>
              <a:prstGeom prst="rect">
                <a:avLst/>
              </a:prstGeom>
              <a:blipFill>
                <a:blip r:embed="rId3"/>
                <a:stretch>
                  <a:fillRect l="-4390" t="-4444" r="-6829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4" descr="Büchi automaton">
            <a:extLst>
              <a:ext uri="{FF2B5EF4-FFF2-40B4-BE49-F238E27FC236}">
                <a16:creationId xmlns:a16="http://schemas.microsoft.com/office/drawing/2014/main" id="{042DDED2-8A26-7446-F4A0-998370F37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09" y="3943410"/>
            <a:ext cx="1243119" cy="15556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192A5BEA-94AB-8FC4-1741-86F2F19D5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838" y="3776104"/>
            <a:ext cx="2155326" cy="2219856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81FBF2F-176E-C594-ADF0-EA036F8991E7}"/>
              </a:ext>
            </a:extLst>
          </p:cNvPr>
          <p:cNvSpPr txBox="1"/>
          <p:nvPr/>
        </p:nvSpPr>
        <p:spPr>
          <a:xfrm>
            <a:off x="6487278" y="5134708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E3D190E-661D-9F49-156E-E1A3E001D5F9}"/>
              </a:ext>
            </a:extLst>
          </p:cNvPr>
          <p:cNvSpPr txBox="1"/>
          <p:nvPr/>
        </p:nvSpPr>
        <p:spPr>
          <a:xfrm>
            <a:off x="8339942" y="1394948"/>
            <a:ext cx="288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B0F0"/>
                </a:solidFill>
              </a:rPr>
              <a:t>MDP (</a:t>
            </a:r>
            <a:r>
              <a:rPr lang="it-IT" b="1" dirty="0" err="1">
                <a:solidFill>
                  <a:srgbClr val="00B0F0"/>
                </a:solidFill>
              </a:rPr>
              <a:t>s,a</a:t>
            </a:r>
            <a:r>
              <a:rPr lang="it-IT" b="1" dirty="0">
                <a:solidFill>
                  <a:srgbClr val="00B0F0"/>
                </a:solidFill>
              </a:rPr>
              <a:t>) -&gt; </a:t>
            </a:r>
            <a:r>
              <a:rPr lang="it-IT" b="1" dirty="0" err="1">
                <a:solidFill>
                  <a:srgbClr val="00B0F0"/>
                </a:solidFill>
              </a:rPr>
              <a:t>interpretations</a:t>
            </a:r>
            <a:endParaRPr lang="it-IT" b="1" dirty="0">
              <a:solidFill>
                <a:srgbClr val="00B0F0"/>
              </a:solidFill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763A0A7-E422-28EF-C564-891686ED321E}"/>
              </a:ext>
            </a:extLst>
          </p:cNvPr>
          <p:cNvSpPr txBox="1"/>
          <p:nvPr/>
        </p:nvSpPr>
        <p:spPr>
          <a:xfrm>
            <a:off x="5346566" y="3515899"/>
            <a:ext cx="1354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solidFill>
                  <a:srgbClr val="00B0F0"/>
                </a:solidFill>
              </a:rPr>
              <a:t>Interpreted</a:t>
            </a:r>
            <a:r>
              <a:rPr lang="it-IT" sz="1400" b="1" dirty="0">
                <a:solidFill>
                  <a:srgbClr val="00B0F0"/>
                </a:solidFill>
              </a:rPr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21456308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57556D-B687-1BB9-071C-D5CBE66F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D89BE9-53DC-5BED-0444-4FE4EFC8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only</a:t>
            </a:r>
            <a:r>
              <a:rPr lang="it-IT" dirty="0"/>
              <a:t> way?</a:t>
            </a:r>
          </a:p>
          <a:p>
            <a:pPr lvl="1"/>
            <a:r>
              <a:rPr lang="it-IT" dirty="0"/>
              <a:t>Better success rate / </a:t>
            </a:r>
            <a:r>
              <a:rPr lang="it-IT" dirty="0" err="1"/>
              <a:t>return</a:t>
            </a:r>
            <a:endParaRPr lang="it-IT" dirty="0"/>
          </a:p>
          <a:p>
            <a:pPr lvl="1"/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impose </a:t>
            </a:r>
            <a:r>
              <a:rPr lang="it-IT" b="1" dirty="0"/>
              <a:t>hard </a:t>
            </a:r>
            <a:r>
              <a:rPr lang="it-IT" b="1" dirty="0" err="1"/>
              <a:t>constraints</a:t>
            </a:r>
            <a:r>
              <a:rPr lang="it-IT" dirty="0"/>
              <a:t>?</a:t>
            </a:r>
            <a:br>
              <a:rPr lang="it-IT" dirty="0"/>
            </a:br>
            <a:r>
              <a:rPr lang="it-IT" i="1" dirty="0"/>
              <a:t>G(</a:t>
            </a:r>
            <a:r>
              <a:rPr lang="it-IT" i="1" dirty="0" err="1"/>
              <a:t>move</a:t>
            </a:r>
            <a:r>
              <a:rPr lang="it-IT" i="1" dirty="0"/>
              <a:t>(Dir) &lt;- </a:t>
            </a:r>
            <a:r>
              <a:rPr lang="it-IT" i="1" dirty="0" err="1"/>
              <a:t>not</a:t>
            </a:r>
            <a:r>
              <a:rPr lang="it-IT" i="1" dirty="0"/>
              <a:t> </a:t>
            </a:r>
            <a:r>
              <a:rPr lang="it-IT" i="1" dirty="0" err="1"/>
              <a:t>obstacle</a:t>
            </a:r>
            <a:r>
              <a:rPr lang="it-IT" i="1" dirty="0"/>
              <a:t>(Dir))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BB2AA01-AAF2-74E3-82AB-A34915C7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0602E8-A8AF-27E9-774A-2CCDB18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92</a:t>
            </a:fld>
            <a:endParaRPr lang="de-DE"/>
          </a:p>
        </p:txBody>
      </p:sp>
      <p:pic>
        <p:nvPicPr>
          <p:cNvPr id="6" name="Picture 4" descr="Büchi automaton">
            <a:extLst>
              <a:ext uri="{FF2B5EF4-FFF2-40B4-BE49-F238E27FC236}">
                <a16:creationId xmlns:a16="http://schemas.microsoft.com/office/drawing/2014/main" id="{9394627E-A2EC-167B-958A-FD7DF74E7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941" y="2023047"/>
            <a:ext cx="1243119" cy="155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A45B2B1-A788-B586-075D-A19CB25C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838" y="3776104"/>
            <a:ext cx="2155326" cy="22198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D3C9510-C0BB-4F0F-595B-6AF942FAE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590" y="3528493"/>
            <a:ext cx="4035768" cy="263333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B9B8BA0-22FA-3978-1F3E-A9AD92D98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535" y="2023047"/>
            <a:ext cx="2174921" cy="132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29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2D3869-7D1B-E118-41D7-FE8FB067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Shielding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5DCD1-FBE9-E553-FF0C-BEDE0376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157BE7-2FD1-5228-A783-6EC57294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93</a:t>
            </a:fld>
            <a:endParaRPr lang="de-DE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A5A9E8E-A92F-523E-D674-1EB34D8BCC35}"/>
              </a:ext>
            </a:extLst>
          </p:cNvPr>
          <p:cNvSpPr/>
          <p:nvPr/>
        </p:nvSpPr>
        <p:spPr>
          <a:xfrm>
            <a:off x="2463332" y="2608384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2E1B88B-76F3-985C-0B19-A41A1E405519}"/>
              </a:ext>
            </a:extLst>
          </p:cNvPr>
          <p:cNvSpPr/>
          <p:nvPr/>
        </p:nvSpPr>
        <p:spPr>
          <a:xfrm>
            <a:off x="6974946" y="2608384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46960A9-3436-CA7D-16DC-300B3FC4645D}"/>
              </a:ext>
            </a:extLst>
          </p:cNvPr>
          <p:cNvSpPr/>
          <p:nvPr/>
        </p:nvSpPr>
        <p:spPr>
          <a:xfrm>
            <a:off x="4500217" y="4257430"/>
            <a:ext cx="1630661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072AEC05-8CAB-D48A-5C1D-8E5C12200FBE}"/>
              </a:ext>
            </a:extLst>
          </p:cNvPr>
          <p:cNvCxnSpPr>
            <a:cxnSpLocks/>
          </p:cNvCxnSpPr>
          <p:nvPr/>
        </p:nvCxnSpPr>
        <p:spPr>
          <a:xfrm>
            <a:off x="7819382" y="3468076"/>
            <a:ext cx="0" cy="12328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8F71006-0E39-B47A-A723-4918D3E9EAC5}"/>
              </a:ext>
            </a:extLst>
          </p:cNvPr>
          <p:cNvCxnSpPr>
            <a:cxnSpLocks/>
          </p:cNvCxnSpPr>
          <p:nvPr/>
        </p:nvCxnSpPr>
        <p:spPr>
          <a:xfrm>
            <a:off x="3622431" y="3042138"/>
            <a:ext cx="8440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7083E0C-7B5F-026E-6A7F-DFE330831332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130878" y="4691184"/>
            <a:ext cx="1688504" cy="97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Risultato immagine per intersection symbol set">
            <a:extLst>
              <a:ext uri="{FF2B5EF4-FFF2-40B4-BE49-F238E27FC236}">
                <a16:creationId xmlns:a16="http://schemas.microsoft.com/office/drawing/2014/main" id="{AFBA180A-1A06-E9FF-6E38-67E3AE06B5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086" r="10905" b="10947"/>
          <a:stretch/>
        </p:blipFill>
        <p:spPr bwMode="auto">
          <a:xfrm>
            <a:off x="4733529" y="2608384"/>
            <a:ext cx="1154062" cy="77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EC4C9D6F-D53A-4390-76BE-A38FDCB65AFD}"/>
              </a:ext>
            </a:extLst>
          </p:cNvPr>
          <p:cNvSpPr/>
          <p:nvPr/>
        </p:nvSpPr>
        <p:spPr>
          <a:xfrm>
            <a:off x="4500217" y="2600567"/>
            <a:ext cx="1630661" cy="8928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E23E49B-C019-92F8-E809-17E091270CC6}"/>
              </a:ext>
            </a:extLst>
          </p:cNvPr>
          <p:cNvCxnSpPr>
            <a:cxnSpLocks/>
            <a:stCxn id="8" idx="0"/>
            <a:endCxn id="13" idx="2"/>
          </p:cNvCxnSpPr>
          <p:nvPr/>
        </p:nvCxnSpPr>
        <p:spPr>
          <a:xfrm flipV="1">
            <a:off x="5315548" y="3493432"/>
            <a:ext cx="0" cy="7639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5873943-2A83-4ED8-FCC8-4A2BB118E4A8}"/>
              </a:ext>
            </a:extLst>
          </p:cNvPr>
          <p:cNvCxnSpPr>
            <a:cxnSpLocks/>
          </p:cNvCxnSpPr>
          <p:nvPr/>
        </p:nvCxnSpPr>
        <p:spPr>
          <a:xfrm>
            <a:off x="6130885" y="3089030"/>
            <a:ext cx="8440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557E5C3-25C3-1FC6-0A19-983D01309427}"/>
              </a:ext>
            </a:extLst>
          </p:cNvPr>
          <p:cNvSpPr txBox="1"/>
          <p:nvPr/>
        </p:nvSpPr>
        <p:spPr>
          <a:xfrm>
            <a:off x="6465277" y="488852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9D5D717-6359-4E4F-B225-C12E3269060B}"/>
              </a:ext>
            </a:extLst>
          </p:cNvPr>
          <p:cNvSpPr txBox="1"/>
          <p:nvPr/>
        </p:nvSpPr>
        <p:spPr>
          <a:xfrm>
            <a:off x="3656149" y="265807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143CAAF8-82C6-0D89-7640-77D81B6570F8}"/>
              </a:ext>
            </a:extLst>
          </p:cNvPr>
          <p:cNvCxnSpPr>
            <a:cxnSpLocks/>
          </p:cNvCxnSpPr>
          <p:nvPr/>
        </p:nvCxnSpPr>
        <p:spPr>
          <a:xfrm>
            <a:off x="7819382" y="2157046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73C2216A-80E6-552D-33CF-4A0895E74BBD}"/>
              </a:ext>
            </a:extLst>
          </p:cNvPr>
          <p:cNvCxnSpPr>
            <a:cxnSpLocks/>
          </p:cNvCxnSpPr>
          <p:nvPr/>
        </p:nvCxnSpPr>
        <p:spPr>
          <a:xfrm>
            <a:off x="3042881" y="2157046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1FCDC13-A74F-FFB6-6F62-ADDBB9C8FA5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42881" y="2157046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CF80267-43DC-1F75-76FF-19D98FCA81D2}"/>
              </a:ext>
            </a:extLst>
          </p:cNvPr>
          <p:cNvSpPr txBox="1"/>
          <p:nvPr/>
        </p:nvSpPr>
        <p:spPr>
          <a:xfrm>
            <a:off x="4917831" y="1770185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reward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985E9A4F-0042-6D8D-65C8-C6AA85DE04E6}"/>
              </a:ext>
            </a:extLst>
          </p:cNvPr>
          <p:cNvCxnSpPr>
            <a:cxnSpLocks/>
          </p:cNvCxnSpPr>
          <p:nvPr/>
        </p:nvCxnSpPr>
        <p:spPr>
          <a:xfrm>
            <a:off x="8339942" y="3495335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2DD85D0-5AB0-FF6F-0A76-3D43F5F64618}"/>
              </a:ext>
            </a:extLst>
          </p:cNvPr>
          <p:cNvCxnSpPr>
            <a:cxnSpLocks/>
          </p:cNvCxnSpPr>
          <p:nvPr/>
        </p:nvCxnSpPr>
        <p:spPr>
          <a:xfrm>
            <a:off x="3042881" y="5427785"/>
            <a:ext cx="52970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554B8DA2-E0D9-38A5-6182-B57DDAED276B}"/>
              </a:ext>
            </a:extLst>
          </p:cNvPr>
          <p:cNvCxnSpPr>
            <a:cxnSpLocks/>
          </p:cNvCxnSpPr>
          <p:nvPr/>
        </p:nvCxnSpPr>
        <p:spPr>
          <a:xfrm flipV="1">
            <a:off x="3042881" y="3475892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magine 24">
            <a:extLst>
              <a:ext uri="{FF2B5EF4-FFF2-40B4-BE49-F238E27FC236}">
                <a16:creationId xmlns:a16="http://schemas.microsoft.com/office/drawing/2014/main" id="{D8CF62B1-8759-A179-011A-AC11F8B10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690" y="3680115"/>
            <a:ext cx="1485976" cy="45722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74220B63-F7B4-E985-D07E-4255815F3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759" y="5499045"/>
            <a:ext cx="3786248" cy="993830"/>
          </a:xfrm>
          <a:prstGeom prst="rect">
            <a:avLst/>
          </a:prstGeom>
        </p:spPr>
      </p:pic>
      <p:pic>
        <p:nvPicPr>
          <p:cNvPr id="1026" name="Picture 2" descr="Büchi automaton">
            <a:extLst>
              <a:ext uri="{FF2B5EF4-FFF2-40B4-BE49-F238E27FC236}">
                <a16:creationId xmlns:a16="http://schemas.microsoft.com/office/drawing/2014/main" id="{83C25A03-E6D2-AF34-3D13-37A70F92A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48" y="4094965"/>
            <a:ext cx="1527050" cy="143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10040B8E-2ECC-01B7-54BD-9A9968F35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838" y="3776104"/>
            <a:ext cx="2155326" cy="2219856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904CCD5-999D-668D-C965-57BFC37D0A47}"/>
              </a:ext>
            </a:extLst>
          </p:cNvPr>
          <p:cNvSpPr txBox="1"/>
          <p:nvPr/>
        </p:nvSpPr>
        <p:spPr>
          <a:xfrm>
            <a:off x="8696753" y="1172150"/>
            <a:ext cx="274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Action </a:t>
            </a:r>
            <a:r>
              <a:rPr lang="it-IT" b="1" dirty="0" err="1"/>
              <a:t>pruning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Safety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preserved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22095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102E-1BF8-82ED-127D-6751C65B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B3248-D8BB-47B6-EDFD-8292C336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Shielding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077FFB-01F2-6DD3-A2CC-60F0B48E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57F0EFC-77FD-8721-2C6E-3B835D3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94</a:t>
            </a:fld>
            <a:endParaRPr lang="de-DE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F044633-1140-B4F1-8B04-95D5AD4A090A}"/>
              </a:ext>
            </a:extLst>
          </p:cNvPr>
          <p:cNvSpPr/>
          <p:nvPr/>
        </p:nvSpPr>
        <p:spPr>
          <a:xfrm>
            <a:off x="2463332" y="2608384"/>
            <a:ext cx="1159099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99C740D-C692-530A-C282-469700FCA485}"/>
              </a:ext>
            </a:extLst>
          </p:cNvPr>
          <p:cNvSpPr/>
          <p:nvPr/>
        </p:nvSpPr>
        <p:spPr>
          <a:xfrm>
            <a:off x="6974946" y="2608384"/>
            <a:ext cx="1721807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7F2A2CA-5086-0AA6-FC6A-5F756785903D}"/>
              </a:ext>
            </a:extLst>
          </p:cNvPr>
          <p:cNvSpPr/>
          <p:nvPr/>
        </p:nvSpPr>
        <p:spPr>
          <a:xfrm>
            <a:off x="4500217" y="4257430"/>
            <a:ext cx="1630661" cy="86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Logical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</a:t>
            </a:r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DC2B4893-F0C0-94F6-7788-AD4B0D4CE38E}"/>
              </a:ext>
            </a:extLst>
          </p:cNvPr>
          <p:cNvCxnSpPr>
            <a:cxnSpLocks/>
          </p:cNvCxnSpPr>
          <p:nvPr/>
        </p:nvCxnSpPr>
        <p:spPr>
          <a:xfrm>
            <a:off x="7819382" y="3468076"/>
            <a:ext cx="0" cy="12328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AD7BBAB-3D8E-B2C1-3951-C1EA7CCBC4C8}"/>
              </a:ext>
            </a:extLst>
          </p:cNvPr>
          <p:cNvCxnSpPr>
            <a:cxnSpLocks/>
          </p:cNvCxnSpPr>
          <p:nvPr/>
        </p:nvCxnSpPr>
        <p:spPr>
          <a:xfrm>
            <a:off x="3622431" y="3042138"/>
            <a:ext cx="8440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EF46380-8B05-5D9C-A81C-99716D9E453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6130878" y="4691184"/>
            <a:ext cx="1688504" cy="97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Risultato immagine per intersection symbol set">
            <a:extLst>
              <a:ext uri="{FF2B5EF4-FFF2-40B4-BE49-F238E27FC236}">
                <a16:creationId xmlns:a16="http://schemas.microsoft.com/office/drawing/2014/main" id="{749CE37A-CA6E-52E5-ED6F-9CBB2C66E8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086" r="10905" b="10947"/>
          <a:stretch/>
        </p:blipFill>
        <p:spPr bwMode="auto">
          <a:xfrm>
            <a:off x="4733529" y="2608384"/>
            <a:ext cx="1154062" cy="77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DDE0D4F1-83F6-C2C5-E082-BAD4FDEC6054}"/>
              </a:ext>
            </a:extLst>
          </p:cNvPr>
          <p:cNvSpPr/>
          <p:nvPr/>
        </p:nvSpPr>
        <p:spPr>
          <a:xfrm>
            <a:off x="4500217" y="2600567"/>
            <a:ext cx="1630661" cy="8928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28AD88E2-23D2-9DC4-DE14-C687EC8ED4E2}"/>
              </a:ext>
            </a:extLst>
          </p:cNvPr>
          <p:cNvCxnSpPr>
            <a:cxnSpLocks/>
            <a:stCxn id="8" idx="0"/>
            <a:endCxn id="13" idx="2"/>
          </p:cNvCxnSpPr>
          <p:nvPr/>
        </p:nvCxnSpPr>
        <p:spPr>
          <a:xfrm flipV="1">
            <a:off x="5315548" y="3493432"/>
            <a:ext cx="0" cy="7639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5FD12AD-366B-EE08-EBF5-15951FD76059}"/>
              </a:ext>
            </a:extLst>
          </p:cNvPr>
          <p:cNvCxnSpPr>
            <a:cxnSpLocks/>
          </p:cNvCxnSpPr>
          <p:nvPr/>
        </p:nvCxnSpPr>
        <p:spPr>
          <a:xfrm>
            <a:off x="6130885" y="3089030"/>
            <a:ext cx="8440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03BBADB-23BB-01B1-493F-644B3856267B}"/>
              </a:ext>
            </a:extLst>
          </p:cNvPr>
          <p:cNvSpPr txBox="1"/>
          <p:nvPr/>
        </p:nvSpPr>
        <p:spPr>
          <a:xfrm>
            <a:off x="6465277" y="488852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observations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7380365-A0FC-FAE5-9755-44B7067EDB40}"/>
              </a:ext>
            </a:extLst>
          </p:cNvPr>
          <p:cNvSpPr txBox="1"/>
          <p:nvPr/>
        </p:nvSpPr>
        <p:spPr>
          <a:xfrm>
            <a:off x="3656149" y="2658073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actions</a:t>
            </a: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D3DAC977-5FDF-6894-65B7-0DEBA3E8BD3D}"/>
              </a:ext>
            </a:extLst>
          </p:cNvPr>
          <p:cNvCxnSpPr>
            <a:cxnSpLocks/>
          </p:cNvCxnSpPr>
          <p:nvPr/>
        </p:nvCxnSpPr>
        <p:spPr>
          <a:xfrm>
            <a:off x="7819382" y="2157046"/>
            <a:ext cx="0" cy="4435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26C11D7-16F6-AD49-7910-DA7448E07FCC}"/>
              </a:ext>
            </a:extLst>
          </p:cNvPr>
          <p:cNvCxnSpPr>
            <a:cxnSpLocks/>
          </p:cNvCxnSpPr>
          <p:nvPr/>
        </p:nvCxnSpPr>
        <p:spPr>
          <a:xfrm>
            <a:off x="3042881" y="2157046"/>
            <a:ext cx="47676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0AFB6D47-F783-951D-CA54-D9D92C0D0A3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42881" y="2157046"/>
            <a:ext cx="1" cy="4513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F348986-6EFF-21FB-4948-78235D6E3540}"/>
              </a:ext>
            </a:extLst>
          </p:cNvPr>
          <p:cNvSpPr txBox="1"/>
          <p:nvPr/>
        </p:nvSpPr>
        <p:spPr>
          <a:xfrm>
            <a:off x="4917831" y="1770185"/>
            <a:ext cx="135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reward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7A00C635-C7A6-D141-9AC9-B41BEB0811D0}"/>
              </a:ext>
            </a:extLst>
          </p:cNvPr>
          <p:cNvCxnSpPr>
            <a:cxnSpLocks/>
          </p:cNvCxnSpPr>
          <p:nvPr/>
        </p:nvCxnSpPr>
        <p:spPr>
          <a:xfrm>
            <a:off x="8339942" y="3495335"/>
            <a:ext cx="0" cy="1932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B98C60C1-CADB-E5EC-18A3-730F68B2088D}"/>
              </a:ext>
            </a:extLst>
          </p:cNvPr>
          <p:cNvCxnSpPr>
            <a:cxnSpLocks/>
          </p:cNvCxnSpPr>
          <p:nvPr/>
        </p:nvCxnSpPr>
        <p:spPr>
          <a:xfrm>
            <a:off x="3042881" y="5427785"/>
            <a:ext cx="52970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057AC06-A392-AA59-32D0-F565CDCEF796}"/>
              </a:ext>
            </a:extLst>
          </p:cNvPr>
          <p:cNvCxnSpPr>
            <a:cxnSpLocks/>
          </p:cNvCxnSpPr>
          <p:nvPr/>
        </p:nvCxnSpPr>
        <p:spPr>
          <a:xfrm flipV="1">
            <a:off x="3042881" y="3475892"/>
            <a:ext cx="0" cy="1932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magine 24">
            <a:extLst>
              <a:ext uri="{FF2B5EF4-FFF2-40B4-BE49-F238E27FC236}">
                <a16:creationId xmlns:a16="http://schemas.microsoft.com/office/drawing/2014/main" id="{9E983404-FF4F-51AF-D3F1-B9C789254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690" y="3680115"/>
            <a:ext cx="1485976" cy="45722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17640040-62D4-F65B-70DD-AC0D12D14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759" y="5499045"/>
            <a:ext cx="3786248" cy="993830"/>
          </a:xfrm>
          <a:prstGeom prst="rect">
            <a:avLst/>
          </a:prstGeom>
        </p:spPr>
      </p:pic>
      <p:pic>
        <p:nvPicPr>
          <p:cNvPr id="1026" name="Picture 2" descr="Büchi automaton">
            <a:extLst>
              <a:ext uri="{FF2B5EF4-FFF2-40B4-BE49-F238E27FC236}">
                <a16:creationId xmlns:a16="http://schemas.microsoft.com/office/drawing/2014/main" id="{226030CE-CED2-9127-783F-BDACA1B0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48" y="4094965"/>
            <a:ext cx="1527050" cy="143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CB522F0B-08B5-9E7F-B5CB-478872C4D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838" y="3776104"/>
            <a:ext cx="2155326" cy="2219856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EC79C01-B5D5-2ED3-E473-7CB961BC50FD}"/>
              </a:ext>
            </a:extLst>
          </p:cNvPr>
          <p:cNvSpPr txBox="1"/>
          <p:nvPr/>
        </p:nvSpPr>
        <p:spPr>
          <a:xfrm>
            <a:off x="8696753" y="1172150"/>
            <a:ext cx="2743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Action </a:t>
            </a:r>
            <a:r>
              <a:rPr lang="it-IT" b="1" dirty="0" err="1"/>
              <a:t>pruning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Safety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preserved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What</a:t>
            </a:r>
            <a:r>
              <a:rPr lang="it-IT" b="1" dirty="0"/>
              <a:t> </a:t>
            </a:r>
            <a:r>
              <a:rPr lang="it-IT" b="1" dirty="0" err="1"/>
              <a:t>about</a:t>
            </a:r>
            <a:r>
              <a:rPr lang="it-IT" b="1" dirty="0"/>
              <a:t> performance?</a:t>
            </a:r>
          </a:p>
        </p:txBody>
      </p:sp>
    </p:spTree>
    <p:extLst>
      <p:ext uri="{BB962C8B-B14F-4D97-AF65-F5344CB8AC3E}">
        <p14:creationId xmlns:p14="http://schemas.microsoft.com/office/powerpoint/2010/main" val="4771755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7AC4A-7C0E-BD27-51C9-554B47DB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 vs. </a:t>
            </a:r>
            <a:r>
              <a:rPr lang="it-IT" dirty="0" err="1"/>
              <a:t>shielding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7D3364C-662C-79A9-57E5-26314C06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3811DFF-5D1F-A55A-F10E-AC2C0A4E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95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7EA64E4-C587-8683-2718-2D88F9A38A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88"/>
          <a:stretch/>
        </p:blipFill>
        <p:spPr>
          <a:xfrm>
            <a:off x="4963740" y="1604161"/>
            <a:ext cx="3011063" cy="2521119"/>
          </a:xfrm>
          <a:prstGeom prst="rect">
            <a:avLst/>
          </a:prstGeo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0454562-36E1-3A9D-2AF3-E36EDB27A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148670"/>
              </p:ext>
            </p:extLst>
          </p:nvPr>
        </p:nvGraphicFramePr>
        <p:xfrm>
          <a:off x="797169" y="3545253"/>
          <a:ext cx="2670505" cy="2764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101">
                  <a:extLst>
                    <a:ext uri="{9D8B030D-6E8A-4147-A177-3AD203B41FA5}">
                      <a16:colId xmlns:a16="http://schemas.microsoft.com/office/drawing/2014/main" val="2026206861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2015202095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350336657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3714310451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206401626"/>
                    </a:ext>
                  </a:extLst>
                </a:gridCol>
              </a:tblGrid>
              <a:tr h="552939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80158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62811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15848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360224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96281"/>
                  </a:ext>
                </a:extLst>
              </a:tr>
            </a:tbl>
          </a:graphicData>
        </a:graphic>
      </p:graphicFrame>
      <p:pic>
        <p:nvPicPr>
          <p:cNvPr id="8" name="Elemento grafico 7" descr="Robot con riempimento a tinta unita">
            <a:extLst>
              <a:ext uri="{FF2B5EF4-FFF2-40B4-BE49-F238E27FC236}">
                <a16:creationId xmlns:a16="http://schemas.microsoft.com/office/drawing/2014/main" id="{E40FBE20-F9FE-FB32-8A88-6106A8647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646" y="3606621"/>
            <a:ext cx="457200" cy="457200"/>
          </a:xfrm>
          <a:prstGeom prst="rect">
            <a:avLst/>
          </a:prstGeom>
        </p:spPr>
      </p:pic>
      <p:pic>
        <p:nvPicPr>
          <p:cNvPr id="9" name="Elemento grafico 8" descr="Tiro a segno con riempimento a tinta unita">
            <a:extLst>
              <a:ext uri="{FF2B5EF4-FFF2-40B4-BE49-F238E27FC236}">
                <a16:creationId xmlns:a16="http://schemas.microsoft.com/office/drawing/2014/main" id="{0A567974-986C-0EE6-D11F-2B62A24C6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7688" y="5760009"/>
            <a:ext cx="499986" cy="499986"/>
          </a:xfrm>
          <a:prstGeom prst="rect">
            <a:avLst/>
          </a:prstGeom>
        </p:spPr>
      </p:pic>
      <p:pic>
        <p:nvPicPr>
          <p:cNvPr id="10" name="Elemento grafico 9" descr="Muro di mattoni con riempimento a tinta unita">
            <a:extLst>
              <a:ext uri="{FF2B5EF4-FFF2-40B4-BE49-F238E27FC236}">
                <a16:creationId xmlns:a16="http://schemas.microsoft.com/office/drawing/2014/main" id="{3448CA90-2040-9E16-55AA-4113F22B6D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2428" y="4677607"/>
            <a:ext cx="499986" cy="499986"/>
          </a:xfrm>
          <a:prstGeom prst="rect">
            <a:avLst/>
          </a:prstGeom>
        </p:spPr>
      </p:pic>
      <p:pic>
        <p:nvPicPr>
          <p:cNvPr id="11" name="Elemento grafico 10" descr="Muro di mattoni con riempimento a tinta unita">
            <a:extLst>
              <a:ext uri="{FF2B5EF4-FFF2-40B4-BE49-F238E27FC236}">
                <a16:creationId xmlns:a16="http://schemas.microsoft.com/office/drawing/2014/main" id="{A0064F6C-5950-2EDE-3F01-B8DAD7693C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5058" y="4677607"/>
            <a:ext cx="499986" cy="499986"/>
          </a:xfrm>
          <a:prstGeom prst="rect">
            <a:avLst/>
          </a:prstGeom>
        </p:spPr>
      </p:pic>
      <p:pic>
        <p:nvPicPr>
          <p:cNvPr id="12" name="Elemento grafico 11" descr="Muro di mattoni con riempimento a tinta unita">
            <a:extLst>
              <a:ext uri="{FF2B5EF4-FFF2-40B4-BE49-F238E27FC236}">
                <a16:creationId xmlns:a16="http://schemas.microsoft.com/office/drawing/2014/main" id="{8E1C0E0D-5017-CC80-5BF0-7D61D3F674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5044" y="4677607"/>
            <a:ext cx="499986" cy="499986"/>
          </a:xfrm>
          <a:prstGeom prst="rect">
            <a:avLst/>
          </a:prstGeom>
        </p:spPr>
      </p:pic>
      <p:pic>
        <p:nvPicPr>
          <p:cNvPr id="13" name="Picture 4" descr="Büchi automaton">
            <a:extLst>
              <a:ext uri="{FF2B5EF4-FFF2-40B4-BE49-F238E27FC236}">
                <a16:creationId xmlns:a16="http://schemas.microsoft.com/office/drawing/2014/main" id="{47EDA3DC-DE03-8922-34AA-AB2470B4A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79" y="1873365"/>
            <a:ext cx="1243119" cy="15556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6CC84DD-2499-0BFC-E8D9-E4487D8EF892}"/>
              </a:ext>
            </a:extLst>
          </p:cNvPr>
          <p:cNvSpPr txBox="1"/>
          <p:nvPr/>
        </p:nvSpPr>
        <p:spPr>
          <a:xfrm>
            <a:off x="3880338" y="4360985"/>
            <a:ext cx="471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Reasonable</a:t>
            </a:r>
            <a:r>
              <a:rPr lang="it-IT" b="1" dirty="0">
                <a:solidFill>
                  <a:srgbClr val="FF0000"/>
                </a:solidFill>
              </a:rPr>
              <a:t> (</a:t>
            </a:r>
            <a:r>
              <a:rPr lang="it-IT" b="1" dirty="0" err="1">
                <a:solidFill>
                  <a:srgbClr val="FF0000"/>
                </a:solidFill>
              </a:rPr>
              <a:t>but</a:t>
            </a:r>
            <a:r>
              <a:rPr lang="it-IT" b="1" dirty="0">
                <a:solidFill>
                  <a:srgbClr val="FF0000"/>
                </a:solidFill>
              </a:rPr>
              <a:t> sub-</a:t>
            </a:r>
            <a:r>
              <a:rPr lang="it-IT" b="1" dirty="0" err="1">
                <a:solidFill>
                  <a:srgbClr val="FF0000"/>
                </a:solidFill>
              </a:rPr>
              <a:t>optimal</a:t>
            </a:r>
            <a:r>
              <a:rPr lang="it-IT" b="1" dirty="0">
                <a:solidFill>
                  <a:srgbClr val="FF0000"/>
                </a:solidFill>
              </a:rPr>
              <a:t>) LTL </a:t>
            </a:r>
            <a:r>
              <a:rPr lang="it-IT" b="1" dirty="0" err="1">
                <a:solidFill>
                  <a:srgbClr val="FF0000"/>
                </a:solidFill>
              </a:rPr>
              <a:t>specification</a:t>
            </a:r>
            <a:endParaRPr lang="it-IT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move</a:t>
            </a:r>
            <a:r>
              <a:rPr lang="it-IT" dirty="0"/>
              <a:t>(south/</a:t>
            </a:r>
            <a:r>
              <a:rPr lang="it-IT" dirty="0" err="1"/>
              <a:t>east</a:t>
            </a:r>
            <a:r>
              <a:rPr lang="it-IT" dirty="0"/>
              <a:t>) actions </a:t>
            </a:r>
            <a:r>
              <a:rPr lang="it-IT" dirty="0" err="1"/>
              <a:t>allowed</a:t>
            </a:r>
            <a:r>
              <a:rPr lang="it-IT" dirty="0"/>
              <a:t>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FDF0B3-7739-ADF5-98C2-ED172CDE81EA}"/>
              </a:ext>
            </a:extLst>
          </p:cNvPr>
          <p:cNvSpPr txBox="1"/>
          <p:nvPr/>
        </p:nvSpPr>
        <p:spPr>
          <a:xfrm>
            <a:off x="797169" y="1242517"/>
            <a:ext cx="610065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Jiang, Y.,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Bharadwaj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S.,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Wu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B., Shah, R.,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Topcu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U., &amp; Stone, P. (2021,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May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).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Temporal-logic-based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reward shaping for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continuing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reinforcement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learning tasks. In 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Proceedings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of the AAAI Conference on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Artificial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Intelligence (Vol. 35, No. 9, pp. 7995-8003).</a:t>
            </a:r>
          </a:p>
        </p:txBody>
      </p:sp>
    </p:spTree>
    <p:extLst>
      <p:ext uri="{BB962C8B-B14F-4D97-AF65-F5344CB8AC3E}">
        <p14:creationId xmlns:p14="http://schemas.microsoft.com/office/powerpoint/2010/main" val="2608364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B6E2C-908E-FEC3-81B1-6441C050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069383-2708-38CC-15ED-6F15C923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shaping vs. </a:t>
            </a:r>
            <a:r>
              <a:rPr lang="it-IT" dirty="0" err="1"/>
              <a:t>shielding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E50FF4B-2E81-6750-91F6-4136146A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1FFD39D-98AB-6764-F6BB-063994D1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96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1697833-4B48-A363-7060-77DA5ECF5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88"/>
          <a:stretch/>
        </p:blipFill>
        <p:spPr>
          <a:xfrm>
            <a:off x="4963740" y="1604161"/>
            <a:ext cx="3011063" cy="2521119"/>
          </a:xfrm>
          <a:prstGeom prst="rect">
            <a:avLst/>
          </a:prstGeom>
        </p:spPr>
      </p:pic>
      <p:pic>
        <p:nvPicPr>
          <p:cNvPr id="13" name="Picture 4" descr="Büchi automaton">
            <a:extLst>
              <a:ext uri="{FF2B5EF4-FFF2-40B4-BE49-F238E27FC236}">
                <a16:creationId xmlns:a16="http://schemas.microsoft.com/office/drawing/2014/main" id="{888BB972-CA0C-EBB7-372A-25EB80743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79" y="1873365"/>
            <a:ext cx="1243119" cy="15556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1D08346-E56C-6EED-8765-B4473F92A050}"/>
              </a:ext>
            </a:extLst>
          </p:cNvPr>
          <p:cNvSpPr txBox="1"/>
          <p:nvPr/>
        </p:nvSpPr>
        <p:spPr>
          <a:xfrm>
            <a:off x="3880338" y="4360985"/>
            <a:ext cx="4710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Reasonable</a:t>
            </a:r>
            <a:r>
              <a:rPr lang="it-IT" b="1" dirty="0">
                <a:solidFill>
                  <a:srgbClr val="FF0000"/>
                </a:solidFill>
              </a:rPr>
              <a:t> (</a:t>
            </a:r>
            <a:r>
              <a:rPr lang="it-IT" b="1" dirty="0" err="1">
                <a:solidFill>
                  <a:srgbClr val="FF0000"/>
                </a:solidFill>
              </a:rPr>
              <a:t>but</a:t>
            </a:r>
            <a:r>
              <a:rPr lang="it-IT" b="1" dirty="0">
                <a:solidFill>
                  <a:srgbClr val="FF0000"/>
                </a:solidFill>
              </a:rPr>
              <a:t> sub-</a:t>
            </a:r>
            <a:r>
              <a:rPr lang="it-IT" b="1" dirty="0" err="1">
                <a:solidFill>
                  <a:srgbClr val="FF0000"/>
                </a:solidFill>
              </a:rPr>
              <a:t>optimal</a:t>
            </a:r>
            <a:r>
              <a:rPr lang="it-IT" b="1" dirty="0">
                <a:solidFill>
                  <a:srgbClr val="FF0000"/>
                </a:solidFill>
              </a:rPr>
              <a:t>) LTL </a:t>
            </a:r>
            <a:r>
              <a:rPr lang="it-IT" b="1" dirty="0" err="1">
                <a:solidFill>
                  <a:srgbClr val="FF0000"/>
                </a:solidFill>
              </a:rPr>
              <a:t>specification</a:t>
            </a:r>
            <a:endParaRPr lang="it-IT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move</a:t>
            </a:r>
            <a:r>
              <a:rPr lang="it-IT" dirty="0"/>
              <a:t>(south/</a:t>
            </a:r>
            <a:r>
              <a:rPr lang="it-IT" dirty="0" err="1"/>
              <a:t>east</a:t>
            </a:r>
            <a:r>
              <a:rPr lang="it-IT" dirty="0"/>
              <a:t>) actions </a:t>
            </a:r>
            <a:r>
              <a:rPr lang="it-IT" dirty="0" err="1"/>
              <a:t>allowed</a:t>
            </a:r>
            <a:r>
              <a:rPr lang="it-IT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Unreachable</a:t>
            </a:r>
            <a:r>
              <a:rPr lang="it-IT" b="1" dirty="0"/>
              <a:t>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Action </a:t>
            </a:r>
            <a:r>
              <a:rPr lang="it-IT" b="1" dirty="0" err="1"/>
              <a:t>pruning</a:t>
            </a:r>
            <a:r>
              <a:rPr lang="it-IT" b="1" dirty="0"/>
              <a:t> </a:t>
            </a:r>
            <a:r>
              <a:rPr lang="it-IT" b="1" dirty="0" err="1"/>
              <a:t>requires</a:t>
            </a:r>
            <a:r>
              <a:rPr lang="it-IT" b="1" dirty="0"/>
              <a:t> </a:t>
            </a:r>
            <a:r>
              <a:rPr lang="it-IT" b="1" dirty="0" err="1"/>
              <a:t>perfect</a:t>
            </a:r>
            <a:r>
              <a:rPr lang="it-IT" b="1" dirty="0"/>
              <a:t> domain knowledge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C64790A-1B6E-427E-A2ED-95E80B131B8A}"/>
              </a:ext>
            </a:extLst>
          </p:cNvPr>
          <p:cNvSpPr txBox="1"/>
          <p:nvPr/>
        </p:nvSpPr>
        <p:spPr>
          <a:xfrm>
            <a:off x="797169" y="1242517"/>
            <a:ext cx="610065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Jiang, Y.,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Bharadwaj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S.,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Wu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B., Shah, R.,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Topcu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U., &amp; Stone, P. (2021,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May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).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Temporal-logic-based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reward shaping for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continuing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reinforcement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learning tasks. In 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Proceedings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of the AAAI Conference on </a:t>
            </a:r>
            <a:r>
              <a:rPr lang="it-IT" sz="1100" dirty="0" err="1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Artificial</a:t>
            </a:r>
            <a:r>
              <a:rPr lang="it-IT" sz="11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Intelligence (Vol. 35, No. 9, pp. 7995-8003).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AC38D15A-4071-B7B1-7EF4-58FACE52E33B}"/>
              </a:ext>
            </a:extLst>
          </p:cNvPr>
          <p:cNvGraphicFramePr>
            <a:graphicFrameLocks noGrp="1"/>
          </p:cNvGraphicFramePr>
          <p:nvPr/>
        </p:nvGraphicFramePr>
        <p:xfrm>
          <a:off x="797169" y="3545253"/>
          <a:ext cx="2670505" cy="2764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101">
                  <a:extLst>
                    <a:ext uri="{9D8B030D-6E8A-4147-A177-3AD203B41FA5}">
                      <a16:colId xmlns:a16="http://schemas.microsoft.com/office/drawing/2014/main" val="2026206861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2015202095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350336657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3714310451"/>
                    </a:ext>
                  </a:extLst>
                </a:gridCol>
                <a:gridCol w="534101">
                  <a:extLst>
                    <a:ext uri="{9D8B030D-6E8A-4147-A177-3AD203B41FA5}">
                      <a16:colId xmlns:a16="http://schemas.microsoft.com/office/drawing/2014/main" val="206401626"/>
                    </a:ext>
                  </a:extLst>
                </a:gridCol>
              </a:tblGrid>
              <a:tr h="552939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80158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62811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15848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360224"/>
                  </a:ext>
                </a:extLst>
              </a:tr>
              <a:tr h="55293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96281"/>
                  </a:ext>
                </a:extLst>
              </a:tr>
            </a:tbl>
          </a:graphicData>
        </a:graphic>
      </p:graphicFrame>
      <p:pic>
        <p:nvPicPr>
          <p:cNvPr id="16" name="Elemento grafico 15" descr="Robot con riempimento a tinta unita">
            <a:extLst>
              <a:ext uri="{FF2B5EF4-FFF2-40B4-BE49-F238E27FC236}">
                <a16:creationId xmlns:a16="http://schemas.microsoft.com/office/drawing/2014/main" id="{B7ADE7D8-E159-05C6-50E3-494560201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3821" y="4125280"/>
            <a:ext cx="457200" cy="457200"/>
          </a:xfrm>
          <a:prstGeom prst="rect">
            <a:avLst/>
          </a:prstGeom>
        </p:spPr>
      </p:pic>
      <p:pic>
        <p:nvPicPr>
          <p:cNvPr id="17" name="Elemento grafico 16" descr="Tiro a segno con riempimento a tinta unita">
            <a:extLst>
              <a:ext uri="{FF2B5EF4-FFF2-40B4-BE49-F238E27FC236}">
                <a16:creationId xmlns:a16="http://schemas.microsoft.com/office/drawing/2014/main" id="{CB505A5D-A4AD-E9CF-9D6F-D9EA5C948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7688" y="5760009"/>
            <a:ext cx="499986" cy="499986"/>
          </a:xfrm>
          <a:prstGeom prst="rect">
            <a:avLst/>
          </a:prstGeom>
        </p:spPr>
      </p:pic>
      <p:pic>
        <p:nvPicPr>
          <p:cNvPr id="18" name="Elemento grafico 17" descr="Muro di mattoni con riempimento a tinta unita">
            <a:extLst>
              <a:ext uri="{FF2B5EF4-FFF2-40B4-BE49-F238E27FC236}">
                <a16:creationId xmlns:a16="http://schemas.microsoft.com/office/drawing/2014/main" id="{DDCDC6B1-0CC0-8D18-B0A5-21FD35B0F8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2428" y="4677607"/>
            <a:ext cx="499986" cy="499986"/>
          </a:xfrm>
          <a:prstGeom prst="rect">
            <a:avLst/>
          </a:prstGeom>
        </p:spPr>
      </p:pic>
      <p:pic>
        <p:nvPicPr>
          <p:cNvPr id="19" name="Elemento grafico 18" descr="Muro di mattoni con riempimento a tinta unita">
            <a:extLst>
              <a:ext uri="{FF2B5EF4-FFF2-40B4-BE49-F238E27FC236}">
                <a16:creationId xmlns:a16="http://schemas.microsoft.com/office/drawing/2014/main" id="{9F9A4B40-1967-5596-2600-AA028A4DD3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25058" y="4677607"/>
            <a:ext cx="499986" cy="499986"/>
          </a:xfrm>
          <a:prstGeom prst="rect">
            <a:avLst/>
          </a:prstGeom>
        </p:spPr>
      </p:pic>
      <p:pic>
        <p:nvPicPr>
          <p:cNvPr id="20" name="Elemento grafico 19" descr="Muro di mattoni con riempimento a tinta unita">
            <a:extLst>
              <a:ext uri="{FF2B5EF4-FFF2-40B4-BE49-F238E27FC236}">
                <a16:creationId xmlns:a16="http://schemas.microsoft.com/office/drawing/2014/main" id="{06832F3B-D1E0-0218-706E-99E5E3AE1B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5044" y="4677607"/>
            <a:ext cx="499986" cy="499986"/>
          </a:xfrm>
          <a:prstGeom prst="rect">
            <a:avLst/>
          </a:prstGeom>
        </p:spPr>
      </p:pic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49EECBC-38F8-D543-AFBC-5F197191C392}"/>
              </a:ext>
            </a:extLst>
          </p:cNvPr>
          <p:cNvCxnSpPr/>
          <p:nvPr/>
        </p:nvCxnSpPr>
        <p:spPr>
          <a:xfrm>
            <a:off x="1148862" y="3821723"/>
            <a:ext cx="3516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504E52C-05E7-E332-7AAA-CD18CD7F5D1C}"/>
              </a:ext>
            </a:extLst>
          </p:cNvPr>
          <p:cNvCxnSpPr/>
          <p:nvPr/>
        </p:nvCxnSpPr>
        <p:spPr>
          <a:xfrm>
            <a:off x="1727975" y="3821723"/>
            <a:ext cx="3516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85CC9DBB-5D08-CD44-802F-7607ECB818E7}"/>
              </a:ext>
            </a:extLst>
          </p:cNvPr>
          <p:cNvCxnSpPr>
            <a:cxnSpLocks/>
          </p:cNvCxnSpPr>
          <p:nvPr/>
        </p:nvCxnSpPr>
        <p:spPr>
          <a:xfrm>
            <a:off x="2132421" y="3821723"/>
            <a:ext cx="0" cy="391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207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28711B-F31B-E388-D731-78004184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Generalization</a:t>
            </a:r>
            <a:r>
              <a:rPr lang="it-IT" dirty="0"/>
              <a:t> via 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9966D6-8D63-6759-4F4E-43C2882D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6DDB075-F7D6-B372-C36D-D88EA6E7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97</a:t>
            </a:fld>
            <a:endParaRPr lang="de-D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6868931-644E-16E5-A7BF-687699E87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43" y="1600370"/>
            <a:ext cx="1670219" cy="308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12FF10F-9135-5C5E-CD44-F453B583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241" y="1516608"/>
            <a:ext cx="1760962" cy="32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021376C-E8DB-4D3F-733E-D33FC0E658ED}"/>
              </a:ext>
            </a:extLst>
          </p:cNvPr>
          <p:cNvSpPr/>
          <p:nvPr/>
        </p:nvSpPr>
        <p:spPr>
          <a:xfrm>
            <a:off x="3041409" y="2823808"/>
            <a:ext cx="1843023" cy="681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Automaton offline learning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DF638DA-667E-EF64-FAD9-44126A0837F6}"/>
              </a:ext>
            </a:extLst>
          </p:cNvPr>
          <p:cNvSpPr/>
          <p:nvPr/>
        </p:nvSpPr>
        <p:spPr>
          <a:xfrm>
            <a:off x="6235948" y="2823808"/>
            <a:ext cx="1325693" cy="693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Shaped RL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E9EBF545-F7D6-02BF-0A89-5E0624D68454}"/>
              </a:ext>
            </a:extLst>
          </p:cNvPr>
          <p:cNvSpPr/>
          <p:nvPr/>
        </p:nvSpPr>
        <p:spPr>
          <a:xfrm>
            <a:off x="2733247" y="3142111"/>
            <a:ext cx="251615" cy="139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7279F8AD-0164-B1FC-84BB-2DB2DCB8919B}"/>
              </a:ext>
            </a:extLst>
          </p:cNvPr>
          <p:cNvSpPr/>
          <p:nvPr/>
        </p:nvSpPr>
        <p:spPr>
          <a:xfrm>
            <a:off x="7604133" y="3170444"/>
            <a:ext cx="251615" cy="139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5F037502-3208-1209-7D3A-EEA0866B95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4309" y="31293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B0E3B14-63CA-55CF-740A-989975C0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694" y="3838415"/>
            <a:ext cx="1749615" cy="2074621"/>
          </a:xfrm>
          <a:prstGeom prst="rect">
            <a:avLst/>
          </a:prstGeom>
        </p:spPr>
      </p:pic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A67BD843-0D50-0738-E69B-62EBA344D6A5}"/>
              </a:ext>
            </a:extLst>
          </p:cNvPr>
          <p:cNvSpPr/>
          <p:nvPr/>
        </p:nvSpPr>
        <p:spPr>
          <a:xfrm rot="2920804">
            <a:off x="3711487" y="3987405"/>
            <a:ext cx="1181413" cy="152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2C059231-6EB3-B611-E4D6-5133DBF9BE75}"/>
              </a:ext>
            </a:extLst>
          </p:cNvPr>
          <p:cNvSpPr/>
          <p:nvPr/>
        </p:nvSpPr>
        <p:spPr>
          <a:xfrm rot="18711237">
            <a:off x="5842457" y="4020647"/>
            <a:ext cx="1181413" cy="152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128F400-07CA-7BC0-B04F-624807C62C27}"/>
              </a:ext>
            </a:extLst>
          </p:cNvPr>
          <p:cNvSpPr txBox="1"/>
          <p:nvPr/>
        </p:nvSpPr>
        <p:spPr>
          <a:xfrm>
            <a:off x="3041409" y="1323960"/>
            <a:ext cx="3842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Breakout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u="sng" dirty="0"/>
              <a:t>Actions</a:t>
            </a:r>
            <a:r>
              <a:rPr lang="it-IT" dirty="0"/>
              <a:t>: stop, </a:t>
            </a:r>
            <a:r>
              <a:rPr lang="it-IT" dirty="0" err="1"/>
              <a:t>left</a:t>
            </a:r>
            <a:r>
              <a:rPr lang="it-IT" dirty="0"/>
              <a:t>, </a:t>
            </a:r>
            <a:r>
              <a:rPr lang="it-IT" dirty="0" err="1"/>
              <a:t>right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u="sng" dirty="0"/>
              <a:t>Goal</a:t>
            </a:r>
            <a:r>
              <a:rPr lang="it-IT" dirty="0"/>
              <a:t>: </a:t>
            </a:r>
            <a:r>
              <a:rPr lang="it-IT" dirty="0" err="1"/>
              <a:t>empty</a:t>
            </a:r>
            <a:r>
              <a:rPr lang="it-IT" dirty="0"/>
              <a:t> </a:t>
            </a:r>
            <a:r>
              <a:rPr lang="it-IT" dirty="0" err="1"/>
              <a:t>columns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u="sng" dirty="0"/>
              <a:t>State</a:t>
            </a:r>
            <a:r>
              <a:rPr lang="it-IT" dirty="0"/>
              <a:t>: </a:t>
            </a:r>
            <a:r>
              <a:rPr lang="it-IT" dirty="0" err="1"/>
              <a:t>column</a:t>
            </a:r>
            <a:r>
              <a:rPr lang="it-IT" dirty="0"/>
              <a:t> X </a:t>
            </a:r>
            <a:r>
              <a:rPr lang="it-IT" dirty="0" err="1"/>
              <a:t>empty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2D8E15-9F76-70C1-EECB-50345DE363CE}"/>
              </a:ext>
            </a:extLst>
          </p:cNvPr>
          <p:cNvSpPr txBox="1"/>
          <p:nvPr/>
        </p:nvSpPr>
        <p:spPr>
          <a:xfrm>
            <a:off x="1813152" y="5977838"/>
            <a:ext cx="6510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ea typeface="+mn-lt"/>
                <a:cs typeface="+mn-lt"/>
              </a:rPr>
              <a:t>De Giacomo, G., Favorito, M., </a:t>
            </a:r>
            <a:r>
              <a:rPr lang="it-IT" sz="1200" dirty="0" err="1">
                <a:ea typeface="+mn-lt"/>
                <a:cs typeface="+mn-lt"/>
              </a:rPr>
              <a:t>Iocchi</a:t>
            </a:r>
            <a:r>
              <a:rPr lang="it-IT" sz="1200" dirty="0">
                <a:ea typeface="+mn-lt"/>
                <a:cs typeface="+mn-lt"/>
              </a:rPr>
              <a:t>, L., &amp; Patrizi, F. (2020, June). </a:t>
            </a:r>
            <a:r>
              <a:rPr lang="it-IT" sz="1200" dirty="0" err="1">
                <a:ea typeface="+mn-lt"/>
                <a:cs typeface="+mn-lt"/>
              </a:rPr>
              <a:t>Imitation</a:t>
            </a:r>
            <a:r>
              <a:rPr lang="it-IT" sz="1200" dirty="0">
                <a:ea typeface="+mn-lt"/>
                <a:cs typeface="+mn-lt"/>
              </a:rPr>
              <a:t> learning over </a:t>
            </a:r>
            <a:r>
              <a:rPr lang="it-IT" sz="1200" dirty="0" err="1">
                <a:ea typeface="+mn-lt"/>
                <a:cs typeface="+mn-lt"/>
              </a:rPr>
              <a:t>heterogeneous</a:t>
            </a:r>
            <a:r>
              <a:rPr lang="it-IT" sz="1200" dirty="0">
                <a:ea typeface="+mn-lt"/>
                <a:cs typeface="+mn-lt"/>
              </a:rPr>
              <a:t> agents with </a:t>
            </a:r>
            <a:r>
              <a:rPr lang="it-IT" sz="1200" dirty="0" err="1">
                <a:ea typeface="+mn-lt"/>
                <a:cs typeface="+mn-lt"/>
              </a:rPr>
              <a:t>restraining</a:t>
            </a:r>
            <a:r>
              <a:rPr lang="it-IT" sz="1200" dirty="0">
                <a:ea typeface="+mn-lt"/>
                <a:cs typeface="+mn-lt"/>
              </a:rPr>
              <a:t> </a:t>
            </a:r>
            <a:r>
              <a:rPr lang="it-IT" sz="1200" dirty="0" err="1">
                <a:ea typeface="+mn-lt"/>
                <a:cs typeface="+mn-lt"/>
              </a:rPr>
              <a:t>bolts</a:t>
            </a:r>
            <a:r>
              <a:rPr lang="it-IT" sz="1200" dirty="0">
                <a:ea typeface="+mn-lt"/>
                <a:cs typeface="+mn-lt"/>
              </a:rPr>
              <a:t>. In </a:t>
            </a:r>
            <a:r>
              <a:rPr lang="it-IT" sz="1200" dirty="0" err="1">
                <a:ea typeface="+mn-lt"/>
                <a:cs typeface="+mn-lt"/>
              </a:rPr>
              <a:t>Proceedings</a:t>
            </a:r>
            <a:r>
              <a:rPr lang="it-IT" sz="1200" dirty="0">
                <a:ea typeface="+mn-lt"/>
                <a:cs typeface="+mn-lt"/>
              </a:rPr>
              <a:t> of the international conference on </a:t>
            </a:r>
            <a:r>
              <a:rPr lang="it-IT" sz="1200" dirty="0" err="1">
                <a:ea typeface="+mn-lt"/>
                <a:cs typeface="+mn-lt"/>
              </a:rPr>
              <a:t>automated</a:t>
            </a:r>
            <a:r>
              <a:rPr lang="it-IT" sz="1200" dirty="0">
                <a:ea typeface="+mn-lt"/>
                <a:cs typeface="+mn-lt"/>
              </a:rPr>
              <a:t> planning and scheduling (Vol. 30, pp. 517-521).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F0651EA-3695-7926-63EB-C88974A62C21}"/>
              </a:ext>
            </a:extLst>
          </p:cNvPr>
          <p:cNvSpPr txBox="1"/>
          <p:nvPr/>
        </p:nvSpPr>
        <p:spPr>
          <a:xfrm>
            <a:off x="903923" y="4968043"/>
            <a:ext cx="188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Expert </a:t>
            </a:r>
            <a:r>
              <a:rPr lang="it-IT" dirty="0" err="1"/>
              <a:t>examples</a:t>
            </a:r>
            <a:br>
              <a:rPr lang="it-IT" dirty="0"/>
            </a:br>
            <a:r>
              <a:rPr lang="it-IT" dirty="0"/>
              <a:t>(shooting)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57A65C-B0AB-5A72-66B6-3F61CA795E05}"/>
              </a:ext>
            </a:extLst>
          </p:cNvPr>
          <p:cNvSpPr txBox="1"/>
          <p:nvPr/>
        </p:nvSpPr>
        <p:spPr>
          <a:xfrm>
            <a:off x="7778697" y="4968043"/>
            <a:ext cx="188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Generalization</a:t>
            </a:r>
            <a:r>
              <a:rPr lang="it-IT" b="1" dirty="0"/>
              <a:t> to </a:t>
            </a:r>
            <a:r>
              <a:rPr lang="it-IT" b="1" dirty="0" err="1"/>
              <a:t>bouncing</a:t>
            </a:r>
            <a:r>
              <a:rPr lang="it-IT" b="1" dirty="0"/>
              <a:t> </a:t>
            </a:r>
            <a:r>
              <a:rPr lang="it-IT" b="1" dirty="0" err="1"/>
              <a:t>pad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5241811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F74D80-4B36-9ED8-0B37-D79B89E8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reward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D69BD02-8AD3-84CA-0787-F483D6D9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50D4DE9-4E76-5EBC-797A-5A4BB603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98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A24CE59-C35E-D17B-33F6-3A24F576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36788"/>
            <a:ext cx="4235094" cy="144241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ADD735D-6359-4D22-5915-E5DCB729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423" y="1677647"/>
            <a:ext cx="4235094" cy="117295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B74C93-4751-416F-F68E-F635D6CE14FF}"/>
              </a:ext>
            </a:extLst>
          </p:cNvPr>
          <p:cNvSpPr txBox="1"/>
          <p:nvPr/>
        </p:nvSpPr>
        <p:spPr>
          <a:xfrm>
            <a:off x="558411" y="3594131"/>
            <a:ext cx="416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reward makes the best agent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CC899BD-2260-65EF-599E-3EDE0B91FF2A}"/>
              </a:ext>
            </a:extLst>
          </p:cNvPr>
          <p:cNvSpPr txBox="1"/>
          <p:nvPr/>
        </p:nvSpPr>
        <p:spPr>
          <a:xfrm>
            <a:off x="6830423" y="3594131"/>
            <a:ext cx="4160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b="1" u="sng" dirty="0"/>
              <a:t>best</a:t>
            </a:r>
            <a:r>
              <a:rPr lang="it-IT" dirty="0"/>
              <a:t> </a:t>
            </a:r>
            <a:r>
              <a:rPr lang="it-IT" dirty="0" err="1"/>
              <a:t>reward</a:t>
            </a:r>
            <a:r>
              <a:rPr lang="it-IT" dirty="0"/>
              <a:t> makes the best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Hard to </a:t>
            </a:r>
            <a:r>
              <a:rPr lang="it-IT" dirty="0" err="1"/>
              <a:t>define</a:t>
            </a:r>
            <a:r>
              <a:rPr lang="it-IT" dirty="0"/>
              <a:t> in </a:t>
            </a:r>
            <a:r>
              <a:rPr lang="it-IT" dirty="0" err="1"/>
              <a:t>complex</a:t>
            </a:r>
            <a:r>
              <a:rPr lang="it-IT" dirty="0"/>
              <a:t>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Multiple (contrastive?) </a:t>
            </a:r>
            <a:r>
              <a:rPr lang="it-IT" dirty="0" err="1"/>
              <a:t>objectives</a:t>
            </a:r>
            <a:r>
              <a:rPr lang="it-IT" dirty="0"/>
              <a:t> make </a:t>
            </a:r>
            <a:r>
              <a:rPr lang="it-IT" dirty="0" err="1"/>
              <a:t>misleading</a:t>
            </a:r>
            <a:r>
              <a:rPr lang="it-IT" dirty="0"/>
              <a:t> </a:t>
            </a:r>
            <a:r>
              <a:rPr lang="it-IT" dirty="0" err="1"/>
              <a:t>rewards</a:t>
            </a:r>
            <a:r>
              <a:rPr lang="it-IT" dirty="0"/>
              <a:t> </a:t>
            </a:r>
            <a:endParaRPr lang="it-IT" u="sng" dirty="0"/>
          </a:p>
        </p:txBody>
      </p:sp>
      <p:pic>
        <p:nvPicPr>
          <p:cNvPr id="11" name="Elemento grafico 10" descr="Punto interrogativo contorno">
            <a:extLst>
              <a:ext uri="{FF2B5EF4-FFF2-40B4-BE49-F238E27FC236}">
                <a16:creationId xmlns:a16="http://schemas.microsoft.com/office/drawing/2014/main" id="{0E08D683-25F4-88E3-8BAF-291240361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4225" y="17957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681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1719-8118-0618-45BB-3162906B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BF6007-9B32-8DE7-741A-A30869D2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reward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D89A22-5554-794F-2DB9-5368612E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BA6B5FF-EC1D-DC0A-2B12-4F35B7CA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99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BCEC49F-2355-7193-391A-0BC954A8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36788"/>
            <a:ext cx="4235094" cy="144241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500CAE9-A055-043B-6DA9-5C2D9C174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423" y="1677647"/>
            <a:ext cx="4235094" cy="117295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597191-33F1-B3BC-75C4-BC0107BA3AEA}"/>
              </a:ext>
            </a:extLst>
          </p:cNvPr>
          <p:cNvSpPr txBox="1"/>
          <p:nvPr/>
        </p:nvSpPr>
        <p:spPr>
          <a:xfrm>
            <a:off x="558411" y="3594131"/>
            <a:ext cx="416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reward makes the best agent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5016B29-0B08-0A85-0427-D0148BC77ABB}"/>
              </a:ext>
            </a:extLst>
          </p:cNvPr>
          <p:cNvSpPr txBox="1"/>
          <p:nvPr/>
        </p:nvSpPr>
        <p:spPr>
          <a:xfrm>
            <a:off x="6830423" y="3594131"/>
            <a:ext cx="4160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b="1" u="sng" dirty="0"/>
              <a:t>best</a:t>
            </a:r>
            <a:r>
              <a:rPr lang="it-IT" dirty="0"/>
              <a:t> </a:t>
            </a:r>
            <a:r>
              <a:rPr lang="it-IT" dirty="0" err="1"/>
              <a:t>reward</a:t>
            </a:r>
            <a:r>
              <a:rPr lang="it-IT" dirty="0"/>
              <a:t> makes the best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Hard to </a:t>
            </a:r>
            <a:r>
              <a:rPr lang="it-IT" dirty="0" err="1"/>
              <a:t>define</a:t>
            </a:r>
            <a:r>
              <a:rPr lang="it-IT" dirty="0"/>
              <a:t> in </a:t>
            </a:r>
            <a:r>
              <a:rPr lang="it-IT" dirty="0" err="1"/>
              <a:t>complex</a:t>
            </a:r>
            <a:r>
              <a:rPr lang="it-IT" dirty="0"/>
              <a:t>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Multiple (contrastive?) </a:t>
            </a:r>
            <a:r>
              <a:rPr lang="it-IT" dirty="0" err="1"/>
              <a:t>objectives</a:t>
            </a:r>
            <a:r>
              <a:rPr lang="it-IT" dirty="0"/>
              <a:t> make </a:t>
            </a:r>
            <a:r>
              <a:rPr lang="it-IT" dirty="0" err="1"/>
              <a:t>misleading</a:t>
            </a:r>
            <a:r>
              <a:rPr lang="it-IT" dirty="0"/>
              <a:t> </a:t>
            </a:r>
            <a:r>
              <a:rPr lang="it-IT" dirty="0" err="1"/>
              <a:t>rewards</a:t>
            </a:r>
            <a:r>
              <a:rPr lang="it-IT" dirty="0"/>
              <a:t> </a:t>
            </a:r>
            <a:endParaRPr lang="it-IT" u="sng" dirty="0"/>
          </a:p>
        </p:txBody>
      </p:sp>
      <p:pic>
        <p:nvPicPr>
          <p:cNvPr id="11" name="Elemento grafico 10" descr="Punto interrogativo contorno">
            <a:extLst>
              <a:ext uri="{FF2B5EF4-FFF2-40B4-BE49-F238E27FC236}">
                <a16:creationId xmlns:a16="http://schemas.microsoft.com/office/drawing/2014/main" id="{A569F1D6-8E73-3964-2935-F949E7BD6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4225" y="1795790"/>
            <a:ext cx="914400" cy="9144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3D299B6-B3AC-7F4D-CE55-F18B2E9CF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083575"/>
            <a:ext cx="3482570" cy="2052978"/>
          </a:xfrm>
          <a:prstGeom prst="rect">
            <a:avLst/>
          </a:prstGeom>
        </p:spPr>
      </p:pic>
      <p:pic>
        <p:nvPicPr>
          <p:cNvPr id="2050" name="Picture 2" descr="Unveiling Gran Turismo Sophy™ : An AI Breakthrough – Sony AI">
            <a:extLst>
              <a:ext uri="{FF2B5EF4-FFF2-40B4-BE49-F238E27FC236}">
                <a16:creationId xmlns:a16="http://schemas.microsoft.com/office/drawing/2014/main" id="{D6B81E30-7902-1CC1-7811-720B63BDF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667" y="3954881"/>
            <a:ext cx="1642819" cy="218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1276C7A-5D09-C1FF-5F38-554381D288CC}"/>
              </a:ext>
            </a:extLst>
          </p:cNvPr>
          <p:cNvSpPr txBox="1"/>
          <p:nvPr/>
        </p:nvSpPr>
        <p:spPr>
          <a:xfrm>
            <a:off x="6096000" y="5180353"/>
            <a:ext cx="4894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Sony AI team by Peter Stone </a:t>
            </a:r>
            <a:r>
              <a:rPr lang="it-IT" b="1" u="sng" dirty="0" err="1"/>
              <a:t>took</a:t>
            </a:r>
            <a:r>
              <a:rPr lang="it-IT" b="1" u="sng" dirty="0"/>
              <a:t> 2 </a:t>
            </a:r>
            <a:r>
              <a:rPr lang="it-IT" b="1" u="sng" dirty="0" err="1"/>
              <a:t>years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to </a:t>
            </a:r>
            <a:r>
              <a:rPr lang="it-IT" dirty="0" err="1"/>
              <a:t>define</a:t>
            </a:r>
            <a:r>
              <a:rPr lang="it-IT" dirty="0"/>
              <a:t> the best </a:t>
            </a:r>
            <a:r>
              <a:rPr lang="it-IT" dirty="0" err="1"/>
              <a:t>reward</a:t>
            </a:r>
            <a:r>
              <a:rPr lang="it-IT" dirty="0"/>
              <a:t>!</a:t>
            </a:r>
          </a:p>
          <a:p>
            <a:r>
              <a:rPr lang="it-IT" dirty="0"/>
              <a:t>Introduce </a:t>
            </a:r>
            <a:r>
              <a:rPr lang="it-IT" dirty="0" err="1"/>
              <a:t>logics</a:t>
            </a:r>
            <a:r>
              <a:rPr lang="it-IT" dirty="0"/>
              <a:t> </a:t>
            </a:r>
            <a:r>
              <a:rPr lang="it-IT" dirty="0" err="1"/>
              <a:t>too</a:t>
            </a:r>
            <a:r>
              <a:rPr lang="it-IT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5493227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B5C53-A99A-430E-D133-7F975BC5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Reward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enough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7725DB7-660A-9FE7-07E2-71C0AE99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977FCA-555F-3D98-607B-989DA70F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100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28756DD-A851-9E34-827D-92E4A5A9E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07" y="1270000"/>
            <a:ext cx="5893304" cy="205479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9EF0850-8396-FADE-29CF-210642BC4EF4}"/>
              </a:ext>
            </a:extLst>
          </p:cNvPr>
          <p:cNvSpPr txBox="1"/>
          <p:nvPr/>
        </p:nvSpPr>
        <p:spPr>
          <a:xfrm>
            <a:off x="788757" y="1570534"/>
            <a:ext cx="16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NeurIPS</a:t>
            </a:r>
            <a:r>
              <a:rPr lang="it-IT" dirty="0"/>
              <a:t> 2021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DBC14DB-52A9-8DC7-FC9A-A4F60833B2AC}"/>
              </a:ext>
            </a:extLst>
          </p:cNvPr>
          <p:cNvSpPr txBox="1"/>
          <p:nvPr/>
        </p:nvSpPr>
        <p:spPr>
          <a:xfrm>
            <a:off x="1137765" y="3678540"/>
            <a:ext cx="7175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Reward shaping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 </a:t>
            </a:r>
            <a:r>
              <a:rPr lang="it-IT" b="1" dirty="0"/>
              <a:t>intensive </a:t>
            </a:r>
            <a:r>
              <a:rPr lang="it-IT" b="1" dirty="0" err="1"/>
              <a:t>exploration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Knowledge and </a:t>
            </a:r>
            <a:r>
              <a:rPr lang="it-IT" b="1" dirty="0" err="1"/>
              <a:t>heuristics</a:t>
            </a:r>
            <a:r>
              <a:rPr lang="it-IT" b="1" dirty="0"/>
              <a:t> </a:t>
            </a:r>
            <a:r>
              <a:rPr lang="it-IT" b="1" dirty="0" err="1"/>
              <a:t>should</a:t>
            </a:r>
            <a:r>
              <a:rPr lang="it-IT" b="1" dirty="0"/>
              <a:t> be </a:t>
            </a:r>
            <a:r>
              <a:rPr lang="it-IT" b="1" dirty="0" err="1"/>
              <a:t>better</a:t>
            </a:r>
            <a:r>
              <a:rPr lang="it-IT" b="1" dirty="0"/>
              <a:t> </a:t>
            </a:r>
            <a:r>
              <a:rPr lang="it-IT" b="1" dirty="0" err="1"/>
              <a:t>integrated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365223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B5636F-29B9-8F01-19C5-3DD78376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655EA7-3A30-7773-3E92-F7596402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RL </a:t>
            </a:r>
            <a:r>
              <a:rPr lang="it-IT" dirty="0" err="1"/>
              <a:t>interleaves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and exploitation</a:t>
            </a:r>
          </a:p>
          <a:p>
            <a:pPr lvl="1"/>
            <a:r>
              <a:rPr lang="it-IT" b="1" dirty="0"/>
              <a:t>Exploration</a:t>
            </a:r>
            <a:r>
              <a:rPr lang="it-IT" dirty="0"/>
              <a:t>: </a:t>
            </a:r>
            <a:r>
              <a:rPr lang="it-IT" dirty="0" err="1"/>
              <a:t>interact</a:t>
            </a:r>
            <a:r>
              <a:rPr lang="it-IT" dirty="0"/>
              <a:t> with the </a:t>
            </a:r>
            <a:r>
              <a:rPr lang="it-IT" dirty="0" err="1"/>
              <a:t>environment</a:t>
            </a:r>
            <a:r>
              <a:rPr lang="it-IT" dirty="0"/>
              <a:t> and </a:t>
            </a:r>
            <a:r>
              <a:rPr lang="it-IT" dirty="0" err="1"/>
              <a:t>learn</a:t>
            </a:r>
            <a:endParaRPr lang="it-IT" dirty="0"/>
          </a:p>
          <a:p>
            <a:pPr lvl="1"/>
            <a:r>
              <a:rPr lang="it-IT" b="1" dirty="0"/>
              <a:t>Exploitation</a:t>
            </a:r>
            <a:r>
              <a:rPr lang="it-IT" dirty="0"/>
              <a:t>: do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learned</a:t>
            </a:r>
            <a:r>
              <a:rPr lang="it-IT" dirty="0"/>
              <a:t> best, </a:t>
            </a:r>
            <a:r>
              <a:rPr lang="it-IT" dirty="0" err="1"/>
              <a:t>then</a:t>
            </a:r>
            <a:r>
              <a:rPr lang="it-IT" dirty="0"/>
              <a:t> check and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again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A7E554-2472-43D4-1882-420FCCAF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DEEDB-042A-CE9C-79A2-610ECD6D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24076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DAA0-6610-AF3A-152A-3218789A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32A7C3-85AC-16B7-02F7-55B8BB36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6908A6-38CF-DB96-F7B9-47A22F9A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RL </a:t>
            </a:r>
            <a:r>
              <a:rPr lang="it-IT" dirty="0" err="1"/>
              <a:t>interleaves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and exploitation</a:t>
            </a:r>
          </a:p>
          <a:p>
            <a:pPr lvl="1"/>
            <a:r>
              <a:rPr lang="it-IT" b="1" dirty="0"/>
              <a:t>Exploration</a:t>
            </a:r>
            <a:r>
              <a:rPr lang="it-IT" dirty="0"/>
              <a:t>: </a:t>
            </a:r>
            <a:r>
              <a:rPr lang="it-IT" dirty="0" err="1"/>
              <a:t>interact</a:t>
            </a:r>
            <a:r>
              <a:rPr lang="it-IT" dirty="0"/>
              <a:t> with the </a:t>
            </a:r>
            <a:r>
              <a:rPr lang="it-IT" dirty="0" err="1"/>
              <a:t>environment</a:t>
            </a:r>
            <a:r>
              <a:rPr lang="it-IT" dirty="0"/>
              <a:t> and </a:t>
            </a:r>
            <a:r>
              <a:rPr lang="it-IT" dirty="0" err="1"/>
              <a:t>learn</a:t>
            </a:r>
            <a:endParaRPr lang="it-IT" dirty="0"/>
          </a:p>
          <a:p>
            <a:pPr lvl="2"/>
            <a:r>
              <a:rPr lang="it-IT" dirty="0"/>
              <a:t>Large state-action </a:t>
            </a:r>
            <a:r>
              <a:rPr lang="it-IT" dirty="0" err="1"/>
              <a:t>spaces</a:t>
            </a:r>
            <a:r>
              <a:rPr lang="it-IT" dirty="0"/>
              <a:t> -&gt; </a:t>
            </a:r>
            <a:r>
              <a:rPr lang="it-IT" dirty="0" err="1"/>
              <a:t>too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interactions for </a:t>
            </a:r>
            <a:r>
              <a:rPr lang="it-IT" dirty="0" err="1"/>
              <a:t>completeness</a:t>
            </a:r>
            <a:r>
              <a:rPr lang="it-IT" dirty="0"/>
              <a:t> and </a:t>
            </a:r>
            <a:r>
              <a:rPr lang="it-IT" dirty="0" err="1"/>
              <a:t>optimality</a:t>
            </a:r>
            <a:endParaRPr lang="it-IT" dirty="0"/>
          </a:p>
          <a:p>
            <a:pPr lvl="1"/>
            <a:r>
              <a:rPr lang="it-IT" b="1" dirty="0"/>
              <a:t>Exploitation</a:t>
            </a:r>
            <a:r>
              <a:rPr lang="it-IT" dirty="0"/>
              <a:t>: do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learned</a:t>
            </a:r>
            <a:r>
              <a:rPr lang="it-IT" dirty="0"/>
              <a:t> best, </a:t>
            </a:r>
            <a:r>
              <a:rPr lang="it-IT" dirty="0" err="1"/>
              <a:t>then</a:t>
            </a:r>
            <a:r>
              <a:rPr lang="it-IT" dirty="0"/>
              <a:t> check and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again</a:t>
            </a:r>
            <a:endParaRPr lang="it-IT" dirty="0"/>
          </a:p>
          <a:p>
            <a:pPr lvl="2"/>
            <a:r>
              <a:rPr lang="it-IT" dirty="0" err="1"/>
              <a:t>Without</a:t>
            </a:r>
            <a:r>
              <a:rPr lang="it-IT" dirty="0"/>
              <a:t> good complete </a:t>
            </a:r>
            <a:r>
              <a:rPr lang="it-IT" dirty="0" err="1"/>
              <a:t>exploration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rarely</a:t>
            </a:r>
            <a:r>
              <a:rPr lang="it-IT" dirty="0"/>
              <a:t> works…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E8AE3D-E0EC-AD18-7B9E-DC923039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2BA33D-CEA0-2E8C-1698-F2F48EC8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112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06B0E-399D-A377-04A0-94F35F1A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070FA2-BEBA-23D5-7809-05D32900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RL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5F2B0A-7A3F-5E71-8170-E2D94983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RL </a:t>
            </a:r>
            <a:r>
              <a:rPr lang="it-IT" dirty="0" err="1"/>
              <a:t>interleaves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and exploitation</a:t>
            </a:r>
          </a:p>
          <a:p>
            <a:pPr lvl="1"/>
            <a:r>
              <a:rPr lang="it-IT" b="1" dirty="0"/>
              <a:t>Exploration</a:t>
            </a:r>
            <a:r>
              <a:rPr lang="it-IT" dirty="0"/>
              <a:t>: </a:t>
            </a:r>
            <a:r>
              <a:rPr lang="it-IT" dirty="0" err="1"/>
              <a:t>interact</a:t>
            </a:r>
            <a:r>
              <a:rPr lang="it-IT" dirty="0"/>
              <a:t> with the </a:t>
            </a:r>
            <a:r>
              <a:rPr lang="it-IT" dirty="0" err="1"/>
              <a:t>environment</a:t>
            </a:r>
            <a:r>
              <a:rPr lang="it-IT" dirty="0"/>
              <a:t> and </a:t>
            </a:r>
            <a:r>
              <a:rPr lang="it-IT" dirty="0" err="1"/>
              <a:t>learn</a:t>
            </a:r>
            <a:endParaRPr lang="it-IT" dirty="0"/>
          </a:p>
          <a:p>
            <a:pPr lvl="2"/>
            <a:r>
              <a:rPr lang="it-IT" dirty="0"/>
              <a:t>Large state-action </a:t>
            </a:r>
            <a:r>
              <a:rPr lang="it-IT" dirty="0" err="1"/>
              <a:t>spaces</a:t>
            </a:r>
            <a:r>
              <a:rPr lang="it-IT" dirty="0"/>
              <a:t> -&gt; </a:t>
            </a:r>
            <a:r>
              <a:rPr lang="it-IT" dirty="0" err="1"/>
              <a:t>too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interactions for </a:t>
            </a:r>
            <a:r>
              <a:rPr lang="it-IT" dirty="0" err="1"/>
              <a:t>completeness</a:t>
            </a:r>
            <a:r>
              <a:rPr lang="it-IT" dirty="0"/>
              <a:t> and </a:t>
            </a:r>
            <a:r>
              <a:rPr lang="it-IT" dirty="0" err="1"/>
              <a:t>optimality</a:t>
            </a:r>
            <a:endParaRPr lang="it-IT" dirty="0"/>
          </a:p>
          <a:p>
            <a:pPr lvl="2"/>
            <a:r>
              <a:rPr lang="it-IT" b="1" dirty="0"/>
              <a:t>Can </a:t>
            </a:r>
            <a:r>
              <a:rPr lang="it-IT" b="1" dirty="0" err="1"/>
              <a:t>we</a:t>
            </a:r>
            <a:r>
              <a:rPr lang="it-IT" b="1" dirty="0"/>
              <a:t> </a:t>
            </a:r>
            <a:r>
              <a:rPr lang="it-IT" b="1" dirty="0" err="1"/>
              <a:t>add</a:t>
            </a:r>
            <a:r>
              <a:rPr lang="it-IT" b="1" dirty="0"/>
              <a:t> (</a:t>
            </a:r>
            <a:r>
              <a:rPr lang="it-IT" b="1" dirty="0" err="1"/>
              <a:t>logical</a:t>
            </a:r>
            <a:r>
              <a:rPr lang="it-IT" b="1" dirty="0"/>
              <a:t>) </a:t>
            </a:r>
            <a:r>
              <a:rPr lang="it-IT" b="1" dirty="0" err="1"/>
              <a:t>heuristics</a:t>
            </a:r>
            <a:r>
              <a:rPr lang="it-IT" b="1" dirty="0"/>
              <a:t> </a:t>
            </a:r>
            <a:r>
              <a:rPr lang="it-IT" b="1" dirty="0" err="1"/>
              <a:t>here</a:t>
            </a:r>
            <a:r>
              <a:rPr lang="it-IT" b="1" dirty="0"/>
              <a:t>?</a:t>
            </a:r>
          </a:p>
          <a:p>
            <a:pPr lvl="3"/>
            <a:r>
              <a:rPr lang="it-IT" dirty="0" err="1"/>
              <a:t>Informed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reasoning</a:t>
            </a:r>
            <a:endParaRPr lang="it-IT" dirty="0"/>
          </a:p>
          <a:p>
            <a:pPr lvl="3"/>
            <a:r>
              <a:rPr lang="it-IT" b="1" dirty="0"/>
              <a:t>Exploration </a:t>
            </a:r>
            <a:r>
              <a:rPr lang="it-IT" b="1" dirty="0" err="1"/>
              <a:t>needed</a:t>
            </a:r>
            <a:r>
              <a:rPr lang="it-IT" b="1" dirty="0"/>
              <a:t> to </a:t>
            </a:r>
            <a:r>
              <a:rPr lang="it-IT" b="1" dirty="0" err="1"/>
              <a:t>learn</a:t>
            </a:r>
            <a:r>
              <a:rPr lang="it-IT" b="1" dirty="0"/>
              <a:t> new </a:t>
            </a:r>
            <a:r>
              <a:rPr lang="it-IT" b="1" dirty="0" err="1"/>
              <a:t>things</a:t>
            </a:r>
            <a:r>
              <a:rPr lang="it-IT" b="1" dirty="0"/>
              <a:t> and </a:t>
            </a:r>
            <a:r>
              <a:rPr lang="it-IT" b="1" dirty="0" err="1"/>
              <a:t>generalize</a:t>
            </a:r>
            <a:r>
              <a:rPr lang="it-IT" b="1" dirty="0"/>
              <a:t> </a:t>
            </a:r>
            <a:r>
              <a:rPr lang="it-IT" b="1" dirty="0" err="1"/>
              <a:t>experience</a:t>
            </a:r>
            <a:r>
              <a:rPr lang="it-IT" b="1" dirty="0"/>
              <a:t> (system 2)</a:t>
            </a:r>
          </a:p>
          <a:p>
            <a:pPr lvl="1"/>
            <a:r>
              <a:rPr lang="it-IT" b="1" dirty="0"/>
              <a:t>Exploitation</a:t>
            </a:r>
            <a:r>
              <a:rPr lang="it-IT" dirty="0"/>
              <a:t>: do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learned</a:t>
            </a:r>
            <a:r>
              <a:rPr lang="it-IT" dirty="0"/>
              <a:t> best, </a:t>
            </a:r>
            <a:r>
              <a:rPr lang="it-IT" dirty="0" err="1"/>
              <a:t>then</a:t>
            </a:r>
            <a:r>
              <a:rPr lang="it-IT" dirty="0"/>
              <a:t> check and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again</a:t>
            </a:r>
            <a:endParaRPr lang="it-IT" dirty="0"/>
          </a:p>
          <a:p>
            <a:pPr lvl="2"/>
            <a:r>
              <a:rPr lang="it-IT" dirty="0" err="1"/>
              <a:t>Without</a:t>
            </a:r>
            <a:r>
              <a:rPr lang="it-IT" dirty="0"/>
              <a:t> good complete </a:t>
            </a:r>
            <a:r>
              <a:rPr lang="it-IT" dirty="0" err="1"/>
              <a:t>exploration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rarely</a:t>
            </a:r>
            <a:r>
              <a:rPr lang="it-IT" dirty="0"/>
              <a:t> works…</a:t>
            </a:r>
          </a:p>
          <a:p>
            <a:pPr lvl="2"/>
            <a:r>
              <a:rPr lang="it-IT" b="1" dirty="0"/>
              <a:t>Exploitation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associational</a:t>
            </a:r>
            <a:r>
              <a:rPr lang="it-IT" b="1" dirty="0"/>
              <a:t> (system 1)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65EE352-602D-7295-C295-60EFEFE0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F9189A-5CF2-969F-0F45-36CB2514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103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B76E542B-13AF-D7B6-09D3-3305C6AC9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319" y="4425607"/>
            <a:ext cx="3353410" cy="188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8920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559EF3-B32F-6E9A-E600-82032716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9F06CD-6DAC-1CFE-EDD4-EF52583B6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Model-</a:t>
            </a:r>
            <a:r>
              <a:rPr lang="it-IT" dirty="0" err="1"/>
              <a:t>based</a:t>
            </a:r>
            <a:r>
              <a:rPr lang="it-IT" dirty="0"/>
              <a:t> RL: Monte Carlo Tree </a:t>
            </a:r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DAF40BD-C96D-4E4B-DA00-28F37698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F4FBA7-0216-D1DF-A5B7-AC237CB9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104</a:t>
            </a:fld>
            <a:endParaRPr lang="de-DE"/>
          </a:p>
        </p:txBody>
      </p:sp>
      <p:pic>
        <p:nvPicPr>
          <p:cNvPr id="6" name="Picture 2" descr="Monte-Carlo Tree Search Explained | Papers With Code">
            <a:extLst>
              <a:ext uri="{FF2B5EF4-FFF2-40B4-BE49-F238E27FC236}">
                <a16:creationId xmlns:a16="http://schemas.microsoft.com/office/drawing/2014/main" id="{9F43B423-751F-0149-FC9D-DAD49A912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 bwMode="auto">
          <a:xfrm>
            <a:off x="6046826" y="2456465"/>
            <a:ext cx="5449067" cy="24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A05FE40-F1DF-9322-10D8-41DAC7296993}"/>
              </a:ext>
            </a:extLst>
          </p:cNvPr>
          <p:cNvSpPr txBox="1"/>
          <p:nvPr/>
        </p:nvSpPr>
        <p:spPr>
          <a:xfrm>
            <a:off x="7553243" y="4410702"/>
            <a:ext cx="1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241122959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6CB3-C125-8ECF-3642-9660CAEE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B01AA8-FAA2-9D24-7360-D866622B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64F9FD-9CF9-5893-B1E2-B30F068C1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Model-</a:t>
            </a:r>
            <a:r>
              <a:rPr lang="it-IT" dirty="0" err="1"/>
              <a:t>based</a:t>
            </a:r>
            <a:r>
              <a:rPr lang="it-IT" dirty="0"/>
              <a:t> RL: Monte Carlo Tree </a:t>
            </a:r>
            <a:r>
              <a:rPr lang="it-IT" dirty="0" err="1"/>
              <a:t>Search</a:t>
            </a:r>
            <a:endParaRPr lang="it-IT" dirty="0"/>
          </a:p>
          <a:p>
            <a:pPr lvl="1"/>
            <a:r>
              <a:rPr lang="it-IT" dirty="0" err="1"/>
              <a:t>Typically</a:t>
            </a:r>
            <a:r>
              <a:rPr lang="it-IT" dirty="0"/>
              <a:t> (</a:t>
            </a:r>
            <a:r>
              <a:rPr lang="it-IT" dirty="0" err="1"/>
              <a:t>uniform</a:t>
            </a:r>
            <a:r>
              <a:rPr lang="it-IT" dirty="0"/>
              <a:t>) random</a:t>
            </a:r>
          </a:p>
          <a:p>
            <a:pPr lvl="1"/>
            <a:r>
              <a:rPr lang="it-IT" b="1" dirty="0"/>
              <a:t>Can </a:t>
            </a:r>
            <a:r>
              <a:rPr lang="it-IT" b="1" dirty="0" err="1"/>
              <a:t>we</a:t>
            </a:r>
            <a:r>
              <a:rPr lang="it-IT" b="1" dirty="0"/>
              <a:t> make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informed</a:t>
            </a:r>
            <a:r>
              <a:rPr lang="it-IT" b="1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EAA313-6E21-EE2D-8F28-CB93881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77896C-1E3C-401E-E7BB-7BA80E6D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105</a:t>
            </a:fld>
            <a:endParaRPr lang="de-DE"/>
          </a:p>
        </p:txBody>
      </p:sp>
      <p:pic>
        <p:nvPicPr>
          <p:cNvPr id="6" name="Picture 2" descr="Monte-Carlo Tree Search Explained | Papers With Code">
            <a:extLst>
              <a:ext uri="{FF2B5EF4-FFF2-40B4-BE49-F238E27FC236}">
                <a16:creationId xmlns:a16="http://schemas.microsoft.com/office/drawing/2014/main" id="{D99D6124-9AB9-B4D3-04B1-5ADA271326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 bwMode="auto">
          <a:xfrm>
            <a:off x="6046826" y="2456465"/>
            <a:ext cx="5449067" cy="24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01D7004-DCAE-9E9A-F7CC-30C63E84DBF7}"/>
              </a:ext>
            </a:extLst>
          </p:cNvPr>
          <p:cNvSpPr txBox="1"/>
          <p:nvPr/>
        </p:nvSpPr>
        <p:spPr>
          <a:xfrm>
            <a:off x="7553243" y="4410702"/>
            <a:ext cx="1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Rollout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2E99883-CF8F-0098-F408-24677F4AE03D}"/>
              </a:ext>
            </a:extLst>
          </p:cNvPr>
          <p:cNvSpPr/>
          <p:nvPr/>
        </p:nvSpPr>
        <p:spPr>
          <a:xfrm>
            <a:off x="7471685" y="2802523"/>
            <a:ext cx="1138915" cy="2131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6189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DBEB-968D-62CA-736B-0F50D5B6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185ADE-3A9B-7F20-CCBB-F1EE53CD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8FD508-F464-E415-7C77-F50294BC1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Model-</a:t>
            </a:r>
            <a:r>
              <a:rPr lang="it-IT" dirty="0" err="1"/>
              <a:t>based</a:t>
            </a:r>
            <a:r>
              <a:rPr lang="it-IT" dirty="0"/>
              <a:t> RL: Monte Carlo Tree </a:t>
            </a:r>
            <a:r>
              <a:rPr lang="it-IT" dirty="0" err="1"/>
              <a:t>Search</a:t>
            </a:r>
            <a:endParaRPr lang="it-IT" dirty="0"/>
          </a:p>
          <a:p>
            <a:pPr lvl="1"/>
            <a:r>
              <a:rPr lang="it-IT" dirty="0" err="1"/>
              <a:t>Typically</a:t>
            </a:r>
            <a:r>
              <a:rPr lang="it-IT" dirty="0"/>
              <a:t> (</a:t>
            </a:r>
            <a:r>
              <a:rPr lang="it-IT" dirty="0" err="1"/>
              <a:t>uniform</a:t>
            </a:r>
            <a:r>
              <a:rPr lang="it-IT" dirty="0"/>
              <a:t>) random</a:t>
            </a:r>
          </a:p>
          <a:p>
            <a:pPr lvl="1"/>
            <a:r>
              <a:rPr lang="it-IT" b="1" dirty="0"/>
              <a:t>Can </a:t>
            </a:r>
            <a:r>
              <a:rPr lang="it-IT" b="1" dirty="0" err="1"/>
              <a:t>we</a:t>
            </a:r>
            <a:r>
              <a:rPr lang="it-IT" b="1" dirty="0"/>
              <a:t> make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informed</a:t>
            </a:r>
            <a:r>
              <a:rPr lang="it-IT" b="1" dirty="0"/>
              <a:t>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7B6F0FC-0062-0723-4377-478DDC3C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898AD-F35A-D042-B1EE-D48FA931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106</a:t>
            </a:fld>
            <a:endParaRPr lang="de-DE"/>
          </a:p>
        </p:txBody>
      </p:sp>
      <p:pic>
        <p:nvPicPr>
          <p:cNvPr id="6" name="Picture 2" descr="Monte-Carlo Tree Search Explained | Papers With Code">
            <a:extLst>
              <a:ext uri="{FF2B5EF4-FFF2-40B4-BE49-F238E27FC236}">
                <a16:creationId xmlns:a16="http://schemas.microsoft.com/office/drawing/2014/main" id="{F4BA0BD9-799A-1865-D2B3-6D2B174F0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 bwMode="auto">
          <a:xfrm>
            <a:off x="6046826" y="2456465"/>
            <a:ext cx="5449067" cy="24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9819DA9-8112-FEA9-A4F1-1907DABA13BC}"/>
              </a:ext>
            </a:extLst>
          </p:cNvPr>
          <p:cNvSpPr txBox="1"/>
          <p:nvPr/>
        </p:nvSpPr>
        <p:spPr>
          <a:xfrm>
            <a:off x="7553243" y="4410702"/>
            <a:ext cx="1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Rollout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D87D52A-E25B-6591-5982-92547B6B53C5}"/>
              </a:ext>
            </a:extLst>
          </p:cNvPr>
          <p:cNvSpPr/>
          <p:nvPr/>
        </p:nvSpPr>
        <p:spPr>
          <a:xfrm>
            <a:off x="7471685" y="2802523"/>
            <a:ext cx="1138915" cy="2131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FA76C3F-42EA-4366-062B-0FC39F1C5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007" y="5072978"/>
            <a:ext cx="2235315" cy="647733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86A36DBE-DC03-DCCB-166D-8EAAD84F8FA2}"/>
              </a:ext>
            </a:extLst>
          </p:cNvPr>
          <p:cNvSpPr/>
          <p:nvPr/>
        </p:nvSpPr>
        <p:spPr>
          <a:xfrm>
            <a:off x="3672252" y="5072978"/>
            <a:ext cx="2129509" cy="719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heuristics</a:t>
            </a:r>
            <a:r>
              <a:rPr lang="it-IT" dirty="0"/>
              <a:t> and </a:t>
            </a:r>
            <a:r>
              <a:rPr lang="it-IT" dirty="0" err="1"/>
              <a:t>reasoning</a:t>
            </a:r>
            <a:endParaRPr lang="it-IT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37FD05F4-D17D-E338-1AEB-4A08B737291D}"/>
              </a:ext>
            </a:extLst>
          </p:cNvPr>
          <p:cNvSpPr/>
          <p:nvPr/>
        </p:nvSpPr>
        <p:spPr>
          <a:xfrm>
            <a:off x="6043960" y="5371384"/>
            <a:ext cx="558459" cy="1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64C6BC9-199D-4B9C-AB1B-81A6C95FFD93}"/>
              </a:ext>
            </a:extLst>
          </p:cNvPr>
          <p:cNvSpPr txBox="1"/>
          <p:nvPr/>
        </p:nvSpPr>
        <p:spPr>
          <a:xfrm>
            <a:off x="6837452" y="5792531"/>
            <a:ext cx="2299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Prob</a:t>
            </a:r>
            <a:r>
              <a:rPr lang="it-IT" dirty="0"/>
              <a:t>. </a:t>
            </a:r>
            <a:r>
              <a:rPr lang="it-IT" dirty="0" err="1"/>
              <a:t>p</a:t>
            </a:r>
            <a:r>
              <a:rPr lang="it-IT" sz="1200" dirty="0" err="1"/>
              <a:t>a</a:t>
            </a:r>
            <a:r>
              <a:rPr lang="it-IT" dirty="0"/>
              <a:t> to </a:t>
            </a:r>
            <a:r>
              <a:rPr lang="it-IT" dirty="0" err="1"/>
              <a:t>select</a:t>
            </a:r>
            <a:r>
              <a:rPr lang="it-IT" dirty="0"/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sz="1200" dirty="0" err="1"/>
              <a:t>h</a:t>
            </a:r>
            <a:r>
              <a:rPr lang="it-IT" dirty="0"/>
              <a:t> in [0,1)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</a:t>
            </a:r>
            <a:r>
              <a:rPr lang="it-IT" sz="1200" dirty="0"/>
              <a:t>h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actions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5152C6-A11E-0A9F-BF1C-A9219974A4F4}"/>
              </a:ext>
            </a:extLst>
          </p:cNvPr>
          <p:cNvSpPr txBox="1"/>
          <p:nvPr/>
        </p:nvSpPr>
        <p:spPr>
          <a:xfrm>
            <a:off x="9167947" y="5607865"/>
            <a:ext cx="274319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b="1" dirty="0" err="1"/>
              <a:t>p</a:t>
            </a:r>
            <a:r>
              <a:rPr lang="it-IT" sz="1200" b="1" dirty="0" err="1"/>
              <a:t>h</a:t>
            </a:r>
            <a:r>
              <a:rPr lang="it-IT" b="1" dirty="0"/>
              <a:t> &lt; 1 </a:t>
            </a:r>
            <a:r>
              <a:rPr lang="it-IT" b="1" dirty="0" err="1"/>
              <a:t>avoids</a:t>
            </a:r>
            <a:r>
              <a:rPr lang="it-IT" b="1" dirty="0"/>
              <a:t> </a:t>
            </a:r>
            <a:r>
              <a:rPr lang="it-IT" b="1" dirty="0" err="1"/>
              <a:t>shielding</a:t>
            </a:r>
            <a:endParaRPr lang="it-IT" b="1" dirty="0"/>
          </a:p>
          <a:p>
            <a:r>
              <a:rPr lang="it-IT" b="1" dirty="0"/>
              <a:t>Complete and </a:t>
            </a:r>
            <a:r>
              <a:rPr lang="it-IT" b="1" dirty="0" err="1"/>
              <a:t>optimal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402560969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3DBE-F2A9-A207-5576-3ED321E0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2C360D-E781-E96C-B557-7DFA2D35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F8E165-C096-438A-34B8-6BABFAB9A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Model-</a:t>
            </a:r>
            <a:r>
              <a:rPr lang="it-IT" dirty="0" err="1"/>
              <a:t>based</a:t>
            </a:r>
            <a:r>
              <a:rPr lang="it-IT" dirty="0"/>
              <a:t> RL: Monte Carlo Tree </a:t>
            </a:r>
            <a:r>
              <a:rPr lang="it-IT" dirty="0" err="1"/>
              <a:t>Search</a:t>
            </a:r>
            <a:endParaRPr lang="it-IT" dirty="0"/>
          </a:p>
          <a:p>
            <a:pPr lvl="1"/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heuristics</a:t>
            </a:r>
            <a:r>
              <a:rPr lang="it-IT" dirty="0"/>
              <a:t> with ILP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9B3748E-1E24-8EC5-C46E-3C56ADAE0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CBD21A8-29B0-80AF-D58D-A6CC5C4C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107</a:t>
            </a:fld>
            <a:endParaRPr lang="de-DE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F7D93AC-1D46-6A48-8563-F2A360AE7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008" y="2717289"/>
            <a:ext cx="1670219" cy="308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C7B70B80-4841-726E-5307-2FD12EE71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206" y="2633527"/>
            <a:ext cx="1760962" cy="32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C0E23BC5-3372-2F18-3739-BC540D6BC0BD}"/>
              </a:ext>
            </a:extLst>
          </p:cNvPr>
          <p:cNvSpPr/>
          <p:nvPr/>
        </p:nvSpPr>
        <p:spPr>
          <a:xfrm>
            <a:off x="3667374" y="3940727"/>
            <a:ext cx="1843023" cy="681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Offline ILP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10EEBCD-7221-7240-09F0-B467A3F0431D}"/>
              </a:ext>
            </a:extLst>
          </p:cNvPr>
          <p:cNvSpPr/>
          <p:nvPr/>
        </p:nvSpPr>
        <p:spPr>
          <a:xfrm>
            <a:off x="6861913" y="3940727"/>
            <a:ext cx="1325693" cy="693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NeSy</a:t>
            </a:r>
            <a:r>
              <a:rPr lang="it-IT" dirty="0"/>
              <a:t> RL</a:t>
            </a:r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8EF9DAE9-1E7E-7152-9A8D-6E673132DA35}"/>
              </a:ext>
            </a:extLst>
          </p:cNvPr>
          <p:cNvSpPr/>
          <p:nvPr/>
        </p:nvSpPr>
        <p:spPr>
          <a:xfrm>
            <a:off x="3359212" y="4259030"/>
            <a:ext cx="251615" cy="139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FCA5A78A-C58A-207F-66E4-2C210F100AC3}"/>
              </a:ext>
            </a:extLst>
          </p:cNvPr>
          <p:cNvSpPr/>
          <p:nvPr/>
        </p:nvSpPr>
        <p:spPr>
          <a:xfrm>
            <a:off x="8230098" y="4287363"/>
            <a:ext cx="251615" cy="139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3EE2E253-5E1B-8030-A962-EA1A9B27AF72}"/>
              </a:ext>
            </a:extLst>
          </p:cNvPr>
          <p:cNvSpPr/>
          <p:nvPr/>
        </p:nvSpPr>
        <p:spPr>
          <a:xfrm rot="2920804">
            <a:off x="4337452" y="5104324"/>
            <a:ext cx="1181413" cy="152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EF6166CC-97DE-E872-93FF-5DC352DAF4CC}"/>
              </a:ext>
            </a:extLst>
          </p:cNvPr>
          <p:cNvSpPr/>
          <p:nvPr/>
        </p:nvSpPr>
        <p:spPr>
          <a:xfrm rot="18711237">
            <a:off x="6585023" y="5088849"/>
            <a:ext cx="1181413" cy="152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8A27189-9DCB-A826-EFBC-82F38C7AA156}"/>
              </a:ext>
            </a:extLst>
          </p:cNvPr>
          <p:cNvSpPr/>
          <p:nvPr/>
        </p:nvSpPr>
        <p:spPr>
          <a:xfrm>
            <a:off x="4954678" y="5708544"/>
            <a:ext cx="2129509" cy="719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heuristics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59291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F118C0-23FE-49FC-FFDD-B123EA71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9568D66-ECAC-D66A-5E5A-8C08BDDD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73DFC26-68AF-C15D-C7C3-B91AD68F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108</a:t>
            </a:fld>
            <a:endParaRPr lang="de-DE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59155B-6087-A20D-27C5-A6B1998B9CC2}"/>
              </a:ext>
            </a:extLst>
          </p:cNvPr>
          <p:cNvSpPr txBox="1"/>
          <p:nvPr/>
        </p:nvSpPr>
        <p:spPr>
          <a:xfrm>
            <a:off x="3910826" y="2385646"/>
            <a:ext cx="5932543" cy="27491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pic>
        <p:nvPicPr>
          <p:cNvPr id="7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0F6AB5AC-F9EC-D522-3778-62DBBAD4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72" y="3314689"/>
            <a:ext cx="2361177" cy="231924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2849728-9F0B-9400-5EA9-456FF3349880}"/>
              </a:ext>
            </a:extLst>
          </p:cNvPr>
          <p:cNvSpPr/>
          <p:nvPr/>
        </p:nvSpPr>
        <p:spPr>
          <a:xfrm>
            <a:off x="1379192" y="2583533"/>
            <a:ext cx="1872939" cy="551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Dataset</a:t>
            </a:r>
          </a:p>
          <a:p>
            <a:pPr algn="ctr"/>
            <a:r>
              <a:rPr lang="it-IT" dirty="0"/>
              <a:t>&lt;s1,a1,s2,a2,…&gt;</a:t>
            </a: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5455F1DA-63A9-C16D-7257-D89D8302505B}"/>
              </a:ext>
            </a:extLst>
          </p:cNvPr>
          <p:cNvSpPr/>
          <p:nvPr/>
        </p:nvSpPr>
        <p:spPr>
          <a:xfrm>
            <a:off x="3302249" y="2822829"/>
            <a:ext cx="558459" cy="1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CCB74F1-1E44-E740-A3D2-3F854B80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50" y="3160397"/>
            <a:ext cx="5509573" cy="68138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550E7F-4BED-25A3-28D9-307C3F233A65}"/>
              </a:ext>
            </a:extLst>
          </p:cNvPr>
          <p:cNvSpPr txBox="1"/>
          <p:nvPr/>
        </p:nvSpPr>
        <p:spPr>
          <a:xfrm>
            <a:off x="8610600" y="2775948"/>
            <a:ext cx="150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Examples</a:t>
            </a:r>
            <a:endParaRPr lang="it-IT" b="1" dirty="0">
              <a:solidFill>
                <a:srgbClr val="00B050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97DB03B0-3474-D235-B8AB-7D13F364D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350" y="4209570"/>
            <a:ext cx="5509573" cy="70898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71E4BA3-DDB6-9EA0-3BA7-1D45860F34DD}"/>
              </a:ext>
            </a:extLst>
          </p:cNvPr>
          <p:cNvSpPr txBox="1"/>
          <p:nvPr/>
        </p:nvSpPr>
        <p:spPr>
          <a:xfrm>
            <a:off x="8329371" y="3840238"/>
            <a:ext cx="1695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chemeClr val="accent1"/>
                </a:solidFill>
              </a:rPr>
              <a:t>Search</a:t>
            </a:r>
            <a:r>
              <a:rPr lang="it-IT" b="1" dirty="0">
                <a:solidFill>
                  <a:schemeClr val="accent1"/>
                </a:solidFill>
              </a:rPr>
              <a:t> </a:t>
            </a:r>
            <a:r>
              <a:rPr lang="it-IT" b="1" dirty="0" err="1">
                <a:solidFill>
                  <a:schemeClr val="accent1"/>
                </a:solidFill>
              </a:rPr>
              <a:t>space</a:t>
            </a:r>
            <a:endParaRPr lang="it-IT" b="1" dirty="0">
              <a:solidFill>
                <a:schemeClr val="accent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D473AD4-2457-E22C-1961-CC13FEEABE98}"/>
              </a:ext>
            </a:extLst>
          </p:cNvPr>
          <p:cNvSpPr txBox="1"/>
          <p:nvPr/>
        </p:nvSpPr>
        <p:spPr>
          <a:xfrm>
            <a:off x="4078453" y="2491784"/>
            <a:ext cx="420272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Background</a:t>
            </a:r>
            <a:r>
              <a:rPr lang="it-IT" dirty="0"/>
              <a:t> {rock=0…4, </a:t>
            </a:r>
            <a:r>
              <a:rPr lang="it-IT" dirty="0" err="1"/>
              <a:t>dist</a:t>
            </a:r>
            <a:r>
              <a:rPr lang="it-IT" dirty="0"/>
              <a:t>=0…24, …}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30C44E9-42A7-E7EE-3789-16C880A218DB}"/>
              </a:ext>
            </a:extLst>
          </p:cNvPr>
          <p:cNvSpPr/>
          <p:nvPr/>
        </p:nvSpPr>
        <p:spPr>
          <a:xfrm>
            <a:off x="3910826" y="5180264"/>
            <a:ext cx="1940601" cy="565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ILASP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007435A-61BE-E18D-DA7D-A8F6BEA54BD8}"/>
              </a:ext>
            </a:extLst>
          </p:cNvPr>
          <p:cNvSpPr txBox="1"/>
          <p:nvPr/>
        </p:nvSpPr>
        <p:spPr>
          <a:xfrm>
            <a:off x="1485829" y="1933593"/>
            <a:ext cx="181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u="sng" dirty="0" err="1"/>
              <a:t>Rocksample</a:t>
            </a:r>
            <a:endParaRPr lang="it-IT" u="sng" dirty="0"/>
          </a:p>
          <a:p>
            <a:pPr algn="ctr"/>
            <a:r>
              <a:rPr lang="it-IT" u="sng" dirty="0"/>
              <a:t>12x12, 4 rocks</a:t>
            </a:r>
          </a:p>
        </p:txBody>
      </p:sp>
    </p:spTree>
    <p:extLst>
      <p:ext uri="{BB962C8B-B14F-4D97-AF65-F5344CB8AC3E}">
        <p14:creationId xmlns:p14="http://schemas.microsoft.com/office/powerpoint/2010/main" val="720343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7CCE-8C1F-240C-349F-DD72C39B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B6C6E2-2C00-551E-D9AC-174F0EA1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F88FB6-BE46-C391-F90F-24AC61E1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37C2EF4-42CC-FE82-4184-E2037581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109</a:t>
            </a:fld>
            <a:endParaRPr lang="de-DE"/>
          </a:p>
        </p:txBody>
      </p:sp>
      <p:pic>
        <p:nvPicPr>
          <p:cNvPr id="7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8116795D-CBB9-C036-7713-114FE82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72" y="3314689"/>
            <a:ext cx="2361177" cy="2319246"/>
          </a:xfrm>
          <a:prstGeom prst="rect">
            <a:avLst/>
          </a:prstGeom>
        </p:spPr>
      </p:pic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73FA7766-73B7-B545-2EBC-FEAEF14BAB72}"/>
              </a:ext>
            </a:extLst>
          </p:cNvPr>
          <p:cNvSpPr/>
          <p:nvPr/>
        </p:nvSpPr>
        <p:spPr>
          <a:xfrm>
            <a:off x="3302249" y="2822829"/>
            <a:ext cx="558459" cy="1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E60E0FF-526A-B979-5823-56A797A56303}"/>
              </a:ext>
            </a:extLst>
          </p:cNvPr>
          <p:cNvSpPr/>
          <p:nvPr/>
        </p:nvSpPr>
        <p:spPr>
          <a:xfrm>
            <a:off x="4038600" y="5068884"/>
            <a:ext cx="1940601" cy="565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heuristics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E180218-2CFC-39D0-5882-D40AF76EAA3C}"/>
              </a:ext>
            </a:extLst>
          </p:cNvPr>
          <p:cNvSpPr txBox="1"/>
          <p:nvPr/>
        </p:nvSpPr>
        <p:spPr>
          <a:xfrm>
            <a:off x="1312052" y="1881358"/>
            <a:ext cx="181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u="sng" dirty="0" err="1"/>
              <a:t>Rocksample</a:t>
            </a:r>
            <a:endParaRPr lang="it-IT" u="sng" dirty="0"/>
          </a:p>
          <a:p>
            <a:pPr algn="ctr"/>
            <a:r>
              <a:rPr lang="it-IT" u="sng" dirty="0"/>
              <a:t>12x12, 4 rocks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D820D92-1C69-2E74-0EB0-5003E73C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079" y="2389133"/>
            <a:ext cx="4805674" cy="248561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E4659B86-CD27-7CB7-6F21-2E155D13B309}"/>
              </a:ext>
            </a:extLst>
          </p:cNvPr>
          <p:cNvSpPr/>
          <p:nvPr/>
        </p:nvSpPr>
        <p:spPr>
          <a:xfrm>
            <a:off x="1249962" y="2601672"/>
            <a:ext cx="1940601" cy="565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ILASP</a:t>
            </a:r>
          </a:p>
        </p:txBody>
      </p:sp>
    </p:spTree>
    <p:extLst>
      <p:ext uri="{BB962C8B-B14F-4D97-AF65-F5344CB8AC3E}">
        <p14:creationId xmlns:p14="http://schemas.microsoft.com/office/powerpoint/2010/main" val="26674623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12C4-B341-8135-DD00-ABB636DA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B3225-4F7C-48ED-1F91-24284D18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5B12065-F48D-42F8-0DEC-23FD1622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433230A-9850-E9AD-5250-426BED12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110</a:t>
            </a:fld>
            <a:endParaRPr lang="de-DE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83770D8-4DC5-C2A6-0870-A8A5EC768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01" y="3495620"/>
            <a:ext cx="4805674" cy="248561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2" descr="Monte-Carlo Tree Search Explained | Papers With Code">
            <a:extLst>
              <a:ext uri="{FF2B5EF4-FFF2-40B4-BE49-F238E27FC236}">
                <a16:creationId xmlns:a16="http://schemas.microsoft.com/office/drawing/2014/main" id="{CACA0BE8-1F98-6A67-268A-F44913A345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 bwMode="auto">
          <a:xfrm>
            <a:off x="5428866" y="1823508"/>
            <a:ext cx="5449067" cy="24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12253BC-B61D-03CA-3BE8-357812AF46D5}"/>
              </a:ext>
            </a:extLst>
          </p:cNvPr>
          <p:cNvSpPr txBox="1"/>
          <p:nvPr/>
        </p:nvSpPr>
        <p:spPr>
          <a:xfrm>
            <a:off x="6935283" y="3777745"/>
            <a:ext cx="1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Rollout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343F8D1-1BEC-09D6-7EE3-882D8A9DFFEE}"/>
              </a:ext>
            </a:extLst>
          </p:cNvPr>
          <p:cNvSpPr/>
          <p:nvPr/>
        </p:nvSpPr>
        <p:spPr>
          <a:xfrm>
            <a:off x="6853725" y="2169566"/>
            <a:ext cx="1138915" cy="2131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A5143FB3-53CD-EAE0-D2FE-820115E0F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047" y="4440021"/>
            <a:ext cx="2235315" cy="647733"/>
          </a:xfrm>
          <a:prstGeom prst="rect">
            <a:avLst/>
          </a:prstGeom>
        </p:spPr>
      </p:pic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E0A2EDCE-5E67-C08E-F499-85CC96613A15}"/>
              </a:ext>
            </a:extLst>
          </p:cNvPr>
          <p:cNvSpPr/>
          <p:nvPr/>
        </p:nvSpPr>
        <p:spPr>
          <a:xfrm>
            <a:off x="5426000" y="4738427"/>
            <a:ext cx="558459" cy="122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FB50F57-A933-1969-DA50-4D3EBA087ABD}"/>
              </a:ext>
            </a:extLst>
          </p:cNvPr>
          <p:cNvSpPr txBox="1"/>
          <p:nvPr/>
        </p:nvSpPr>
        <p:spPr>
          <a:xfrm>
            <a:off x="6219492" y="5159574"/>
            <a:ext cx="2299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Prob</a:t>
            </a:r>
            <a:r>
              <a:rPr lang="it-IT" dirty="0"/>
              <a:t>. </a:t>
            </a:r>
            <a:r>
              <a:rPr lang="it-IT" dirty="0" err="1"/>
              <a:t>p</a:t>
            </a:r>
            <a:r>
              <a:rPr lang="it-IT" sz="1200" dirty="0" err="1"/>
              <a:t>a</a:t>
            </a:r>
            <a:r>
              <a:rPr lang="it-IT" dirty="0"/>
              <a:t> to </a:t>
            </a:r>
            <a:r>
              <a:rPr lang="it-IT" dirty="0" err="1"/>
              <a:t>select</a:t>
            </a:r>
            <a:r>
              <a:rPr lang="it-IT" dirty="0"/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sz="1200" dirty="0" err="1"/>
              <a:t>h</a:t>
            </a:r>
            <a:r>
              <a:rPr lang="it-IT" dirty="0"/>
              <a:t> in [0,1)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</a:t>
            </a:r>
            <a:r>
              <a:rPr lang="it-IT" sz="1200" dirty="0"/>
              <a:t>h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actions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9A9C470-923B-78C3-74BA-517BFD9C9DDE}"/>
              </a:ext>
            </a:extLst>
          </p:cNvPr>
          <p:cNvSpPr txBox="1"/>
          <p:nvPr/>
        </p:nvSpPr>
        <p:spPr>
          <a:xfrm>
            <a:off x="8549987" y="4974908"/>
            <a:ext cx="274319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b="1" dirty="0" err="1"/>
              <a:t>p</a:t>
            </a:r>
            <a:r>
              <a:rPr lang="it-IT" sz="1200" b="1" dirty="0" err="1"/>
              <a:t>h</a:t>
            </a:r>
            <a:r>
              <a:rPr lang="it-IT" b="1" dirty="0"/>
              <a:t> &lt; 1 </a:t>
            </a:r>
            <a:r>
              <a:rPr lang="it-IT" b="1" dirty="0" err="1"/>
              <a:t>avoids</a:t>
            </a:r>
            <a:r>
              <a:rPr lang="it-IT" b="1" dirty="0"/>
              <a:t> </a:t>
            </a:r>
            <a:r>
              <a:rPr lang="it-IT" b="1" dirty="0" err="1"/>
              <a:t>shielding</a:t>
            </a:r>
            <a:endParaRPr lang="it-IT" b="1" dirty="0"/>
          </a:p>
          <a:p>
            <a:r>
              <a:rPr lang="it-IT" b="1" dirty="0"/>
              <a:t>Complete and </a:t>
            </a:r>
            <a:r>
              <a:rPr lang="it-IT" b="1" dirty="0" err="1"/>
              <a:t>optimal</a:t>
            </a:r>
            <a:endParaRPr lang="it-IT" b="1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E8DAC6C-CD8C-0EEA-49A7-9F33B3A360D5}"/>
              </a:ext>
            </a:extLst>
          </p:cNvPr>
          <p:cNvSpPr txBox="1"/>
          <p:nvPr/>
        </p:nvSpPr>
        <p:spPr>
          <a:xfrm>
            <a:off x="428701" y="1998175"/>
            <a:ext cx="4805674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Learned</a:t>
            </a:r>
            <a:r>
              <a:rPr lang="it-IT" dirty="0"/>
              <a:t> rules </a:t>
            </a:r>
            <a:r>
              <a:rPr lang="it-IT" dirty="0" err="1"/>
              <a:t>capture</a:t>
            </a:r>
            <a:r>
              <a:rPr lang="it-IT" dirty="0"/>
              <a:t> </a:t>
            </a:r>
            <a:r>
              <a:rPr lang="it-IT" b="1" dirty="0" err="1"/>
              <a:t>heuristics</a:t>
            </a:r>
            <a:r>
              <a:rPr lang="it-IT" dirty="0"/>
              <a:t>: </a:t>
            </a:r>
            <a:r>
              <a:rPr lang="it-IT" dirty="0" err="1"/>
              <a:t>what</a:t>
            </a:r>
            <a:r>
              <a:rPr lang="it-IT" dirty="0"/>
              <a:t> the agent </a:t>
            </a:r>
            <a:r>
              <a:rPr lang="it-IT" dirty="0" err="1"/>
              <a:t>did</a:t>
            </a:r>
            <a:r>
              <a:rPr lang="it-IT" dirty="0"/>
              <a:t> in the training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Maybe</a:t>
            </a:r>
            <a:r>
              <a:rPr lang="it-IT" b="1" dirty="0"/>
              <a:t> </a:t>
            </a:r>
            <a:r>
              <a:rPr lang="it-IT" b="1" dirty="0" err="1"/>
              <a:t>wrong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Not complete </a:t>
            </a:r>
            <a:r>
              <a:rPr lang="it-IT" b="1" dirty="0" err="1"/>
              <a:t>preconditions-constraints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4002142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38F8-20FF-D391-3C88-42A87909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F5CC5-FC30-D77E-DA84-1F57FF75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5A5612-7A3B-2AAC-86EC-224579D2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A4AEE66-1B2C-CE27-D8AD-BC0D99A0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111</a:t>
            </a:fld>
            <a:endParaRPr lang="de-DE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C47D2C5-689A-482F-3594-57E3CD8D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89" y="2028858"/>
            <a:ext cx="4291407" cy="245352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EDA9FE2-2463-D318-9189-085F7A48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96" y="2146274"/>
            <a:ext cx="4119923" cy="227181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9F2EEEF-F6FD-95F4-D31A-A18C91D4AE83}"/>
              </a:ext>
            </a:extLst>
          </p:cNvPr>
          <p:cNvSpPr txBox="1"/>
          <p:nvPr/>
        </p:nvSpPr>
        <p:spPr>
          <a:xfrm>
            <a:off x="1441063" y="4649268"/>
            <a:ext cx="3333730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Fewer</a:t>
            </a:r>
            <a:r>
              <a:rPr lang="it-IT" b="1" dirty="0"/>
              <a:t> </a:t>
            </a:r>
            <a:r>
              <a:rPr lang="it-IT" b="1" dirty="0" err="1"/>
              <a:t>simulations</a:t>
            </a:r>
            <a:r>
              <a:rPr lang="it-IT" b="1" dirty="0"/>
              <a:t> </a:t>
            </a:r>
            <a:r>
              <a:rPr lang="it-IT" dirty="0"/>
              <a:t>to </a:t>
            </a:r>
            <a:r>
              <a:rPr lang="it-IT" dirty="0" err="1"/>
              <a:t>learn</a:t>
            </a:r>
            <a:r>
              <a:rPr lang="it-IT" dirty="0"/>
              <a:t> action </a:t>
            </a:r>
            <a:r>
              <a:rPr lang="it-IT" dirty="0" err="1"/>
              <a:t>values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E588A14-FEF2-9AD2-0585-8DE3A2E5E44F}"/>
              </a:ext>
            </a:extLst>
          </p:cNvPr>
          <p:cNvSpPr txBox="1"/>
          <p:nvPr/>
        </p:nvSpPr>
        <p:spPr>
          <a:xfrm>
            <a:off x="4660180" y="1704729"/>
            <a:ext cx="397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/>
              <a:t>8 rocks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3F254C0-0CB4-7773-6324-163E6502FB57}"/>
              </a:ext>
            </a:extLst>
          </p:cNvPr>
          <p:cNvSpPr txBox="1"/>
          <p:nvPr/>
        </p:nvSpPr>
        <p:spPr>
          <a:xfrm>
            <a:off x="1441063" y="1551108"/>
            <a:ext cx="3933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NeSy</a:t>
            </a:r>
            <a:r>
              <a:rPr lang="it-IT" b="1" dirty="0">
                <a:solidFill>
                  <a:srgbClr val="00B050"/>
                </a:solidFill>
              </a:rPr>
              <a:t> w </a:t>
            </a:r>
            <a:r>
              <a:rPr lang="it-IT" b="1" dirty="0" err="1">
                <a:solidFill>
                  <a:srgbClr val="00B050"/>
                </a:solidFill>
              </a:rPr>
              <a:t>learned</a:t>
            </a:r>
            <a:r>
              <a:rPr lang="it-IT" b="1" dirty="0">
                <a:solidFill>
                  <a:srgbClr val="00B050"/>
                </a:solidFill>
              </a:rPr>
              <a:t>: green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NeSy</a:t>
            </a:r>
            <a:r>
              <a:rPr lang="it-IT" b="1" dirty="0">
                <a:solidFill>
                  <a:srgbClr val="FF0000"/>
                </a:solidFill>
              </a:rPr>
              <a:t> w human heuristics: red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A916CC9-9B09-DC33-6B6B-09F738F05CA5}"/>
              </a:ext>
            </a:extLst>
          </p:cNvPr>
          <p:cNvSpPr txBox="1"/>
          <p:nvPr/>
        </p:nvSpPr>
        <p:spPr>
          <a:xfrm>
            <a:off x="5549349" y="4649268"/>
            <a:ext cx="3591638" cy="12003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Generalization</a:t>
            </a:r>
            <a:r>
              <a:rPr lang="it-IT" b="1" dirty="0"/>
              <a:t> </a:t>
            </a:r>
            <a:r>
              <a:rPr lang="it-IT" dirty="0"/>
              <a:t>to large </a:t>
            </a:r>
            <a:r>
              <a:rPr lang="it-IT" dirty="0" err="1"/>
              <a:t>grids</a:t>
            </a:r>
            <a:r>
              <a:rPr lang="it-IT" b="1" dirty="0"/>
              <a:t> (long planning </a:t>
            </a:r>
            <a:r>
              <a:rPr lang="it-IT" b="1" dirty="0" err="1"/>
              <a:t>horizon</a:t>
            </a:r>
            <a:r>
              <a:rPr lang="it-IT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Logical</a:t>
            </a:r>
            <a:r>
              <a:rPr lang="it-IT" b="1" dirty="0"/>
              <a:t> </a:t>
            </a:r>
            <a:r>
              <a:rPr lang="it-IT" b="1" dirty="0" err="1"/>
              <a:t>abstraction</a:t>
            </a:r>
            <a:r>
              <a:rPr lang="it-IT" dirty="0"/>
              <a:t> from 12x12 </a:t>
            </a:r>
            <a:r>
              <a:rPr lang="it-IT" dirty="0" err="1"/>
              <a:t>grid</a:t>
            </a:r>
            <a:r>
              <a:rPr lang="it-IT" dirty="0"/>
              <a:t>, 4 rocks</a:t>
            </a:r>
          </a:p>
        </p:txBody>
      </p:sp>
    </p:spTree>
    <p:extLst>
      <p:ext uri="{BB962C8B-B14F-4D97-AF65-F5344CB8AC3E}">
        <p14:creationId xmlns:p14="http://schemas.microsoft.com/office/powerpoint/2010/main" val="28069491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085D3E-357E-3BCE-9E48-D63A11FC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92E819-E985-3C5E-48ED-0422706A6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1317" cy="4351338"/>
          </a:xfrm>
        </p:spPr>
        <p:txBody>
          <a:bodyPr/>
          <a:lstStyle/>
          <a:p>
            <a:r>
              <a:rPr lang="it-IT" dirty="0"/>
              <a:t>Model-free RL: Q-learning</a:t>
            </a:r>
          </a:p>
          <a:p>
            <a:pPr lvl="1"/>
            <a:r>
              <a:rPr lang="it-IT" dirty="0" err="1"/>
              <a:t>Higher</a:t>
            </a:r>
            <a:r>
              <a:rPr lang="it-IT" dirty="0"/>
              <a:t> Q-</a:t>
            </a:r>
            <a:r>
              <a:rPr lang="it-IT" dirty="0" err="1"/>
              <a:t>values</a:t>
            </a:r>
            <a:r>
              <a:rPr lang="it-IT" dirty="0"/>
              <a:t> to actions </a:t>
            </a:r>
            <a:r>
              <a:rPr lang="it-IT" dirty="0" err="1"/>
              <a:t>entailed</a:t>
            </a:r>
            <a:r>
              <a:rPr lang="it-IT" dirty="0"/>
              <a:t> by </a:t>
            </a:r>
            <a:r>
              <a:rPr lang="it-IT" dirty="0" err="1"/>
              <a:t>heuristics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54F72D9-6AA0-D052-FACC-7827A926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843915-511E-29AD-33C1-2B1B34AC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112</a:t>
            </a:fld>
            <a:endParaRPr lang="de-DE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3BE77E4-19B0-C7B9-DCC0-430A6D6B0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145" y="1993894"/>
            <a:ext cx="4424372" cy="344007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B28001A-F521-D220-069F-ED5F3FC6D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832"/>
          <a:stretch/>
        </p:blipFill>
        <p:spPr>
          <a:xfrm>
            <a:off x="9982200" y="3838795"/>
            <a:ext cx="2082907" cy="190363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D88D22A-043A-4C44-4951-5B229758206F}"/>
              </a:ext>
            </a:extLst>
          </p:cNvPr>
          <p:cNvSpPr txBox="1"/>
          <p:nvPr/>
        </p:nvSpPr>
        <p:spPr>
          <a:xfrm>
            <a:off x="858484" y="1225461"/>
            <a:ext cx="60970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Sreedharan, S., &amp; Katz, M. (2023). Optimistic exploration in reinforcement learning using symbolic model estimates.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36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34519-34535.</a:t>
            </a:r>
            <a:endParaRPr lang="it-IT" sz="1100" dirty="0"/>
          </a:p>
        </p:txBody>
      </p:sp>
      <p:pic>
        <p:nvPicPr>
          <p:cNvPr id="1026" name="Picture 2" descr="Q-learning algorithm flow chart | Download Scientific Diagram">
            <a:extLst>
              <a:ext uri="{FF2B5EF4-FFF2-40B4-BE49-F238E27FC236}">
                <a16:creationId xmlns:a16="http://schemas.microsoft.com/office/drawing/2014/main" id="{9FF3D506-F1E9-5D69-DD92-623BB3DAB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050" y="2888030"/>
            <a:ext cx="3137849" cy="314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14E25564-2028-784B-E1EA-11146D8DEE5B}"/>
              </a:ext>
            </a:extLst>
          </p:cNvPr>
          <p:cNvSpPr/>
          <p:nvPr/>
        </p:nvSpPr>
        <p:spPr>
          <a:xfrm>
            <a:off x="3906995" y="3114652"/>
            <a:ext cx="1358476" cy="266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93400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B786-BC12-F4E8-ADF6-ACEF1F04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4063BC-9166-1D0A-5C31-14C2387C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75B9C1-5AB2-4FFA-2BD5-D2D1810DD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/>
                  <a:t>E.g., DQN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75B9C1-5AB2-4FFA-2BD5-D2D1810DD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2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94288B-41D3-1D68-2E67-2A982871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FC0704-3901-1858-C4B9-F696C2E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113</a:t>
            </a:fld>
            <a:endParaRPr lang="de-DE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EB80876-F712-1E66-2EE3-EA16380B8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27" y="1535805"/>
            <a:ext cx="3613214" cy="482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7815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C5B-0FBA-8086-931C-76B66DE0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412C49-D93C-ED7D-1F81-28CC4444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AFE813B-2C21-B9FD-26A0-F4DC397B31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/>
                  <a:t>E.g., DQN</a:t>
                </a:r>
              </a:p>
              <a:p>
                <a:pPr lvl="1"/>
                <a:r>
                  <a:rPr lang="it-IT" dirty="0">
                    <a:solidFill>
                      <a:srgbClr val="FF0000"/>
                    </a:solidFill>
                  </a:rPr>
                  <a:t>Exploit with </a:t>
                </a:r>
                <a:r>
                  <a:rPr lang="it-IT" dirty="0" err="1">
                    <a:solidFill>
                      <a:srgbClr val="FF0000"/>
                    </a:solidFill>
                  </a:rPr>
                  <a:t>probability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AFE813B-2C21-B9FD-26A0-F4DC397B3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2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20C8B7-B0FC-31C3-54A5-65F29286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D459FF-F0F6-1FA9-1BD6-E3CD6F27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114</a:t>
            </a:fld>
            <a:endParaRPr lang="de-DE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B34CDC1-9359-3385-4669-5EDDFB431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27" y="1535805"/>
            <a:ext cx="3613214" cy="482054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C06919EE-DE4D-2B04-6B74-E867F2253B3F}"/>
              </a:ext>
            </a:extLst>
          </p:cNvPr>
          <p:cNvSpPr/>
          <p:nvPr/>
        </p:nvSpPr>
        <p:spPr>
          <a:xfrm>
            <a:off x="7779387" y="3108514"/>
            <a:ext cx="2205370" cy="536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8943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4207-657C-2C23-7815-5006E2B0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D25AC2-3454-46B9-669E-2F7BFD53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846101C-8279-1473-2D41-0C15B8CA02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/>
                  <a:t>E.g., DQN</a:t>
                </a:r>
              </a:p>
              <a:p>
                <a:pPr lvl="1"/>
                <a:r>
                  <a:rPr lang="it-IT" dirty="0">
                    <a:solidFill>
                      <a:schemeClr val="tx1"/>
                    </a:solidFill>
                  </a:rPr>
                  <a:t>Exploit with </a:t>
                </a:r>
                <a:r>
                  <a:rPr lang="it-IT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it-IT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it-IT" dirty="0" err="1">
                    <a:solidFill>
                      <a:srgbClr val="FF0000"/>
                    </a:solidFill>
                  </a:rPr>
                  <a:t>When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exploring</a:t>
                </a:r>
                <a:r>
                  <a:rPr lang="it-IT" dirty="0">
                    <a:solidFill>
                      <a:srgbClr val="FF0000"/>
                    </a:solidFill>
                  </a:rPr>
                  <a:t>, </a:t>
                </a:r>
                <a:r>
                  <a:rPr lang="it-IT" dirty="0" err="1">
                    <a:solidFill>
                      <a:srgbClr val="FF0000"/>
                    </a:solidFill>
                  </a:rPr>
                  <a:t>pick</a:t>
                </a:r>
                <a:r>
                  <a:rPr lang="it-IT" dirty="0">
                    <a:solidFill>
                      <a:srgbClr val="FF0000"/>
                    </a:solidFill>
                  </a:rPr>
                  <a:t> random actions under a </a:t>
                </a:r>
                <a:r>
                  <a:rPr lang="it-IT" dirty="0" err="1">
                    <a:solidFill>
                      <a:srgbClr val="FF0000"/>
                    </a:solidFill>
                  </a:rPr>
                  <a:t>weighted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probability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distribution</a:t>
                </a:r>
                <a:r>
                  <a:rPr lang="it-IT" dirty="0">
                    <a:solidFill>
                      <a:srgbClr val="FF0000"/>
                    </a:solidFill>
                  </a:rPr>
                  <a:t>, </a:t>
                </a:r>
                <a:r>
                  <a:rPr lang="it-IT" dirty="0" err="1">
                    <a:solidFill>
                      <a:srgbClr val="FF0000"/>
                    </a:solidFill>
                  </a:rPr>
                  <a:t>focused</a:t>
                </a:r>
                <a:r>
                  <a:rPr lang="it-IT" dirty="0">
                    <a:solidFill>
                      <a:srgbClr val="FF0000"/>
                    </a:solidFill>
                  </a:rPr>
                  <a:t> on actions </a:t>
                </a:r>
                <a:r>
                  <a:rPr lang="it-IT" dirty="0" err="1">
                    <a:solidFill>
                      <a:srgbClr val="FF0000"/>
                    </a:solidFill>
                  </a:rPr>
                  <a:t>entailed</a:t>
                </a:r>
                <a:r>
                  <a:rPr lang="it-IT" dirty="0">
                    <a:solidFill>
                      <a:srgbClr val="FF0000"/>
                    </a:solidFill>
                  </a:rPr>
                  <a:t> by </a:t>
                </a:r>
                <a:r>
                  <a:rPr lang="it-IT" dirty="0" err="1">
                    <a:solidFill>
                      <a:srgbClr val="FF0000"/>
                    </a:solidFill>
                  </a:rPr>
                  <a:t>logical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heuristics</a:t>
                </a:r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846101C-8279-1473-2D41-0C15B8CA02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2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A0A772-2CFB-EDE3-B6EB-266B6932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33EFF5-8630-A2BE-56B9-9E0A4641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115</a:t>
            </a:fld>
            <a:endParaRPr lang="de-DE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5310102-AD5C-303B-E124-7EC2C800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27" y="1535805"/>
            <a:ext cx="3613214" cy="482054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22120CB-0C72-6334-AC73-B47765945D69}"/>
              </a:ext>
            </a:extLst>
          </p:cNvPr>
          <p:cNvSpPr/>
          <p:nvPr/>
        </p:nvSpPr>
        <p:spPr>
          <a:xfrm>
            <a:off x="7776829" y="3605604"/>
            <a:ext cx="3092511" cy="880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295436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B46C-1E40-178F-BE5A-E1E7F771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4D33B1-7A39-D0D9-93DE-65FCD985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E9B95E0-1E56-E3E5-D75F-F0FEADE43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/>
                  <a:t>E.g., DQN</a:t>
                </a:r>
              </a:p>
              <a:p>
                <a:pPr lvl="1"/>
                <a:r>
                  <a:rPr lang="it-IT" dirty="0">
                    <a:solidFill>
                      <a:schemeClr val="tx1"/>
                    </a:solidFill>
                  </a:rPr>
                  <a:t>Exploit with </a:t>
                </a:r>
                <a:r>
                  <a:rPr lang="it-IT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it-IT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it-IT" dirty="0" err="1"/>
                  <a:t>When</a:t>
                </a:r>
                <a:r>
                  <a:rPr lang="it-IT" dirty="0"/>
                  <a:t> </a:t>
                </a:r>
                <a:r>
                  <a:rPr lang="it-IT" dirty="0" err="1"/>
                  <a:t>exploring</a:t>
                </a:r>
                <a:r>
                  <a:rPr lang="it-IT" dirty="0"/>
                  <a:t>, </a:t>
                </a:r>
                <a:r>
                  <a:rPr lang="it-IT" dirty="0" err="1"/>
                  <a:t>pick</a:t>
                </a:r>
                <a:r>
                  <a:rPr lang="it-IT" dirty="0"/>
                  <a:t> random actions under a </a:t>
                </a:r>
                <a:r>
                  <a:rPr lang="it-IT" dirty="0" err="1"/>
                  <a:t>weighted</a:t>
                </a:r>
                <a:r>
                  <a:rPr lang="it-IT" dirty="0"/>
                  <a:t> </a:t>
                </a:r>
                <a:r>
                  <a:rPr lang="it-IT" dirty="0" err="1"/>
                  <a:t>probability</a:t>
                </a:r>
                <a:r>
                  <a:rPr lang="it-IT" dirty="0"/>
                  <a:t> </a:t>
                </a:r>
                <a:r>
                  <a:rPr lang="it-IT" dirty="0" err="1"/>
                  <a:t>distribution</a:t>
                </a:r>
                <a:r>
                  <a:rPr lang="it-IT" dirty="0"/>
                  <a:t>, </a:t>
                </a:r>
                <a:r>
                  <a:rPr lang="it-IT" dirty="0" err="1"/>
                  <a:t>focused</a:t>
                </a:r>
                <a:r>
                  <a:rPr lang="it-IT" dirty="0"/>
                  <a:t> on actions </a:t>
                </a:r>
                <a:r>
                  <a:rPr lang="it-IT" dirty="0" err="1"/>
                  <a:t>entailed</a:t>
                </a:r>
                <a:r>
                  <a:rPr lang="it-IT" dirty="0"/>
                  <a:t> by </a:t>
                </a:r>
                <a:r>
                  <a:rPr lang="it-IT" dirty="0" err="1"/>
                  <a:t>logical</a:t>
                </a:r>
                <a:r>
                  <a:rPr lang="it-IT" dirty="0"/>
                  <a:t> </a:t>
                </a:r>
                <a:r>
                  <a:rPr lang="it-IT" dirty="0" err="1"/>
                  <a:t>heuristics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>
                    <a:solidFill>
                      <a:srgbClr val="FF0000"/>
                    </a:solidFill>
                  </a:rPr>
                  <a:t>-</a:t>
                </a:r>
                <a:r>
                  <a:rPr lang="it-IT" dirty="0" err="1">
                    <a:solidFill>
                      <a:srgbClr val="FF0000"/>
                    </a:solidFill>
                  </a:rPr>
                  <a:t>decay</a:t>
                </a:r>
                <a:r>
                  <a:rPr lang="it-IT" dirty="0">
                    <a:solidFill>
                      <a:srgbClr val="FF0000"/>
                    </a:solidFill>
                  </a:rPr>
                  <a:t>: </a:t>
                </a:r>
                <a:r>
                  <a:rPr lang="it-IT" dirty="0" err="1">
                    <a:solidFill>
                      <a:srgbClr val="FF0000"/>
                    </a:solidFill>
                  </a:rPr>
                  <a:t>as</a:t>
                </a:r>
                <a:r>
                  <a:rPr lang="it-IT" dirty="0">
                    <a:solidFill>
                      <a:srgbClr val="FF0000"/>
                    </a:solidFill>
                  </a:rPr>
                  <a:t> training progresses, exploit more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E9B95E0-1E56-E3E5-D75F-F0FEADE43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2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8AA29A4-6157-D0D0-CAF6-9BE29C6C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6CE2F1-AA6E-85FB-DB04-65CCDBA7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116</a:t>
            </a:fld>
            <a:endParaRPr lang="de-DE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83C0F27-11F8-96C9-CE7A-CEBE7120D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27" y="1535805"/>
            <a:ext cx="3613214" cy="482054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19C4216-ECF5-2640-4F82-82640B06658E}"/>
              </a:ext>
            </a:extLst>
          </p:cNvPr>
          <p:cNvSpPr/>
          <p:nvPr/>
        </p:nvSpPr>
        <p:spPr>
          <a:xfrm>
            <a:off x="7647955" y="5916110"/>
            <a:ext cx="2085190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Picture 2" descr="System 1 and 2 Thinking | Customer Camp">
            <a:extLst>
              <a:ext uri="{FF2B5EF4-FFF2-40B4-BE49-F238E27FC236}">
                <a16:creationId xmlns:a16="http://schemas.microsoft.com/office/drawing/2014/main" id="{2E03C386-F935-C71E-E74C-81C7EAFA6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640" y="4834980"/>
            <a:ext cx="2835765" cy="159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3141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0346-EE31-8492-79A8-D96F64E3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8F6D282F-9D4B-E588-EF99-F3DF96B5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"/>
          <a:stretch/>
        </p:blipFill>
        <p:spPr>
          <a:xfrm>
            <a:off x="509364" y="4572077"/>
            <a:ext cx="1507655" cy="152407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B1EFEEF-18F0-7E47-48D2-BA239017C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B2D4825-1336-2F2B-38A8-FF23554917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 err="1">
                    <a:solidFill>
                      <a:srgbClr val="FF0000"/>
                    </a:solidFill>
                  </a:rPr>
                  <a:t>Learned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heuristics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may</a:t>
                </a:r>
                <a:r>
                  <a:rPr lang="it-IT" dirty="0">
                    <a:solidFill>
                      <a:srgbClr val="FF0000"/>
                    </a:solidFill>
                  </a:rPr>
                  <a:t> be incomplete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B2D4825-1336-2F2B-38A8-FF2355491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3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EA896B-C09C-4EE2-ABAA-182181A5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F32392D-F022-A2E2-C127-DB48511D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117</a:t>
            </a:fld>
            <a:endParaRPr lang="de-DE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EB99E99-BD57-4A23-2A2C-730DB60D8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841" y="1791285"/>
            <a:ext cx="4521432" cy="231151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61E82CD-36B5-0A13-D292-FB3B1198C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125" y="4222321"/>
            <a:ext cx="1977206" cy="201451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583F44D-AF5A-8071-5AE6-5C8CCF8C9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592" y="4994615"/>
            <a:ext cx="209561" cy="23496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B353B1B4-6E79-3E8C-E7B4-A47AEDD86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799" y="5701192"/>
            <a:ext cx="163145" cy="21752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62D9D490-9DA9-CB07-07F8-66AF837123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1698" y="4743833"/>
            <a:ext cx="184181" cy="19911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8AE05626-8858-83A9-1AF8-2F1244C3CD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7818" y="4606791"/>
            <a:ext cx="4349974" cy="1466925"/>
          </a:xfrm>
          <a:prstGeom prst="rect">
            <a:avLst/>
          </a:prstGeom>
        </p:spPr>
      </p:pic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0877D734-48DE-B614-D59E-278128D5EA2B}"/>
              </a:ext>
            </a:extLst>
          </p:cNvPr>
          <p:cNvSpPr/>
          <p:nvPr/>
        </p:nvSpPr>
        <p:spPr>
          <a:xfrm>
            <a:off x="6692883" y="5112096"/>
            <a:ext cx="1917717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C126AC1-3C0D-2F3F-2ECF-349DB0EEBDA7}"/>
              </a:ext>
            </a:extLst>
          </p:cNvPr>
          <p:cNvSpPr txBox="1"/>
          <p:nvPr/>
        </p:nvSpPr>
        <p:spPr>
          <a:xfrm>
            <a:off x="6843065" y="4813015"/>
            <a:ext cx="160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Generalization</a:t>
            </a:r>
            <a:endParaRPr lang="it-IT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63A4C60B-F128-CA4B-30CC-EFC30CFEE0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525" y="5524583"/>
            <a:ext cx="177809" cy="215911"/>
          </a:xfrm>
          <a:prstGeom prst="rect">
            <a:avLst/>
          </a:prstGeom>
        </p:spPr>
      </p:pic>
      <p:sp>
        <p:nvSpPr>
          <p:cNvPr id="28" name="Rettangolo 27">
            <a:extLst>
              <a:ext uri="{FF2B5EF4-FFF2-40B4-BE49-F238E27FC236}">
                <a16:creationId xmlns:a16="http://schemas.microsoft.com/office/drawing/2014/main" id="{1D9A274B-F8C7-5F71-7C6D-D6C2A17D17FE}"/>
              </a:ext>
            </a:extLst>
          </p:cNvPr>
          <p:cNvSpPr/>
          <p:nvPr/>
        </p:nvSpPr>
        <p:spPr>
          <a:xfrm>
            <a:off x="2529768" y="5760214"/>
            <a:ext cx="2864577" cy="335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198533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C8B35-D194-80F4-8A94-63C5DA8F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D87123ED-684E-BEE1-95B9-F5A9071F5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"/>
          <a:stretch/>
        </p:blipFill>
        <p:spPr>
          <a:xfrm>
            <a:off x="509364" y="4572077"/>
            <a:ext cx="1507655" cy="152407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7C5F008-A095-DB0D-E59D-E128E0CA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Neural</a:t>
            </a:r>
            <a:r>
              <a:rPr lang="it-IT" dirty="0"/>
              <a:t> exploitation, </a:t>
            </a:r>
            <a:r>
              <a:rPr lang="it-IT" dirty="0" err="1"/>
              <a:t>symbolic</a:t>
            </a:r>
            <a:r>
              <a:rPr lang="it-IT" dirty="0"/>
              <a:t> </a:t>
            </a:r>
            <a:r>
              <a:rPr lang="it-IT" dirty="0" err="1"/>
              <a:t>exploration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98C0473-81D7-0558-B5AE-D0EB01FB6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</p:spPr>
            <p:txBody>
              <a:bodyPr/>
              <a:lstStyle/>
              <a:p>
                <a:r>
                  <a:rPr lang="it-IT" dirty="0"/>
                  <a:t>Model-free RL: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/>
                  <a:t>-</a:t>
                </a:r>
                <a:r>
                  <a:rPr lang="it-IT" dirty="0" err="1"/>
                  <a:t>greedy</a:t>
                </a:r>
                <a:r>
                  <a:rPr lang="it-IT" dirty="0"/>
                  <a:t> DRL</a:t>
                </a:r>
              </a:p>
              <a:p>
                <a:pPr lvl="1"/>
                <a:r>
                  <a:rPr lang="it-IT" dirty="0" err="1"/>
                  <a:t>Learned</a:t>
                </a:r>
                <a:r>
                  <a:rPr lang="it-IT" dirty="0"/>
                  <a:t> </a:t>
                </a:r>
                <a:r>
                  <a:rPr lang="it-IT" dirty="0" err="1"/>
                  <a:t>heuristics</a:t>
                </a:r>
                <a:r>
                  <a:rPr lang="it-IT" dirty="0"/>
                  <a:t> </a:t>
                </a:r>
                <a:r>
                  <a:rPr lang="it-IT" dirty="0" err="1"/>
                  <a:t>may</a:t>
                </a:r>
                <a:r>
                  <a:rPr lang="it-IT" dirty="0"/>
                  <a:t> be incomplete</a:t>
                </a:r>
              </a:p>
              <a:p>
                <a:pPr lvl="1"/>
                <a:r>
                  <a:rPr lang="it-IT" dirty="0" err="1"/>
                  <a:t>Reward</a:t>
                </a:r>
                <a:r>
                  <a:rPr lang="it-IT" dirty="0"/>
                  <a:t> shaping </a:t>
                </a:r>
                <a:r>
                  <a:rPr lang="it-IT" dirty="0" err="1"/>
                  <a:t>alters</a:t>
                </a:r>
                <a:r>
                  <a:rPr lang="it-IT" dirty="0"/>
                  <a:t> MDP -&gt; </a:t>
                </a:r>
                <a:r>
                  <a:rPr lang="it-IT" dirty="0" err="1"/>
                  <a:t>bad</a:t>
                </a:r>
                <a:r>
                  <a:rPr lang="it-IT" dirty="0"/>
                  <a:t> performance</a:t>
                </a:r>
              </a:p>
              <a:p>
                <a:pPr lvl="1"/>
                <a:r>
                  <a:rPr lang="it-IT" dirty="0" err="1"/>
                  <a:t>NeSy</a:t>
                </a:r>
                <a:r>
                  <a:rPr lang="it-IT" dirty="0"/>
                  <a:t> </a:t>
                </a:r>
                <a:r>
                  <a:rPr lang="it-IT" dirty="0" err="1"/>
                  <a:t>exploration</a:t>
                </a:r>
                <a:r>
                  <a:rPr lang="it-IT" dirty="0"/>
                  <a:t> leverages on </a:t>
                </a:r>
                <a:r>
                  <a:rPr lang="it-IT" dirty="0">
                    <a:solidFill>
                      <a:srgbClr val="FF0000"/>
                    </a:solidFill>
                  </a:rPr>
                  <a:t>good knowledge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-</a:t>
                </a:r>
                <a:r>
                  <a:rPr lang="it-IT" dirty="0" err="1">
                    <a:solidFill>
                      <a:schemeClr val="tx1"/>
                    </a:solidFill>
                  </a:rPr>
                  <a:t>decay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</a:rPr>
                  <a:t>finally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</a:rPr>
                  <a:t>favours</a:t>
                </a:r>
                <a:r>
                  <a:rPr lang="it-IT" dirty="0">
                    <a:solidFill>
                      <a:schemeClr val="tx1"/>
                    </a:solidFill>
                  </a:rPr>
                  <a:t> new learning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98C0473-81D7-0558-B5AE-D0EB01FB6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1317" cy="4351338"/>
              </a:xfrm>
              <a:blipFill>
                <a:blip r:embed="rId3"/>
                <a:stretch>
                  <a:fillRect l="-1889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1FE06D-AFD0-ECA3-7051-290D7B94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455814-E6C7-AC12-E579-FE05EC5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118</a:t>
            </a:fld>
            <a:endParaRPr lang="de-DE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5EF5343-4B14-3D14-0720-B3BD90C55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841" y="1791285"/>
            <a:ext cx="4521432" cy="231151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580D653-32A5-A74B-58FA-9D6CC3D2C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125" y="4222321"/>
            <a:ext cx="1977206" cy="201451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7171226-76DA-E7B1-B767-25C1EC733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592" y="4994615"/>
            <a:ext cx="209561" cy="23496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C5F9CDB-8ED0-84B0-662F-3A27ED3F7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799" y="5701192"/>
            <a:ext cx="163145" cy="21752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F87011CD-E423-87D7-8E95-73ED38E2D8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1698" y="4743833"/>
            <a:ext cx="184181" cy="19911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C78C83B8-1768-96B3-36A3-0D2C9478FC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7818" y="4606791"/>
            <a:ext cx="4349974" cy="1466925"/>
          </a:xfrm>
          <a:prstGeom prst="rect">
            <a:avLst/>
          </a:prstGeom>
        </p:spPr>
      </p:pic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620F84E7-FEE9-8AE0-F92C-F558358FD175}"/>
              </a:ext>
            </a:extLst>
          </p:cNvPr>
          <p:cNvSpPr/>
          <p:nvPr/>
        </p:nvSpPr>
        <p:spPr>
          <a:xfrm>
            <a:off x="6692883" y="5112096"/>
            <a:ext cx="1917717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D2B85F5-DC4A-8485-DA30-1682B9AD1E10}"/>
              </a:ext>
            </a:extLst>
          </p:cNvPr>
          <p:cNvSpPr txBox="1"/>
          <p:nvPr/>
        </p:nvSpPr>
        <p:spPr>
          <a:xfrm>
            <a:off x="6843065" y="4813015"/>
            <a:ext cx="160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Generalization</a:t>
            </a:r>
            <a:endParaRPr lang="it-IT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BF5316D4-782B-4E14-0CCF-A3E5826571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525" y="5524583"/>
            <a:ext cx="177809" cy="215911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88F21F7-DF41-A223-55AE-F719BCCDD2B4}"/>
              </a:ext>
            </a:extLst>
          </p:cNvPr>
          <p:cNvSpPr/>
          <p:nvPr/>
        </p:nvSpPr>
        <p:spPr>
          <a:xfrm>
            <a:off x="2210567" y="4592386"/>
            <a:ext cx="4438950" cy="1231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31193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C558F-F621-8363-91E7-F006F453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NeSy</a:t>
            </a:r>
            <a:r>
              <a:rPr lang="it-IT" dirty="0"/>
              <a:t> </a:t>
            </a:r>
            <a:r>
              <a:rPr lang="it-IT" dirty="0" err="1"/>
              <a:t>wrap</a:t>
            </a:r>
            <a:r>
              <a:rPr lang="it-IT" dirty="0"/>
              <a:t>-up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32E497-8040-C7D9-73ED-60B36F78A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Designing</a:t>
            </a:r>
            <a:r>
              <a:rPr lang="it-IT" dirty="0"/>
              <a:t> human-</a:t>
            </a:r>
            <a:r>
              <a:rPr lang="it-IT" dirty="0" err="1"/>
              <a:t>inspired</a:t>
            </a:r>
            <a:r>
              <a:rPr lang="it-IT" dirty="0"/>
              <a:t> cognitive models</a:t>
            </a:r>
          </a:p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closest</a:t>
            </a:r>
            <a:r>
              <a:rPr lang="it-IT" dirty="0"/>
              <a:t> match</a:t>
            </a:r>
          </a:p>
          <a:p>
            <a:pPr lvl="1"/>
            <a:r>
              <a:rPr lang="it-IT" dirty="0" err="1"/>
              <a:t>Mostly</a:t>
            </a:r>
            <a:r>
              <a:rPr lang="it-IT" dirty="0"/>
              <a:t> exploit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r>
              <a:rPr lang="it-IT" dirty="0"/>
              <a:t>, </a:t>
            </a:r>
            <a:r>
              <a:rPr lang="it-IT" dirty="0" err="1"/>
              <a:t>sometimes</a:t>
            </a:r>
            <a:r>
              <a:rPr lang="it-IT" dirty="0"/>
              <a:t> make an </a:t>
            </a:r>
            <a:r>
              <a:rPr lang="it-IT" dirty="0" err="1"/>
              <a:t>effort</a:t>
            </a:r>
            <a:r>
              <a:rPr lang="it-IT" dirty="0"/>
              <a:t> and </a:t>
            </a:r>
            <a:r>
              <a:rPr lang="it-IT" dirty="0" err="1"/>
              <a:t>reason</a:t>
            </a:r>
            <a:endParaRPr lang="it-IT" dirty="0"/>
          </a:p>
          <a:p>
            <a:r>
              <a:rPr lang="it-IT" b="1" dirty="0"/>
              <a:t>Challenges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More </a:t>
            </a:r>
            <a:r>
              <a:rPr lang="it-IT" dirty="0" err="1">
                <a:solidFill>
                  <a:srgbClr val="FF0000"/>
                </a:solidFill>
              </a:rPr>
              <a:t>advanced</a:t>
            </a:r>
            <a:r>
              <a:rPr lang="it-IT" dirty="0">
                <a:solidFill>
                  <a:srgbClr val="FF0000"/>
                </a:solidFill>
              </a:rPr>
              <a:t> RL </a:t>
            </a:r>
            <a:r>
              <a:rPr lang="it-IT" dirty="0" err="1">
                <a:solidFill>
                  <a:srgbClr val="FF0000"/>
                </a:solidFill>
              </a:rPr>
              <a:t>algorithms</a:t>
            </a:r>
            <a:r>
              <a:rPr lang="it-IT" dirty="0">
                <a:solidFill>
                  <a:srgbClr val="FF0000"/>
                </a:solidFill>
              </a:rPr>
              <a:t> (PPO, SAC, …)?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A70EB2-AA34-CAA8-105E-7E2F4348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1FC609-710D-9D27-631A-8D55368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119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0F196AE1-23FE-9974-177D-F39128DE9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65125"/>
            <a:ext cx="3590924" cy="20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5190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4292-D3D5-5242-ECE6-CCBF288F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3A4A9C-AC35-969A-09FA-2AFD55CE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NeSy</a:t>
            </a:r>
            <a:r>
              <a:rPr lang="it-IT" dirty="0"/>
              <a:t> </a:t>
            </a:r>
            <a:r>
              <a:rPr lang="it-IT" dirty="0" err="1"/>
              <a:t>wrap</a:t>
            </a:r>
            <a:r>
              <a:rPr lang="it-IT" dirty="0"/>
              <a:t>-up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ABF05-5C37-CC53-D440-3ADF293EC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Designing</a:t>
            </a:r>
            <a:r>
              <a:rPr lang="it-IT" dirty="0"/>
              <a:t> human-</a:t>
            </a:r>
            <a:r>
              <a:rPr lang="it-IT" dirty="0" err="1"/>
              <a:t>inspired</a:t>
            </a:r>
            <a:r>
              <a:rPr lang="it-IT" dirty="0"/>
              <a:t> cognitive models</a:t>
            </a:r>
          </a:p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closest</a:t>
            </a:r>
            <a:r>
              <a:rPr lang="it-IT" dirty="0"/>
              <a:t> match</a:t>
            </a:r>
          </a:p>
          <a:p>
            <a:pPr lvl="1"/>
            <a:r>
              <a:rPr lang="it-IT" dirty="0" err="1"/>
              <a:t>Mostly</a:t>
            </a:r>
            <a:r>
              <a:rPr lang="it-IT" dirty="0"/>
              <a:t> exploit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r>
              <a:rPr lang="it-IT" dirty="0"/>
              <a:t>, </a:t>
            </a:r>
            <a:r>
              <a:rPr lang="it-IT" dirty="0" err="1"/>
              <a:t>sometimes</a:t>
            </a:r>
            <a:r>
              <a:rPr lang="it-IT" dirty="0"/>
              <a:t> make an </a:t>
            </a:r>
            <a:r>
              <a:rPr lang="it-IT" dirty="0" err="1"/>
              <a:t>effort</a:t>
            </a:r>
            <a:r>
              <a:rPr lang="it-IT" dirty="0"/>
              <a:t> and </a:t>
            </a:r>
            <a:r>
              <a:rPr lang="it-IT" dirty="0" err="1"/>
              <a:t>reason</a:t>
            </a:r>
            <a:endParaRPr lang="it-IT" dirty="0"/>
          </a:p>
          <a:p>
            <a:r>
              <a:rPr lang="it-IT" b="1" dirty="0"/>
              <a:t>Challenges</a:t>
            </a:r>
          </a:p>
          <a:p>
            <a:pPr lvl="1"/>
            <a:r>
              <a:rPr lang="it-IT" dirty="0"/>
              <a:t>More </a:t>
            </a:r>
            <a:r>
              <a:rPr lang="it-IT" dirty="0" err="1"/>
              <a:t>advanced</a:t>
            </a:r>
            <a:r>
              <a:rPr lang="it-IT" dirty="0"/>
              <a:t> RL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Continuous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representation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535DF2-83E8-A27F-568F-BAE9F89A2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581838-682C-C5AE-ED55-FA2D62AD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120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AC9BD9D0-CDC9-6193-4FAB-DB82C8D5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65125"/>
            <a:ext cx="3590924" cy="20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Unveiling Gran Turismo Sophy™ : An AI Breakthrough – Sony AI">
            <a:extLst>
              <a:ext uri="{FF2B5EF4-FFF2-40B4-BE49-F238E27FC236}">
                <a16:creationId xmlns:a16="http://schemas.microsoft.com/office/drawing/2014/main" id="{F1A5B2A4-1FCB-8D31-701B-437A05BB9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981" y="3691534"/>
            <a:ext cx="1642819" cy="218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inear Temporal Logic | Sukai Huang">
            <a:extLst>
              <a:ext uri="{FF2B5EF4-FFF2-40B4-BE49-F238E27FC236}">
                <a16:creationId xmlns:a16="http://schemas.microsoft.com/office/drawing/2014/main" id="{C4A01123-93E2-B385-B1AC-53521920A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8487"/>
            <a:ext cx="3459948" cy="242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5953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E122-26E3-E442-49E3-63199611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7CA5C6-0962-8B9D-EA67-96B82141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NeSy</a:t>
            </a:r>
            <a:r>
              <a:rPr lang="it-IT" dirty="0"/>
              <a:t> </a:t>
            </a:r>
            <a:r>
              <a:rPr lang="it-IT" dirty="0" err="1"/>
              <a:t>wrap</a:t>
            </a:r>
            <a:r>
              <a:rPr lang="it-IT" dirty="0"/>
              <a:t>-up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322BB7-C464-2F15-CFC1-ABCD884F4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Designing</a:t>
            </a:r>
            <a:r>
              <a:rPr lang="it-IT" dirty="0"/>
              <a:t> human-</a:t>
            </a:r>
            <a:r>
              <a:rPr lang="it-IT" dirty="0" err="1"/>
              <a:t>inspired</a:t>
            </a:r>
            <a:r>
              <a:rPr lang="it-IT" dirty="0"/>
              <a:t> cognitive models</a:t>
            </a:r>
          </a:p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closest</a:t>
            </a:r>
            <a:r>
              <a:rPr lang="it-IT" dirty="0"/>
              <a:t> match</a:t>
            </a:r>
          </a:p>
          <a:p>
            <a:pPr lvl="1"/>
            <a:r>
              <a:rPr lang="it-IT" dirty="0" err="1"/>
              <a:t>Mostly</a:t>
            </a:r>
            <a:r>
              <a:rPr lang="it-IT" dirty="0"/>
              <a:t> exploit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r>
              <a:rPr lang="it-IT" dirty="0"/>
              <a:t>, </a:t>
            </a:r>
            <a:r>
              <a:rPr lang="it-IT" dirty="0" err="1"/>
              <a:t>sometimes</a:t>
            </a:r>
            <a:r>
              <a:rPr lang="it-IT" dirty="0"/>
              <a:t> make an </a:t>
            </a:r>
            <a:r>
              <a:rPr lang="it-IT" dirty="0" err="1"/>
              <a:t>effort</a:t>
            </a:r>
            <a:r>
              <a:rPr lang="it-IT" dirty="0"/>
              <a:t> and </a:t>
            </a:r>
            <a:r>
              <a:rPr lang="it-IT" dirty="0" err="1"/>
              <a:t>reason</a:t>
            </a:r>
            <a:endParaRPr lang="it-IT" dirty="0"/>
          </a:p>
          <a:p>
            <a:r>
              <a:rPr lang="it-IT" b="1" dirty="0"/>
              <a:t>Challenges</a:t>
            </a:r>
          </a:p>
          <a:p>
            <a:pPr lvl="1"/>
            <a:r>
              <a:rPr lang="it-IT" dirty="0"/>
              <a:t>More </a:t>
            </a:r>
            <a:r>
              <a:rPr lang="it-IT" dirty="0" err="1"/>
              <a:t>advanced</a:t>
            </a:r>
            <a:r>
              <a:rPr lang="it-IT" dirty="0"/>
              <a:t> RL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Continuous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representation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r>
              <a:rPr lang="it-IT" dirty="0">
                <a:solidFill>
                  <a:srgbClr val="FF0000"/>
                </a:solidFill>
              </a:rPr>
              <a:t>Time </a:t>
            </a:r>
            <a:r>
              <a:rPr lang="it-IT" dirty="0" err="1">
                <a:solidFill>
                  <a:srgbClr val="FF0000"/>
                </a:solidFill>
              </a:rPr>
              <a:t>continuity</a:t>
            </a:r>
            <a:r>
              <a:rPr lang="it-IT" dirty="0">
                <a:solidFill>
                  <a:srgbClr val="FF0000"/>
                </a:solidFill>
              </a:rPr>
              <a:t>: </a:t>
            </a:r>
            <a:r>
              <a:rPr lang="it-IT" dirty="0" err="1">
                <a:solidFill>
                  <a:srgbClr val="FF0000"/>
                </a:solidFill>
              </a:rPr>
              <a:t>signal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temporal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logic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endParaRPr lang="it-IT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E7745A6-717A-2C68-0428-81487FB1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8D6020A-0DB7-B13D-05ED-A7681561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121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535A35BD-F8CA-9EEA-A84A-753B8F745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65125"/>
            <a:ext cx="3590924" cy="20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Unveiling Gran Turismo Sophy™ : An AI Breakthrough – Sony AI">
            <a:extLst>
              <a:ext uri="{FF2B5EF4-FFF2-40B4-BE49-F238E27FC236}">
                <a16:creationId xmlns:a16="http://schemas.microsoft.com/office/drawing/2014/main" id="{C6F02C9E-E6B8-1864-DE6F-9A91045F1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981" y="3691534"/>
            <a:ext cx="1642819" cy="218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inear Temporal Logic | Sukai Huang">
            <a:extLst>
              <a:ext uri="{FF2B5EF4-FFF2-40B4-BE49-F238E27FC236}">
                <a16:creationId xmlns:a16="http://schemas.microsoft.com/office/drawing/2014/main" id="{8BA1139B-483D-CC60-2859-EFFD09A91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8487"/>
            <a:ext cx="3459948" cy="242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B4D4729-FCA8-DA29-C014-DDA91DE82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486" y="4871028"/>
            <a:ext cx="2883048" cy="48262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716E4F-0AEB-55BD-ED75-562F4DE1A85A}"/>
              </a:ext>
            </a:extLst>
          </p:cNvPr>
          <p:cNvSpPr txBox="1"/>
          <p:nvPr/>
        </p:nvSpPr>
        <p:spPr>
          <a:xfrm>
            <a:off x="603739" y="6069556"/>
            <a:ext cx="7778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Gundana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&amp; Kress-</a:t>
            </a:r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Gazit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H. (2021). Event-</a:t>
            </a:r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based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signal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temporal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logic </a:t>
            </a:r>
            <a:r>
              <a:rPr lang="it-IT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synthesis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for single and multi-robot tasks. </a:t>
            </a:r>
            <a:r>
              <a:rPr lang="it-IT" sz="12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</a:t>
            </a:r>
            <a:r>
              <a:rPr lang="it-IT" sz="12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Robotics</a:t>
            </a:r>
            <a:r>
              <a:rPr lang="it-IT" sz="12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and Automation </a:t>
            </a:r>
            <a:r>
              <a:rPr lang="it-IT" sz="12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Letters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it-IT" sz="12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6</a:t>
            </a:r>
            <a:r>
              <a:rPr lang="it-IT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(2), 3687-3694.</a:t>
            </a:r>
            <a:endParaRPr lang="it-IT" sz="1200" dirty="0">
              <a:solidFill>
                <a:srgbClr val="222222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49206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70C4-9D24-8AB6-5A60-4E6F839D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BDF04A-57B3-FCA6-0019-DEAD6621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NeSy</a:t>
            </a:r>
            <a:r>
              <a:rPr lang="it-IT" dirty="0"/>
              <a:t> </a:t>
            </a:r>
            <a:r>
              <a:rPr lang="it-IT" dirty="0" err="1"/>
              <a:t>wrap</a:t>
            </a:r>
            <a:r>
              <a:rPr lang="it-IT" dirty="0"/>
              <a:t>-up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3B88C6-FABC-40DD-7ED8-7BD1F9323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Designing</a:t>
            </a:r>
            <a:r>
              <a:rPr lang="it-IT" dirty="0"/>
              <a:t> human-</a:t>
            </a:r>
            <a:r>
              <a:rPr lang="it-IT" dirty="0" err="1"/>
              <a:t>inspired</a:t>
            </a:r>
            <a:r>
              <a:rPr lang="it-IT" dirty="0"/>
              <a:t> cognitive models</a:t>
            </a:r>
          </a:p>
          <a:p>
            <a:r>
              <a:rPr lang="it-IT" dirty="0"/>
              <a:t>Neuro[</a:t>
            </a:r>
            <a:r>
              <a:rPr lang="it-IT" dirty="0" err="1"/>
              <a:t>symbolic</a:t>
            </a:r>
            <a:r>
              <a:rPr lang="it-IT" dirty="0"/>
              <a:t>]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closest</a:t>
            </a:r>
            <a:r>
              <a:rPr lang="it-IT" dirty="0"/>
              <a:t> match</a:t>
            </a:r>
          </a:p>
          <a:p>
            <a:pPr lvl="1"/>
            <a:r>
              <a:rPr lang="it-IT" dirty="0" err="1"/>
              <a:t>Mostly</a:t>
            </a:r>
            <a:r>
              <a:rPr lang="it-IT" dirty="0"/>
              <a:t> exploit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experience</a:t>
            </a:r>
            <a:r>
              <a:rPr lang="it-IT" dirty="0"/>
              <a:t>, </a:t>
            </a:r>
            <a:r>
              <a:rPr lang="it-IT" dirty="0" err="1"/>
              <a:t>sometimes</a:t>
            </a:r>
            <a:r>
              <a:rPr lang="it-IT" dirty="0"/>
              <a:t> make an </a:t>
            </a:r>
            <a:r>
              <a:rPr lang="it-IT" dirty="0" err="1"/>
              <a:t>effort</a:t>
            </a:r>
            <a:r>
              <a:rPr lang="it-IT" dirty="0"/>
              <a:t> and </a:t>
            </a:r>
            <a:r>
              <a:rPr lang="it-IT" dirty="0" err="1"/>
              <a:t>reason</a:t>
            </a:r>
            <a:endParaRPr lang="it-IT" dirty="0"/>
          </a:p>
          <a:p>
            <a:r>
              <a:rPr lang="it-IT" b="1" dirty="0"/>
              <a:t>Challenges</a:t>
            </a:r>
          </a:p>
          <a:p>
            <a:pPr lvl="1"/>
            <a:r>
              <a:rPr lang="it-IT" dirty="0"/>
              <a:t>More </a:t>
            </a:r>
            <a:r>
              <a:rPr lang="it-IT" dirty="0" err="1"/>
              <a:t>advanced</a:t>
            </a:r>
            <a:r>
              <a:rPr lang="it-IT" dirty="0"/>
              <a:t> RL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Continuous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representation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r>
              <a:rPr lang="it-IT" dirty="0"/>
              <a:t>Time </a:t>
            </a:r>
            <a:r>
              <a:rPr lang="it-IT" dirty="0" err="1"/>
              <a:t>continuity</a:t>
            </a:r>
            <a:r>
              <a:rPr lang="it-IT" dirty="0"/>
              <a:t>: </a:t>
            </a:r>
            <a:r>
              <a:rPr lang="it-IT" dirty="0" err="1"/>
              <a:t>signal</a:t>
            </a:r>
            <a:r>
              <a:rPr lang="it-IT" dirty="0"/>
              <a:t>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logic</a:t>
            </a:r>
            <a:endParaRPr lang="it-IT" dirty="0"/>
          </a:p>
          <a:p>
            <a:pPr lvl="2"/>
            <a:endParaRPr lang="it-IT" dirty="0">
              <a:solidFill>
                <a:srgbClr val="FF0000"/>
              </a:solidFill>
            </a:endParaRPr>
          </a:p>
          <a:p>
            <a:pPr lvl="2"/>
            <a:endParaRPr lang="it-IT" dirty="0">
              <a:solidFill>
                <a:srgbClr val="FF0000"/>
              </a:solidFill>
            </a:endParaRPr>
          </a:p>
          <a:p>
            <a:pPr lvl="2"/>
            <a:r>
              <a:rPr lang="it-IT" dirty="0">
                <a:solidFill>
                  <a:srgbClr val="FF0000"/>
                </a:solidFill>
              </a:rPr>
              <a:t>Real-</a:t>
            </a:r>
            <a:r>
              <a:rPr lang="it-IT" dirty="0" err="1">
                <a:solidFill>
                  <a:srgbClr val="FF0000"/>
                </a:solidFill>
              </a:rPr>
              <a:t>valued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variables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8339DB0-7D84-A9F4-1712-F97384AE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Dr. Daniele Meli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0B3ADDA-A6CA-416C-73C2-469C292A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122</a:t>
            </a:fld>
            <a:endParaRPr lang="de-DE"/>
          </a:p>
        </p:txBody>
      </p:sp>
      <p:pic>
        <p:nvPicPr>
          <p:cNvPr id="6" name="Picture 2" descr="System 1 and 2 Thinking | Customer Camp">
            <a:extLst>
              <a:ext uri="{FF2B5EF4-FFF2-40B4-BE49-F238E27FC236}">
                <a16:creationId xmlns:a16="http://schemas.microsoft.com/office/drawing/2014/main" id="{25CA41D4-8E12-2D36-6DCC-8C85A3A04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65125"/>
            <a:ext cx="3590924" cy="20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Unveiling Gran Turismo Sophy™ : An AI Breakthrough – Sony AI">
            <a:extLst>
              <a:ext uri="{FF2B5EF4-FFF2-40B4-BE49-F238E27FC236}">
                <a16:creationId xmlns:a16="http://schemas.microsoft.com/office/drawing/2014/main" id="{53675219-AC2E-699C-F64C-46EC0B5C4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981" y="3691534"/>
            <a:ext cx="1642819" cy="218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inear Temporal Logic | Sukai Huang">
            <a:extLst>
              <a:ext uri="{FF2B5EF4-FFF2-40B4-BE49-F238E27FC236}">
                <a16:creationId xmlns:a16="http://schemas.microsoft.com/office/drawing/2014/main" id="{516898A5-9A68-A6CB-5810-E5AC9DB0A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8487"/>
            <a:ext cx="3459948" cy="242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F86BAE4-A8CC-1DB5-6C08-9B63316F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486" y="4871028"/>
            <a:ext cx="2883048" cy="48262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0C1DF03-C1E4-B87D-7ED1-0A48681A9A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376" y="3373549"/>
            <a:ext cx="5378008" cy="2725959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D7AC185-AE64-381C-670E-6DD1F34A02FF}"/>
              </a:ext>
            </a:extLst>
          </p:cNvPr>
          <p:cNvSpPr txBox="1"/>
          <p:nvPr/>
        </p:nvSpPr>
        <p:spPr>
          <a:xfrm>
            <a:off x="838200" y="6106596"/>
            <a:ext cx="6097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Badreddine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Garcez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D. A., Serafini, L., &amp;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Spranger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(2022).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tensor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networks. </a:t>
            </a:r>
            <a:r>
              <a:rPr lang="it-IT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Intelligence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it-IT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303</a:t>
            </a:r>
            <a:r>
              <a:rPr lang="it-IT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103649.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37256076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b850a64-2cb7-4015-9ad2-82a6b96169f5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ECF5962CB69A439E07138723370ED4" ma:contentTypeVersion="6" ma:contentTypeDescription="Creare un nuovo documento." ma:contentTypeScope="" ma:versionID="d0a9e078e4fb6d3300927cd8ee0efb74">
  <xsd:schema xmlns:xsd="http://www.w3.org/2001/XMLSchema" xmlns:xs="http://www.w3.org/2001/XMLSchema" xmlns:p="http://schemas.microsoft.com/office/2006/metadata/properties" xmlns:ns2="ac3b7195-15dd-4a22-96e4-d6b5b2fd224d" xmlns:ns3="2b850a64-2cb7-4015-9ad2-82a6b96169f5" targetNamespace="http://schemas.microsoft.com/office/2006/metadata/properties" ma:root="true" ma:fieldsID="452bd3dfa4633f00aa150ab09ed77fc9" ns2:_="" ns3:_="">
    <xsd:import namespace="ac3b7195-15dd-4a22-96e4-d6b5b2fd224d"/>
    <xsd:import namespace="2b850a64-2cb7-4015-9ad2-82a6b96169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3b7195-15dd-4a22-96e4-d6b5b2fd22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850a64-2cb7-4015-9ad2-82a6b96169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956231-2790-46EC-BAA3-EDE9683E570E}">
  <ds:schemaRefs>
    <ds:schemaRef ds:uri="http://schemas.microsoft.com/office/2006/documentManagement/types"/>
    <ds:schemaRef ds:uri="ac3b7195-15dd-4a22-96e4-d6b5b2fd224d"/>
    <ds:schemaRef ds:uri="2b850a64-2cb7-4015-9ad2-82a6b96169f5"/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AF5F6BA-27F2-43A5-B154-FDC95578DD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9EDB6C-D8E9-4487-AE30-F40BA0302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3b7195-15dd-4a22-96e4-d6b5b2fd224d"/>
    <ds:schemaRef ds:uri="2b850a64-2cb7-4015-9ad2-82a6b96169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5224</TotalTime>
  <Words>6196</Words>
  <Application>Microsoft Office PowerPoint</Application>
  <PresentationFormat>Widescreen</PresentationFormat>
  <Paragraphs>1058</Paragraphs>
  <Slides>122</Slides>
  <Notes>5</Notes>
  <HiddenSlides>22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122</vt:i4>
      </vt:variant>
    </vt:vector>
  </HeadingPairs>
  <TitlesOfParts>
    <vt:vector size="128" baseType="lpstr">
      <vt:lpstr>Aptos</vt:lpstr>
      <vt:lpstr>Arial</vt:lpstr>
      <vt:lpstr>Calibri</vt:lpstr>
      <vt:lpstr>Calibri Light</vt:lpstr>
      <vt:lpstr>Cambria Math</vt:lpstr>
      <vt:lpstr>Tema di Office</vt:lpstr>
      <vt:lpstr>XAI</vt:lpstr>
      <vt:lpstr>Reference material</vt:lpstr>
      <vt:lpstr>ILP for planning</vt:lpstr>
      <vt:lpstr>ILP for planning</vt:lpstr>
      <vt:lpstr>Reasoning while acting</vt:lpstr>
      <vt:lpstr>Learning while acting</vt:lpstr>
      <vt:lpstr>Logics for planning </vt:lpstr>
      <vt:lpstr>Neurosymbolic AI</vt:lpstr>
      <vt:lpstr>The first summer (1948-1966)</vt:lpstr>
      <vt:lpstr>The first summer (1948-1966)</vt:lpstr>
      <vt:lpstr>The first summer (1948-1966)</vt:lpstr>
      <vt:lpstr>The first winter (1967-1977)</vt:lpstr>
      <vt:lpstr>The second summer (1978-1987)</vt:lpstr>
      <vt:lpstr>The second winter (1988-2011)</vt:lpstr>
      <vt:lpstr>The third summer (2011-today)</vt:lpstr>
      <vt:lpstr>A new winter for AI?</vt:lpstr>
      <vt:lpstr>A new winter for AI?</vt:lpstr>
      <vt:lpstr>Neurosymbolic AI</vt:lpstr>
      <vt:lpstr>Neurosymbolic AI</vt:lpstr>
      <vt:lpstr>Neurosymbolic AI</vt:lpstr>
      <vt:lpstr>Neurosymbolic AI</vt:lpstr>
      <vt:lpstr>Neurosymbolic AI</vt:lpstr>
      <vt:lpstr>Neurosymbolic AI</vt:lpstr>
      <vt:lpstr>Symbolic[Neuro] architecture</vt:lpstr>
      <vt:lpstr>Symbolic[Neuro] architecture</vt:lpstr>
      <vt:lpstr>Symbolic[Neuro] architecture</vt:lpstr>
      <vt:lpstr>Symbolic[Neuro] architecture</vt:lpstr>
      <vt:lpstr>Neuro_{Symbolic} architecture</vt:lpstr>
      <vt:lpstr>Neuro_{Symbolic} architecture</vt:lpstr>
      <vt:lpstr>Neuro_{Symbolic} architecture</vt:lpstr>
      <vt:lpstr>Neuro_{Symbolic} architecture</vt:lpstr>
      <vt:lpstr>Neuro[Symbolic] architecture</vt:lpstr>
      <vt:lpstr>Neuro[Symbolic] architecture</vt:lpstr>
      <vt:lpstr>Neuro[Symbolic] architecture</vt:lpstr>
      <vt:lpstr>Neuro[Symbolic] architecture</vt:lpstr>
      <vt:lpstr>Neuro[Symbolic] architecture</vt:lpstr>
      <vt:lpstr>Neuro[Symbolic] architecture</vt:lpstr>
      <vt:lpstr>Neuro[Symbolic] architecture</vt:lpstr>
      <vt:lpstr>Outline</vt:lpstr>
      <vt:lpstr>XAI</vt:lpstr>
      <vt:lpstr>Neuro_{Symbolic} architecture</vt:lpstr>
      <vt:lpstr>Neuro_{Symbolic} architecture</vt:lpstr>
      <vt:lpstr>Neuro_{Symbolic} architecture</vt:lpstr>
      <vt:lpstr>Probabilistic programs (networks)</vt:lpstr>
      <vt:lpstr>Probabilistic programs (networks)</vt:lpstr>
      <vt:lpstr>Probabilistic programs (networks)</vt:lpstr>
      <vt:lpstr>Probabilistic programs (networks)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Probabilistic learning</vt:lpstr>
      <vt:lpstr>Learning probabilistic (FO) logic programs</vt:lpstr>
      <vt:lpstr>Learning probabilistic (FO) logic programs</vt:lpstr>
      <vt:lpstr>Learning probabilistic (FO) logic programs</vt:lpstr>
      <vt:lpstr>Learning probabilistic (FO) logic programs</vt:lpstr>
      <vt:lpstr>Relational Reinforcement Learning</vt:lpstr>
      <vt:lpstr>Relational Reinforcement Learning</vt:lpstr>
      <vt:lpstr>A neuro_{symbolic} approach</vt:lpstr>
      <vt:lpstr>A neuro_{symbolic} approach</vt:lpstr>
      <vt:lpstr>A neuro_{symbolic} approach</vt:lpstr>
      <vt:lpstr>A neuro_{symbolic} approach</vt:lpstr>
      <vt:lpstr>XAI</vt:lpstr>
      <vt:lpstr>Logics for (RL) planning </vt:lpstr>
      <vt:lpstr>Logics for (RL) planning </vt:lpstr>
      <vt:lpstr>Logics for (RL) planning </vt:lpstr>
      <vt:lpstr>Neuro[symbolic] RL</vt:lpstr>
      <vt:lpstr>Reward shaping</vt:lpstr>
      <vt:lpstr>Reward shaping</vt:lpstr>
      <vt:lpstr>Reward shaping</vt:lpstr>
      <vt:lpstr>Reward shaping</vt:lpstr>
      <vt:lpstr>Reward shaping</vt:lpstr>
      <vt:lpstr>Reward shaping</vt:lpstr>
      <vt:lpstr>Reward shaping</vt:lpstr>
      <vt:lpstr>Neuro[symbolic] RL</vt:lpstr>
      <vt:lpstr>Shielding</vt:lpstr>
      <vt:lpstr>Shielding</vt:lpstr>
      <vt:lpstr>Reward shaping vs. shielding</vt:lpstr>
      <vt:lpstr>Reward shaping vs. shielding</vt:lpstr>
      <vt:lpstr>Generalization via neuro[symbolic] RL</vt:lpstr>
      <vt:lpstr>Is reward enough?</vt:lpstr>
      <vt:lpstr>Is reward enough?</vt:lpstr>
      <vt:lpstr>Reward is not enough</vt:lpstr>
      <vt:lpstr>Neuro[symbolic] RL</vt:lpstr>
      <vt:lpstr>Neuro[symbolic] RL</vt:lpstr>
      <vt:lpstr>Neuro[symbolic] RL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Neural exploitation, symbolic exploration</vt:lpstr>
      <vt:lpstr>NeSy wrap-up</vt:lpstr>
      <vt:lpstr>NeSy wrap-up</vt:lpstr>
      <vt:lpstr>NeSy wrap-up</vt:lpstr>
      <vt:lpstr>NeSy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Daniele Meli</cp:lastModifiedBy>
  <cp:revision>76</cp:revision>
  <dcterms:created xsi:type="dcterms:W3CDTF">2023-10-12T15:22:47Z</dcterms:created>
  <dcterms:modified xsi:type="dcterms:W3CDTF">2025-11-26T18:09:57Z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0x0101001DECF5962CB69A439E07138723370ED4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